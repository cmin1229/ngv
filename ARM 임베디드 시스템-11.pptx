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3"/>
  </p:notesMasterIdLst>
  <p:sldIdLst>
    <p:sldId id="256" r:id="rId2"/>
    <p:sldId id="403" r:id="rId3"/>
    <p:sldId id="455" r:id="rId4"/>
    <p:sldId id="462" r:id="rId5"/>
    <p:sldId id="398" r:id="rId6"/>
    <p:sldId id="456" r:id="rId7"/>
    <p:sldId id="406" r:id="rId8"/>
    <p:sldId id="405" r:id="rId9"/>
    <p:sldId id="400" r:id="rId10"/>
    <p:sldId id="401" r:id="rId11"/>
    <p:sldId id="404" r:id="rId12"/>
    <p:sldId id="391" r:id="rId13"/>
    <p:sldId id="396" r:id="rId14"/>
    <p:sldId id="397" r:id="rId15"/>
    <p:sldId id="447" r:id="rId16"/>
    <p:sldId id="448" r:id="rId17"/>
    <p:sldId id="449" r:id="rId18"/>
    <p:sldId id="450" r:id="rId19"/>
    <p:sldId id="453" r:id="rId20"/>
    <p:sldId id="320" r:id="rId21"/>
    <p:sldId id="321" r:id="rId22"/>
    <p:sldId id="322" r:id="rId23"/>
    <p:sldId id="381" r:id="rId24"/>
    <p:sldId id="326" r:id="rId25"/>
    <p:sldId id="325" r:id="rId26"/>
    <p:sldId id="413" r:id="rId27"/>
    <p:sldId id="452" r:id="rId28"/>
    <p:sldId id="460" r:id="rId29"/>
    <p:sldId id="416" r:id="rId30"/>
    <p:sldId id="432" r:id="rId31"/>
    <p:sldId id="422" r:id="rId32"/>
    <p:sldId id="423" r:id="rId33"/>
    <p:sldId id="424" r:id="rId34"/>
    <p:sldId id="417" r:id="rId35"/>
    <p:sldId id="418" r:id="rId36"/>
    <p:sldId id="451" r:id="rId37"/>
    <p:sldId id="458" r:id="rId38"/>
    <p:sldId id="463" r:id="rId39"/>
    <p:sldId id="464" r:id="rId40"/>
    <p:sldId id="360" r:id="rId41"/>
    <p:sldId id="414" r:id="rId42"/>
    <p:sldId id="425" r:id="rId43"/>
    <p:sldId id="332" r:id="rId44"/>
    <p:sldId id="330" r:id="rId45"/>
    <p:sldId id="333" r:id="rId46"/>
    <p:sldId id="334" r:id="rId47"/>
    <p:sldId id="338" r:id="rId48"/>
    <p:sldId id="368" r:id="rId49"/>
    <p:sldId id="340" r:id="rId50"/>
    <p:sldId id="341" r:id="rId51"/>
    <p:sldId id="369" r:id="rId52"/>
    <p:sldId id="465" r:id="rId53"/>
    <p:sldId id="331" r:id="rId54"/>
    <p:sldId id="328" r:id="rId55"/>
    <p:sldId id="327" r:id="rId56"/>
    <p:sldId id="257" r:id="rId57"/>
    <p:sldId id="428" r:id="rId58"/>
    <p:sldId id="429" r:id="rId59"/>
    <p:sldId id="433" r:id="rId60"/>
    <p:sldId id="430" r:id="rId61"/>
    <p:sldId id="431" r:id="rId62"/>
    <p:sldId id="466" r:id="rId63"/>
    <p:sldId id="434" r:id="rId64"/>
    <p:sldId id="435" r:id="rId65"/>
    <p:sldId id="436" r:id="rId66"/>
    <p:sldId id="437" r:id="rId67"/>
    <p:sldId id="443" r:id="rId68"/>
    <p:sldId id="438" r:id="rId69"/>
    <p:sldId id="441" r:id="rId70"/>
    <p:sldId id="442" r:id="rId71"/>
    <p:sldId id="444" r:id="rId72"/>
    <p:sldId id="445" r:id="rId73"/>
    <p:sldId id="446" r:id="rId74"/>
    <p:sldId id="377" r:id="rId75"/>
    <p:sldId id="259" r:id="rId76"/>
    <p:sldId id="346" r:id="rId77"/>
    <p:sldId id="347" r:id="rId78"/>
    <p:sldId id="461" r:id="rId79"/>
    <p:sldId id="365" r:id="rId80"/>
    <p:sldId id="468" r:id="rId81"/>
    <p:sldId id="467" r:id="rId82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4" autoAdjust="0"/>
    <p:restoredTop sz="85043" autoAdjust="0"/>
  </p:normalViewPr>
  <p:slideViewPr>
    <p:cSldViewPr>
      <p:cViewPr varScale="1">
        <p:scale>
          <a:sx n="75" d="100"/>
          <a:sy n="75" d="100"/>
        </p:scale>
        <p:origin x="1167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>
              <a:defRPr sz="1200"/>
            </a:lvl1pPr>
          </a:lstStyle>
          <a:p>
            <a:fld id="{CC0625BF-1077-48C3-9AE0-48EE735D104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2" y="9428583"/>
            <a:ext cx="2945660" cy="496332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>
              <a:defRPr sz="1200"/>
            </a:lvl1pPr>
          </a:lstStyle>
          <a:p>
            <a:fld id="{7D14AD07-7E78-45E5-AFA0-F8BE789D31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021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data signing is used for transferring authenticated data between two devices in an unencrypted connection.</a:t>
            </a:r>
          </a:p>
          <a:p>
            <a:r>
              <a:rPr lang="en-US" altLang="ko-KR" dirty="0"/>
              <a:t>The bonding procedure may be performed when a non-bonded device tries to access a service that requires bonding. The bonding procedure may be performed for the purpose of creating a bond between two devices.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4AD07-7E78-45E5-AFA0-F8BE789D310E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49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58DBA23-F894-43BE-B1C2-A5A4B2BE1750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78D6EBBC-5833-44AD-AFF7-736974A7810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6AQMMx4Okj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://www.forbes.com/video/3973078767001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://www.freescale.com/video/demo-qoriq-ls1021a-iot-gateway-reference-design:QORIQ-LS1021A-IOT-GATEWAY-DEMO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i.com/product/am3358" TargetMode="External"/><Relationship Id="rId3" Type="http://schemas.openxmlformats.org/officeDocument/2006/relationships/image" Target="../media/image30.jpeg"/><Relationship Id="rId7" Type="http://schemas.openxmlformats.org/officeDocument/2006/relationships/hyperlink" Target="http://www.ti.com/dsp/docs/dspcontent.tsp?contentId=53403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i.com/dsp/docs/dspcontent.tsp?contentId=72866&amp;DCMP=am37x_060710&amp;HQS=Other+OT+am37x" TargetMode="External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9" Type="http://schemas.openxmlformats.org/officeDocument/2006/relationships/hyperlink" Target="http://beagleboard.org/black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ww.youtube.com/watch?v=o7VXyolenv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TvtrU9lCKmQ" TargetMode="External"/><Relationship Id="rId4" Type="http://schemas.openxmlformats.org/officeDocument/2006/relationships/image" Target="../media/image53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ti.com/tool/tibluetoothstack-sdk" TargetMode="External"/><Relationship Id="rId3" Type="http://schemas.openxmlformats.org/officeDocument/2006/relationships/hyperlink" Target="http://www.ti.com/lsds/ti/wireless_connectivity/bluetooth_bluetooth-ble/products.page#p3049=Dual Mode Bluetooth" TargetMode="External"/><Relationship Id="rId7" Type="http://schemas.openxmlformats.org/officeDocument/2006/relationships/hyperlink" Target="http://www.ti.com/tool/stonestreetone-bt-sdk" TargetMode="External"/><Relationship Id="rId2" Type="http://schemas.openxmlformats.org/officeDocument/2006/relationships/hyperlink" Target="http://www.ti.com/lsds/ti/wireless_connectivity/bluetooth_bluetooth-ble/products.page#p3049=Bluetooth low energy (Bluetooth Smart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ti.com/tool/sensortag-sw" TargetMode="External"/><Relationship Id="rId11" Type="http://schemas.openxmlformats.org/officeDocument/2006/relationships/image" Target="../media/image56.png"/><Relationship Id="rId5" Type="http://schemas.openxmlformats.org/officeDocument/2006/relationships/hyperlink" Target="http://www.ti.com/tool/ble-stack" TargetMode="External"/><Relationship Id="rId10" Type="http://schemas.openxmlformats.org/officeDocument/2006/relationships/image" Target="../media/image55.png"/><Relationship Id="rId4" Type="http://schemas.openxmlformats.org/officeDocument/2006/relationships/hyperlink" Target="http://www.ti.com/lsds/ti/wireless_connectivity/bluetooth_bluetooth-ble/products.page#p3049=Classic Bluetooth" TargetMode="External"/><Relationship Id="rId9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www.youtube.com/watch?v=zPhjnN0HD2E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gif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hyperlink" Target="http://192.168.1.122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hyperlink" Target="http://192.168.0.x/phptest.php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hyperlink" Target="https://www.youtube.com/watch?v=TvtrU9lCKmQ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hyperlink" Target="http://www.ti.com/tool/gassensorev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hyperlink" Target="https://www.youtube.com/watch?v=xdMzjYU1xyM&amp;feature=youtu.be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412776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ko-KR" altLang="en-US" sz="4000" dirty="0"/>
              <a:t>임베디드 기술동향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5800" y="3813472"/>
            <a:ext cx="7772400" cy="1199704"/>
          </a:xfrm>
        </p:spPr>
        <p:txBody>
          <a:bodyPr>
            <a:normAutofit fontScale="92500" lnSpcReduction="20000"/>
          </a:bodyPr>
          <a:lstStyle/>
          <a:p>
            <a:endParaRPr lang="en-US" altLang="ko-KR" dirty="0"/>
          </a:p>
          <a:p>
            <a:pPr algn="ctr"/>
            <a:r>
              <a:rPr lang="ko-KR" altLang="en-US" dirty="0"/>
              <a:t>충북대학교 정보통신공학부</a:t>
            </a:r>
            <a:endParaRPr lang="en-US" altLang="ko-KR" dirty="0"/>
          </a:p>
          <a:p>
            <a:pPr algn="ctr"/>
            <a:r>
              <a:rPr lang="ko-KR" altLang="en-US" dirty="0"/>
              <a:t>최 민</a:t>
            </a:r>
          </a:p>
        </p:txBody>
      </p:sp>
    </p:spTree>
    <p:extLst>
      <p:ext uri="{BB962C8B-B14F-4D97-AF65-F5344CB8AC3E}">
        <p14:creationId xmlns:p14="http://schemas.microsoft.com/office/powerpoint/2010/main" val="242277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pSp>
        <p:nvGrpSpPr>
          <p:cNvPr id="88" name="그룹 20"/>
          <p:cNvGrpSpPr>
            <a:grpSpLocks/>
          </p:cNvGrpSpPr>
          <p:nvPr/>
        </p:nvGrpSpPr>
        <p:grpSpPr bwMode="auto">
          <a:xfrm>
            <a:off x="754882" y="5175051"/>
            <a:ext cx="7632847" cy="1044575"/>
            <a:chOff x="3779838" y="3645024"/>
            <a:chExt cx="5035555" cy="1045889"/>
          </a:xfrm>
        </p:grpSpPr>
        <p:sp>
          <p:nvSpPr>
            <p:cNvPr id="89" name="양쪽 모서리가 둥근 사각형 88"/>
            <p:cNvSpPr/>
            <p:nvPr/>
          </p:nvSpPr>
          <p:spPr>
            <a:xfrm>
              <a:off x="3779838" y="3740394"/>
              <a:ext cx="2357440" cy="360815"/>
            </a:xfrm>
            <a:prstGeom prst="round2SameRect">
              <a:avLst>
                <a:gd name="adj1" fmla="val 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ts val="600"/>
                </a:spcBef>
                <a:defRPr/>
              </a:pPr>
              <a:r>
                <a:rPr lang="en-US" altLang="ko-KR" sz="1600" b="1" dirty="0">
                  <a:latin typeface="+mn-ea"/>
                </a:rPr>
                <a:t>CASAGRAS Final Report(2009)</a:t>
              </a:r>
              <a:endParaRPr lang="ko-KR" altLang="en-US" sz="1600" b="1" dirty="0">
                <a:latin typeface="+mn-ea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3779838" y="3645024"/>
              <a:ext cx="5035555" cy="1045889"/>
            </a:xfrm>
            <a:prstGeom prst="rect">
              <a:avLst/>
            </a:prstGeom>
            <a:ln w="12700">
              <a:solidFill>
                <a:schemeClr val="accent4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540000"/>
            <a:lstStyle/>
            <a:p>
              <a:pPr>
                <a:spcBef>
                  <a:spcPts val="600"/>
                </a:spcBef>
                <a:defRPr/>
              </a:pPr>
              <a:r>
                <a:rPr lang="ko-KR" altLang="en-US" sz="1600" dirty="0"/>
                <a:t>데이터 수집과 통신기능을 통하여 물리적 객체와 가상의 객체를 연결해주는 글로벌 네트워크 인프라</a:t>
              </a:r>
              <a:endParaRPr lang="en-US" altLang="ko-KR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92" name="그룹 20"/>
          <p:cNvGrpSpPr>
            <a:grpSpLocks/>
          </p:cNvGrpSpPr>
          <p:nvPr/>
        </p:nvGrpSpPr>
        <p:grpSpPr bwMode="auto">
          <a:xfrm>
            <a:off x="755577" y="2681759"/>
            <a:ext cx="7632847" cy="1044575"/>
            <a:chOff x="3779838" y="3645024"/>
            <a:chExt cx="5035555" cy="1045889"/>
          </a:xfrm>
        </p:grpSpPr>
        <p:sp>
          <p:nvSpPr>
            <p:cNvPr id="93" name="양쪽 모서리가 둥근 사각형 92"/>
            <p:cNvSpPr/>
            <p:nvPr/>
          </p:nvSpPr>
          <p:spPr>
            <a:xfrm>
              <a:off x="3779838" y="3740394"/>
              <a:ext cx="1857377" cy="360815"/>
            </a:xfrm>
            <a:prstGeom prst="round2SameRect">
              <a:avLst>
                <a:gd name="adj1" fmla="val 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ts val="600"/>
                </a:spcBef>
                <a:defRPr/>
              </a:pPr>
              <a:r>
                <a:rPr lang="en-US" altLang="ko-KR" sz="1600" b="1" dirty="0">
                  <a:latin typeface="+mn-ea"/>
                </a:rPr>
                <a:t>Gartner</a:t>
              </a:r>
              <a:endParaRPr lang="ko-KR" altLang="en-US" sz="1600" b="1" dirty="0">
                <a:latin typeface="+mn-ea"/>
              </a:endParaRPr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3779838" y="3645024"/>
              <a:ext cx="5035555" cy="1045889"/>
            </a:xfrm>
            <a:prstGeom prst="rect">
              <a:avLst/>
            </a:prstGeom>
            <a:ln w="12700">
              <a:solidFill>
                <a:schemeClr val="accent4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540000"/>
            <a:lstStyle/>
            <a:p>
              <a:pPr>
                <a:spcBef>
                  <a:spcPts val="600"/>
                </a:spcBef>
                <a:defRPr/>
              </a:pPr>
              <a:r>
                <a:rPr lang="ko-KR" altLang="en-US" sz="1600" dirty="0"/>
                <a:t>통신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감지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주변 환경과의 상호작용을 위해 </a:t>
              </a:r>
              <a:r>
                <a:rPr lang="ko-KR" altLang="en-US" sz="1600" dirty="0" err="1"/>
                <a:t>임베디드</a:t>
              </a:r>
              <a:r>
                <a:rPr lang="ko-KR" altLang="en-US" sz="1600" dirty="0"/>
                <a:t> 기술이 탑재된 물리적 객체들의 </a:t>
              </a:r>
              <a:r>
                <a:rPr lang="ko-KR" altLang="en-US" sz="1600" dirty="0" err="1"/>
                <a:t>연결망</a:t>
              </a:r>
              <a:endParaRPr lang="en-US" altLang="ko-KR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95" name="그룹 20"/>
          <p:cNvGrpSpPr>
            <a:grpSpLocks/>
          </p:cNvGrpSpPr>
          <p:nvPr/>
        </p:nvGrpSpPr>
        <p:grpSpPr bwMode="auto">
          <a:xfrm>
            <a:off x="755577" y="3869208"/>
            <a:ext cx="7632847" cy="1305842"/>
            <a:chOff x="3779838" y="3645024"/>
            <a:chExt cx="5035555" cy="1307485"/>
          </a:xfrm>
        </p:grpSpPr>
        <p:sp>
          <p:nvSpPr>
            <p:cNvPr id="96" name="양쪽 모서리가 둥근 사각형 95"/>
            <p:cNvSpPr/>
            <p:nvPr/>
          </p:nvSpPr>
          <p:spPr>
            <a:xfrm>
              <a:off x="3779838" y="3740394"/>
              <a:ext cx="1857377" cy="360815"/>
            </a:xfrm>
            <a:prstGeom prst="round2SameRect">
              <a:avLst>
                <a:gd name="adj1" fmla="val 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ts val="600"/>
                </a:spcBef>
                <a:defRPr/>
              </a:pPr>
              <a:r>
                <a:rPr lang="ko-KR" altLang="en-US" sz="1600" b="1" dirty="0">
                  <a:latin typeface="+mn-ea"/>
                </a:rPr>
                <a:t>한국인터넷진흥원</a:t>
              </a: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3779838" y="3645024"/>
              <a:ext cx="5035555" cy="1307485"/>
            </a:xfrm>
            <a:prstGeom prst="rect">
              <a:avLst/>
            </a:prstGeom>
            <a:ln w="12700">
              <a:solidFill>
                <a:schemeClr val="accent4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540000"/>
            <a:lstStyle/>
            <a:p>
              <a:pPr>
                <a:spcBef>
                  <a:spcPts val="600"/>
                </a:spcBef>
                <a:defRPr/>
              </a:pPr>
              <a:r>
                <a:rPr lang="ko-KR" altLang="en-US" sz="1600" dirty="0"/>
                <a:t>인간과 사물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서비스 세 가지 분산된 환경 요소에 대해 인간의 명시적 개입 없이 </a:t>
              </a:r>
              <a:br>
                <a:rPr lang="en-US" altLang="ko-KR" sz="1600" dirty="0"/>
              </a:br>
              <a:r>
                <a:rPr lang="ko-KR" altLang="en-US" sz="1600" dirty="0"/>
                <a:t>상호 협력적으로 </a:t>
              </a:r>
              <a:r>
                <a:rPr lang="ko-KR" altLang="en-US" sz="1600" dirty="0" err="1"/>
                <a:t>센싱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네트워킹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정보 처리 등 지능적 관계를 형성하는 사물 공간 </a:t>
              </a:r>
              <a:r>
                <a:rPr lang="ko-KR" altLang="en-US" sz="1600" dirty="0" err="1"/>
                <a:t>연결망</a:t>
              </a:r>
              <a:endParaRPr lang="en-US" altLang="ko-KR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98" name="그룹 20"/>
          <p:cNvGrpSpPr>
            <a:grpSpLocks/>
          </p:cNvGrpSpPr>
          <p:nvPr/>
        </p:nvGrpSpPr>
        <p:grpSpPr bwMode="auto">
          <a:xfrm>
            <a:off x="755577" y="1484784"/>
            <a:ext cx="7632847" cy="1044575"/>
            <a:chOff x="3779838" y="3645024"/>
            <a:chExt cx="5035555" cy="1045889"/>
          </a:xfrm>
        </p:grpSpPr>
        <p:sp>
          <p:nvSpPr>
            <p:cNvPr id="99" name="양쪽 모서리가 둥근 사각형 98"/>
            <p:cNvSpPr/>
            <p:nvPr/>
          </p:nvSpPr>
          <p:spPr>
            <a:xfrm>
              <a:off x="3779838" y="3740394"/>
              <a:ext cx="1857377" cy="360815"/>
            </a:xfrm>
            <a:prstGeom prst="round2SameRect">
              <a:avLst>
                <a:gd name="adj1" fmla="val 0"/>
                <a:gd name="adj2" fmla="val 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spcBef>
                  <a:spcPts val="600"/>
                </a:spcBef>
                <a:defRPr/>
              </a:pPr>
              <a:r>
                <a:rPr lang="en-US" altLang="ko-KR" sz="1600" b="1" dirty="0">
                  <a:latin typeface="+mn-ea"/>
                </a:rPr>
                <a:t>ITU-T</a:t>
              </a:r>
              <a:endParaRPr lang="ko-KR" altLang="en-US" sz="1600" b="1" dirty="0">
                <a:latin typeface="+mn-ea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779838" y="3645024"/>
              <a:ext cx="5035555" cy="1045889"/>
            </a:xfrm>
            <a:prstGeom prst="rect">
              <a:avLst/>
            </a:prstGeom>
            <a:ln w="12700">
              <a:solidFill>
                <a:schemeClr val="accent4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540000"/>
            <a:lstStyle/>
            <a:p>
              <a:pPr>
                <a:spcBef>
                  <a:spcPts val="600"/>
                </a:spcBef>
                <a:defRPr/>
              </a:pPr>
              <a:r>
                <a:rPr lang="en-US" altLang="ko-KR" sz="1600" dirty="0"/>
                <a:t>ICT</a:t>
              </a:r>
              <a:r>
                <a:rPr lang="ko-KR" altLang="en-US" sz="1600" dirty="0"/>
                <a:t>를 기반으로 다양한 물리적</a:t>
              </a:r>
              <a:r>
                <a:rPr lang="en-US" altLang="ko-KR" sz="1600" dirty="0"/>
                <a:t>(physical) </a:t>
              </a:r>
              <a:r>
                <a:rPr lang="ko-KR" altLang="en-US" sz="1600" dirty="0"/>
                <a:t>및 가상</a:t>
              </a:r>
              <a:r>
                <a:rPr lang="en-US" altLang="ko-KR" sz="1600" dirty="0"/>
                <a:t>(virtual)</a:t>
              </a:r>
              <a:r>
                <a:rPr lang="ko-KR" altLang="en-US" sz="1600" dirty="0"/>
                <a:t>의 사물을 서로 연결하여 진보된 서비스를 제공하기 위한 글로벌 서비스 인프라 </a:t>
              </a:r>
              <a:r>
                <a:rPr lang="en-US" altLang="ko-KR" sz="1600" dirty="0"/>
                <a:t>[ITU-T Y.2060]</a:t>
              </a:r>
              <a:endParaRPr lang="en-US" altLang="ko-KR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839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ITU-T Y.2060 </a:t>
            </a:r>
            <a:r>
              <a:rPr lang="en-US" altLang="ko-KR" dirty="0" err="1"/>
              <a:t>IoT</a:t>
            </a:r>
            <a:r>
              <a:rPr lang="en-US" altLang="ko-KR" dirty="0"/>
              <a:t> Reference Model</a:t>
            </a:r>
          </a:p>
          <a:p>
            <a:pPr lvl="1"/>
            <a:r>
              <a:rPr lang="en-US" altLang="ko-KR" dirty="0"/>
              <a:t>4 layers and management/security capabilities</a:t>
            </a:r>
          </a:p>
          <a:p>
            <a:pPr lvl="1"/>
            <a:r>
              <a:rPr lang="ko-KR" altLang="en-US" dirty="0"/>
              <a:t>서비스 지원 및 응용계층 </a:t>
            </a:r>
            <a:r>
              <a:rPr lang="en-US" altLang="ko-KR" dirty="0"/>
              <a:t>: </a:t>
            </a:r>
            <a:r>
              <a:rPr lang="ko-KR" altLang="en-US" dirty="0"/>
              <a:t>공통지원기능</a:t>
            </a:r>
            <a:r>
              <a:rPr lang="en-US" altLang="ko-KR" dirty="0"/>
              <a:t>, </a:t>
            </a:r>
            <a:r>
              <a:rPr lang="ko-KR" altLang="en-US" dirty="0"/>
              <a:t>특정응용지원기능</a:t>
            </a:r>
            <a:endParaRPr lang="en-US" altLang="ko-KR" dirty="0"/>
          </a:p>
          <a:p>
            <a:pPr lvl="1"/>
            <a:r>
              <a:rPr lang="ko-KR" altLang="en-US" dirty="0"/>
              <a:t>디바이스 계층 </a:t>
            </a:r>
            <a:r>
              <a:rPr lang="en-US" altLang="ko-KR" dirty="0"/>
              <a:t>: device </a:t>
            </a:r>
            <a:r>
              <a:rPr lang="ko-KR" altLang="en-US" dirty="0"/>
              <a:t>기능</a:t>
            </a:r>
            <a:r>
              <a:rPr lang="en-US" altLang="ko-KR" dirty="0"/>
              <a:t>, </a:t>
            </a:r>
            <a:r>
              <a:rPr lang="ko-KR" altLang="en-US" dirty="0" err="1"/>
              <a:t>게이트웨이</a:t>
            </a:r>
            <a:r>
              <a:rPr lang="ko-KR" altLang="en-US" dirty="0"/>
              <a:t> 기능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3504615"/>
            <a:ext cx="7442225" cy="334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882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https://www.youtube.com/watch?v=6AQMMx4OkjM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8194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20888"/>
            <a:ext cx="7488832" cy="408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977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Device + Service &amp; Software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827584" y="2042318"/>
            <a:ext cx="7362160" cy="4074205"/>
            <a:chOff x="1339850" y="2042318"/>
            <a:chExt cx="5035550" cy="4074205"/>
          </a:xfrm>
        </p:grpSpPr>
        <p:grpSp>
          <p:nvGrpSpPr>
            <p:cNvPr id="8" name="그룹 50"/>
            <p:cNvGrpSpPr>
              <a:grpSpLocks/>
            </p:cNvGrpSpPr>
            <p:nvPr/>
          </p:nvGrpSpPr>
          <p:grpSpPr bwMode="auto">
            <a:xfrm>
              <a:off x="1339850" y="4256737"/>
              <a:ext cx="5035550" cy="371475"/>
              <a:chOff x="3707904" y="1574800"/>
              <a:chExt cx="5035619" cy="371475"/>
            </a:xfrm>
          </p:grpSpPr>
          <p:sp>
            <p:nvSpPr>
              <p:cNvPr id="10" name="모서리가 둥근 직사각형 9"/>
              <p:cNvSpPr/>
              <p:nvPr/>
            </p:nvSpPr>
            <p:spPr>
              <a:xfrm>
                <a:off x="3707904" y="1574800"/>
                <a:ext cx="431806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en-US" altLang="ko-KR" sz="4000" b="1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ko-KR" altLang="en-US" sz="4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200036" y="1585912"/>
                <a:ext cx="4543487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dirty="0"/>
                  <a:t>Service &amp; SW</a:t>
                </a:r>
              </a:p>
            </p:txBody>
          </p:sp>
        </p:grpSp>
        <p:grpSp>
          <p:nvGrpSpPr>
            <p:cNvPr id="12" name="그룹 50"/>
            <p:cNvGrpSpPr>
              <a:grpSpLocks/>
            </p:cNvGrpSpPr>
            <p:nvPr/>
          </p:nvGrpSpPr>
          <p:grpSpPr bwMode="auto">
            <a:xfrm>
              <a:off x="1339850" y="2042318"/>
              <a:ext cx="5035550" cy="371475"/>
              <a:chOff x="3707904" y="1574800"/>
              <a:chExt cx="5035619" cy="371475"/>
            </a:xfrm>
          </p:grpSpPr>
          <p:sp>
            <p:nvSpPr>
              <p:cNvPr id="13" name="모서리가 둥근 직사각형 12"/>
              <p:cNvSpPr/>
              <p:nvPr/>
            </p:nvSpPr>
            <p:spPr>
              <a:xfrm>
                <a:off x="3707904" y="1574800"/>
                <a:ext cx="431806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en-US" altLang="ko-KR" sz="4000" b="1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ko-KR" altLang="en-US" sz="40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200036" y="1585912"/>
                <a:ext cx="4543487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dirty="0"/>
                  <a:t>Device</a:t>
                </a:r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1855788" y="4685362"/>
              <a:ext cx="1928812" cy="14311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dirty="0" err="1">
                  <a:latin typeface="+mn-ea"/>
                  <a:ea typeface="+mn-ea"/>
                </a:rPr>
                <a:t>Scaliability</a:t>
              </a:r>
              <a:endParaRPr lang="en-US" altLang="ko-KR" dirty="0">
                <a:latin typeface="+mn-ea"/>
                <a:ea typeface="+mn-ea"/>
              </a:endParaRP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dirty="0">
                  <a:latin typeface="+mn-ea"/>
                  <a:ea typeface="+mn-ea"/>
                </a:rPr>
                <a:t>Security</a:t>
              </a:r>
              <a:endParaRPr lang="ko-KR" altLang="en-US" dirty="0">
                <a:latin typeface="+mn-ea"/>
                <a:ea typeface="+mn-ea"/>
              </a:endParaRP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dirty="0">
                  <a:latin typeface="+mn-ea"/>
                  <a:ea typeface="+mn-ea"/>
                </a:rPr>
                <a:t>Management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dirty="0">
                  <a:latin typeface="+mn-ea"/>
                  <a:ea typeface="+mn-ea"/>
                </a:rPr>
                <a:t>Communication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855788" y="2470943"/>
              <a:ext cx="4519612" cy="17851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dirty="0">
                  <a:latin typeface="+mn-ea"/>
                  <a:ea typeface="+mn-ea"/>
                </a:rPr>
                <a:t>최소한의 </a:t>
              </a:r>
              <a:r>
                <a:rPr lang="en-US" altLang="ko-KR" dirty="0">
                  <a:latin typeface="+mn-ea"/>
                  <a:ea typeface="+mn-ea"/>
                </a:rPr>
                <a:t>Computing Power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dirty="0">
                  <a:latin typeface="+mn-ea"/>
                  <a:ea typeface="+mn-ea"/>
                </a:rPr>
                <a:t>저전력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dirty="0">
                  <a:latin typeface="+mn-ea"/>
                  <a:ea typeface="+mn-ea"/>
                </a:rPr>
                <a:t>각종 센서 기술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dirty="0">
                  <a:latin typeface="+mn-ea"/>
                  <a:ea typeface="+mn-ea"/>
                </a:rPr>
                <a:t>최소한의 통신 기술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dirty="0">
                  <a:latin typeface="+mn-ea"/>
                  <a:ea typeface="+mn-ea"/>
                </a:rPr>
                <a:t>Embedded System </a:t>
              </a:r>
              <a:r>
                <a:rPr lang="ko-KR" altLang="en-US" dirty="0">
                  <a:latin typeface="+mn-ea"/>
                  <a:ea typeface="+mn-ea"/>
                </a:rPr>
                <a:t>및 </a:t>
              </a:r>
              <a:r>
                <a:rPr lang="en-US" altLang="ko-KR" dirty="0">
                  <a:latin typeface="+mn-ea"/>
                  <a:ea typeface="+mn-ea"/>
                </a:rPr>
                <a:t>RTOS </a:t>
              </a:r>
              <a:r>
                <a:rPr lang="ko-KR" altLang="en-US" dirty="0">
                  <a:latin typeface="+mn-ea"/>
                  <a:ea typeface="+mn-ea"/>
                </a:rPr>
                <a:t>기술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2261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IoT</a:t>
            </a:r>
            <a:r>
              <a:rPr lang="en-US" altLang="ko-KR" dirty="0"/>
              <a:t> Platform Architecture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8086105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155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IoT</a:t>
            </a:r>
            <a:r>
              <a:rPr lang="en-US" altLang="ko-KR" dirty="0"/>
              <a:t> Component Costs in USD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pSp>
        <p:nvGrpSpPr>
          <p:cNvPr id="4" name="그룹 87"/>
          <p:cNvGrpSpPr>
            <a:grpSpLocks/>
          </p:cNvGrpSpPr>
          <p:nvPr/>
        </p:nvGrpSpPr>
        <p:grpSpPr bwMode="auto">
          <a:xfrm>
            <a:off x="611560" y="2348880"/>
            <a:ext cx="7959799" cy="3587849"/>
            <a:chOff x="1105478" y="3835365"/>
            <a:chExt cx="4464960" cy="2675027"/>
          </a:xfrm>
        </p:grpSpPr>
        <p:graphicFrame>
          <p:nvGraphicFramePr>
            <p:cNvPr id="5" name="Chart 7"/>
            <p:cNvGraphicFramePr>
              <a:graphicFrameLocks/>
            </p:cNvGraphicFramePr>
            <p:nvPr/>
          </p:nvGraphicFramePr>
          <p:xfrm>
            <a:off x="1105478" y="3835365"/>
            <a:ext cx="3715848" cy="2675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310415" imgH="3054361" progId="Excel.Sheet.8">
                    <p:embed/>
                  </p:oleObj>
                </mc:Choice>
                <mc:Fallback>
                  <p:oleObj r:id="rId2" imgW="3310415" imgH="3054361" progId="Excel.Sheet.8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478" y="3835365"/>
                          <a:ext cx="3715848" cy="26750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Box 5"/>
            <p:cNvSpPr txBox="1"/>
            <p:nvPr/>
          </p:nvSpPr>
          <p:spPr>
            <a:xfrm>
              <a:off x="4353950" y="4395255"/>
              <a:ext cx="908612" cy="1534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FF33CC"/>
                  </a:solidFill>
                  <a:latin typeface="+mn-ea"/>
                  <a:ea typeface="+mn-ea"/>
                </a:rPr>
                <a:t>Energy Source</a:t>
              </a:r>
              <a:endParaRPr lang="en-US" sz="1000" baseline="30000" dirty="0">
                <a:solidFill>
                  <a:srgbClr val="FF33CC"/>
                </a:solidFill>
                <a:latin typeface="+mn-ea"/>
                <a:ea typeface="+mn-ea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400508" y="5544064"/>
              <a:ext cx="271832" cy="153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92D050"/>
                  </a:solidFill>
                  <a:latin typeface="+mn-ea"/>
                  <a:ea typeface="+mn-ea"/>
                </a:rPr>
                <a:t>GPS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99005" y="4863902"/>
              <a:ext cx="480588" cy="153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defTabSz="533251">
                <a:defRPr sz="1000">
                  <a:solidFill>
                    <a:srgbClr val="00FFFF"/>
                  </a:solidFill>
                </a:defRPr>
              </a:lvl1pPr>
            </a:lstStyle>
            <a:p>
              <a:pPr>
                <a:defRPr/>
              </a:pPr>
              <a:r>
                <a:rPr lang="en-US" dirty="0">
                  <a:latin typeface="+mn-ea"/>
                  <a:ea typeface="+mn-ea"/>
                </a:rPr>
                <a:t>Camera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03511" y="5701663"/>
              <a:ext cx="1166927" cy="153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AU"/>
              </a:defPPr>
              <a:lvl1pPr defTabSz="533251">
                <a:defRPr sz="1000">
                  <a:solidFill>
                    <a:srgbClr val="99CC00"/>
                  </a:solidFill>
                  <a:latin typeface="+mn-lt"/>
                </a:defRPr>
              </a:lvl1pPr>
            </a:lstStyle>
            <a:p>
              <a:pPr>
                <a:defRPr/>
              </a:pPr>
              <a:r>
                <a:rPr lang="en-US" dirty="0">
                  <a:solidFill>
                    <a:srgbClr val="02163E">
                      <a:lumMod val="25000"/>
                      <a:lumOff val="75000"/>
                    </a:srgbClr>
                  </a:solidFill>
                  <a:latin typeface="+mn-ea"/>
                  <a:ea typeface="+mn-ea"/>
                </a:rPr>
                <a:t>8-bit microcontroller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00508" y="4988322"/>
              <a:ext cx="816999" cy="13409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chemeClr val="tx1"/>
                  </a:solidFill>
                  <a:latin typeface="+mn-ea"/>
                  <a:ea typeface="+mn-ea"/>
                </a:rPr>
                <a:t>Accelerometer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94500" y="5112742"/>
              <a:ext cx="729893" cy="153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FF0000"/>
                  </a:solidFill>
                  <a:latin typeface="+mn-ea"/>
                  <a:ea typeface="+mn-ea"/>
                </a:rPr>
                <a:t>Microphone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94500" y="5266194"/>
              <a:ext cx="746412" cy="1534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02163E">
                      <a:lumMod val="50000"/>
                      <a:lumOff val="50000"/>
                    </a:srgbClr>
                  </a:solidFill>
                  <a:latin typeface="+mn-ea"/>
                  <a:ea typeface="+mn-ea"/>
                </a:rPr>
                <a:t>Wi-Fi Radio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03511" y="5826082"/>
              <a:ext cx="992714" cy="1534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883884">
                      <a:lumMod val="40000"/>
                      <a:lumOff val="60000"/>
                    </a:srgbClr>
                  </a:solidFill>
                  <a:latin typeface="+mn-ea"/>
                  <a:ea typeface="+mn-ea"/>
                </a:rPr>
                <a:t>Bluetooth Radio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0508" y="5390613"/>
              <a:ext cx="823007" cy="15345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>
                <a:defRPr sz="800">
                  <a:solidFill>
                    <a:srgbClr val="000000"/>
                  </a:solidFill>
                  <a:latin typeface="Segoe"/>
                </a:defRPr>
              </a:lvl1pPr>
            </a:lstStyle>
            <a:p>
              <a:pPr defTabSz="522746">
                <a:defRPr/>
              </a:pPr>
              <a:r>
                <a:rPr lang="en-US" sz="1000" dirty="0">
                  <a:solidFill>
                    <a:srgbClr val="FFC000"/>
                  </a:solidFill>
                  <a:latin typeface="+mn-ea"/>
                  <a:ea typeface="+mn-ea"/>
                </a:rPr>
                <a:t>Temp Sensor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145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Other</a:t>
            </a:r>
            <a:r>
              <a:rPr lang="ko-KR" altLang="en-US" dirty="0"/>
              <a:t> </a:t>
            </a:r>
            <a:r>
              <a:rPr lang="en-US" altLang="ko-KR" dirty="0"/>
              <a:t>key enablers for embedded HW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pSp>
        <p:nvGrpSpPr>
          <p:cNvPr id="4" name="그룹 21"/>
          <p:cNvGrpSpPr>
            <a:grpSpLocks/>
          </p:cNvGrpSpPr>
          <p:nvPr/>
        </p:nvGrpSpPr>
        <p:grpSpPr bwMode="auto">
          <a:xfrm>
            <a:off x="610865" y="2064543"/>
            <a:ext cx="7993583" cy="1166813"/>
            <a:chOff x="3867150" y="4500570"/>
            <a:chExt cx="5026025" cy="1166818"/>
          </a:xfrm>
        </p:grpSpPr>
        <p:sp>
          <p:nvSpPr>
            <p:cNvPr id="5" name="AutoShape 7"/>
            <p:cNvSpPr>
              <a:spLocks noChangeArrowheads="1"/>
            </p:cNvSpPr>
            <p:nvPr/>
          </p:nvSpPr>
          <p:spPr bwMode="auto">
            <a:xfrm>
              <a:off x="3867150" y="4500570"/>
              <a:ext cx="5026025" cy="1006479"/>
            </a:xfrm>
            <a:prstGeom prst="homePlate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kumimoji="0" lang="ko-KR" altLang="en-US" sz="10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 bwMode="auto">
            <a:xfrm>
              <a:off x="4978400" y="5286386"/>
              <a:ext cx="3098800" cy="381002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1200" b="1" dirty="0">
                  <a:solidFill>
                    <a:schemeClr val="bg1"/>
                  </a:solidFill>
                  <a:latin typeface="+mn-ea"/>
                </a:rPr>
                <a:t>Cost effective component manufacturing</a:t>
              </a:r>
            </a:p>
          </p:txBody>
        </p:sp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939" b="13779"/>
            <a:stretch>
              <a:fillRect/>
            </a:stretch>
          </p:blipFill>
          <p:spPr bwMode="auto">
            <a:xfrm>
              <a:off x="4786314" y="4615608"/>
              <a:ext cx="1382214" cy="6707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0826" y="4622088"/>
              <a:ext cx="1643074" cy="592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그룹 41"/>
          <p:cNvGrpSpPr>
            <a:grpSpLocks/>
          </p:cNvGrpSpPr>
          <p:nvPr/>
        </p:nvGrpSpPr>
        <p:grpSpPr bwMode="auto">
          <a:xfrm>
            <a:off x="610865" y="3278981"/>
            <a:ext cx="7993583" cy="1166812"/>
            <a:chOff x="3867150" y="3214686"/>
            <a:chExt cx="5026025" cy="1166818"/>
          </a:xfrm>
        </p:grpSpPr>
        <p:grpSp>
          <p:nvGrpSpPr>
            <p:cNvPr id="10" name="그룹 22"/>
            <p:cNvGrpSpPr>
              <a:grpSpLocks/>
            </p:cNvGrpSpPr>
            <p:nvPr/>
          </p:nvGrpSpPr>
          <p:grpSpPr bwMode="auto">
            <a:xfrm>
              <a:off x="3867150" y="3214686"/>
              <a:ext cx="5026025" cy="1166818"/>
              <a:chOff x="3867150" y="4500570"/>
              <a:chExt cx="5026025" cy="1166818"/>
            </a:xfrm>
          </p:grpSpPr>
          <p:sp>
            <p:nvSpPr>
              <p:cNvPr id="14" name="AutoShape 7"/>
              <p:cNvSpPr>
                <a:spLocks noChangeArrowheads="1"/>
              </p:cNvSpPr>
              <p:nvPr/>
            </p:nvSpPr>
            <p:spPr bwMode="auto">
              <a:xfrm>
                <a:off x="3867150" y="4500570"/>
                <a:ext cx="5026025" cy="1006480"/>
              </a:xfrm>
              <a:prstGeom prst="homePlate">
                <a:avLst>
                  <a:gd name="adj" fmla="val 0"/>
                </a:avLst>
              </a:prstGeom>
              <a:ln>
                <a:headEnd/>
                <a:tailEnd/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lIns="90000" tIns="46800" rIns="90000" bIns="4680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kumimoji="0" lang="ko-KR" altLang="en-US" sz="100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5" name="모서리가 둥근 직사각형 14"/>
              <p:cNvSpPr/>
              <p:nvPr/>
            </p:nvSpPr>
            <p:spPr bwMode="auto">
              <a:xfrm>
                <a:off x="4978400" y="5286386"/>
                <a:ext cx="3098800" cy="381002"/>
              </a:xfrm>
              <a:prstGeom prst="roundRect">
                <a:avLst>
                  <a:gd name="adj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lIns="90000" tIns="46800" rIns="90000" bIns="4680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r>
                  <a:rPr lang="en-US" altLang="ko-KR" sz="1200" b="1" dirty="0">
                    <a:solidFill>
                      <a:schemeClr val="bg1"/>
                    </a:solidFill>
                    <a:latin typeface="+mn-ea"/>
                  </a:rPr>
                  <a:t>Open source hardware components</a:t>
                </a:r>
              </a:p>
            </p:txBody>
          </p:sp>
        </p:grpSp>
        <p:grpSp>
          <p:nvGrpSpPr>
            <p:cNvPr id="11" name="그룹 33"/>
            <p:cNvGrpSpPr>
              <a:grpSpLocks/>
            </p:cNvGrpSpPr>
            <p:nvPr/>
          </p:nvGrpSpPr>
          <p:grpSpPr bwMode="auto">
            <a:xfrm>
              <a:off x="4786312" y="3363587"/>
              <a:ext cx="2928959" cy="540098"/>
              <a:chOff x="4799873" y="5997593"/>
              <a:chExt cx="2651012" cy="382588"/>
            </a:xfrm>
          </p:grpSpPr>
          <p:pic>
            <p:nvPicPr>
              <p:cNvPr id="12" name="Picture 6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9873" y="6074505"/>
                <a:ext cx="1698625" cy="273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50809" y="5997593"/>
                <a:ext cx="600076" cy="382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16" name="그룹 43"/>
          <p:cNvGrpSpPr>
            <a:grpSpLocks/>
          </p:cNvGrpSpPr>
          <p:nvPr/>
        </p:nvGrpSpPr>
        <p:grpSpPr bwMode="auto">
          <a:xfrm>
            <a:off x="610865" y="4564856"/>
            <a:ext cx="7993583" cy="1168400"/>
            <a:chOff x="3867150" y="4500570"/>
            <a:chExt cx="5026025" cy="1166818"/>
          </a:xfrm>
        </p:grpSpPr>
        <p:sp>
          <p:nvSpPr>
            <p:cNvPr id="17" name="AutoShape 7"/>
            <p:cNvSpPr>
              <a:spLocks noChangeArrowheads="1"/>
            </p:cNvSpPr>
            <p:nvPr/>
          </p:nvSpPr>
          <p:spPr bwMode="auto">
            <a:xfrm>
              <a:off x="3867150" y="4500570"/>
              <a:ext cx="5026025" cy="1006697"/>
            </a:xfrm>
            <a:prstGeom prst="homePlate">
              <a:avLst>
                <a:gd name="adj" fmla="val 0"/>
              </a:avLst>
            </a:prstGeom>
            <a:ln>
              <a:headEnd/>
              <a:tailEnd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90000" tIns="46800" rIns="90000" bIns="468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kumimoji="0" lang="ko-KR" altLang="en-US" sz="10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 bwMode="auto">
            <a:xfrm>
              <a:off x="4978400" y="5286904"/>
              <a:ext cx="3098800" cy="380484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n-US" altLang="ko-KR" sz="1200" b="1" dirty="0">
                  <a:solidFill>
                    <a:schemeClr val="bg1"/>
                  </a:solidFill>
                  <a:latin typeface="+mn-ea"/>
                </a:rPr>
                <a:t>Crowd funding and easier financing</a:t>
              </a:r>
            </a:p>
          </p:txBody>
        </p:sp>
      </p:grpSp>
      <p:grpSp>
        <p:nvGrpSpPr>
          <p:cNvPr id="19" name="그룹 51"/>
          <p:cNvGrpSpPr>
            <a:grpSpLocks/>
          </p:cNvGrpSpPr>
          <p:nvPr/>
        </p:nvGrpSpPr>
        <p:grpSpPr bwMode="auto">
          <a:xfrm>
            <a:off x="2425705" y="4636293"/>
            <a:ext cx="5196081" cy="630238"/>
            <a:chOff x="8631004" y="906804"/>
            <a:chExt cx="1954261" cy="371475"/>
          </a:xfrm>
        </p:grpSpPr>
        <p:pic>
          <p:nvPicPr>
            <p:cNvPr id="20" name="Picture 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20" b="18768"/>
            <a:stretch>
              <a:fillRect/>
            </a:stretch>
          </p:blipFill>
          <p:spPr bwMode="auto">
            <a:xfrm>
              <a:off x="8631004" y="1001046"/>
              <a:ext cx="1341438" cy="242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9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12203" y="906804"/>
              <a:ext cx="373062" cy="37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65479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Service &amp; Software</a:t>
            </a:r>
          </a:p>
          <a:p>
            <a:pPr lvl="1"/>
            <a:r>
              <a:rPr lang="ko-KR" altLang="en-US" dirty="0" err="1"/>
              <a:t>게이트웨이를</a:t>
            </a:r>
            <a:r>
              <a:rPr lang="ko-KR" altLang="en-US" dirty="0"/>
              <a:t> 사용하여 네트워크와 연결</a:t>
            </a:r>
            <a:endParaRPr lang="en-US" altLang="ko-KR" dirty="0"/>
          </a:p>
          <a:p>
            <a:pPr lvl="1"/>
            <a:r>
              <a:rPr lang="ko-KR" altLang="en-US" dirty="0"/>
              <a:t>게이트웨이를 사용하지 않고 직접 네트워크와 연결</a:t>
            </a:r>
            <a:endParaRPr lang="en-US" altLang="ko-KR" dirty="0"/>
          </a:p>
          <a:p>
            <a:pPr lvl="1"/>
            <a:r>
              <a:rPr lang="ko-KR" altLang="en-US" dirty="0"/>
              <a:t>네트워크를 통하지 않고 직접 디바이스와 연결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grpSp>
        <p:nvGrpSpPr>
          <p:cNvPr id="30" name="그룹 29"/>
          <p:cNvGrpSpPr/>
          <p:nvPr/>
        </p:nvGrpSpPr>
        <p:grpSpPr>
          <a:xfrm>
            <a:off x="683568" y="2844971"/>
            <a:ext cx="7693130" cy="3991915"/>
            <a:chOff x="76373" y="797287"/>
            <a:chExt cx="12044741" cy="532197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4907" y="3174310"/>
              <a:ext cx="1946207" cy="1593553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4963" y="4056491"/>
              <a:ext cx="3571901" cy="206277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613925" y="3355564"/>
              <a:ext cx="2930990" cy="11350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000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Digital Hub</a:t>
              </a:r>
            </a:p>
            <a:p>
              <a:pPr defTabSz="914367" latinLnBrk="0">
                <a:lnSpc>
                  <a:spcPct val="90000"/>
                </a:lnSpc>
              </a:pPr>
              <a:r>
                <a:rPr lang="en-US" altLang="ko-KR" sz="2000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/Gateway</a:t>
              </a:r>
              <a:endParaRPr lang="ko-KR" altLang="en-US" sz="2000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275283" y="3047804"/>
              <a:ext cx="2762901" cy="1135011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000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Digital Hub</a:t>
              </a:r>
            </a:p>
            <a:p>
              <a:pPr defTabSz="914367" latinLnBrk="0">
                <a:lnSpc>
                  <a:spcPct val="90000"/>
                </a:lnSpc>
              </a:pPr>
              <a:r>
                <a:rPr lang="en-US" altLang="ko-KR" sz="2000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/Gateway</a:t>
              </a:r>
              <a:endParaRPr lang="ko-KR" altLang="en-US" sz="2000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418" y="1869143"/>
              <a:ext cx="1120518" cy="806774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1375" y="1816218"/>
              <a:ext cx="1120518" cy="806774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9260" y="1849583"/>
              <a:ext cx="1120518" cy="806774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1575" y="1592880"/>
              <a:ext cx="1120518" cy="806774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6886" y="1189494"/>
              <a:ext cx="1120518" cy="806774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657" y="1412344"/>
              <a:ext cx="1120518" cy="806774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467" b="98778" l="25400" r="765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1311" y="1572945"/>
              <a:ext cx="2567350" cy="2100091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6373" y="1248400"/>
              <a:ext cx="1260965" cy="615522"/>
            </a:xfrm>
            <a:prstGeom prst="rect">
              <a:avLst/>
            </a:prstGeom>
            <a:noFill/>
          </p:spPr>
          <p:txBody>
            <a:bodyPr wrap="non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353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Sensor</a:t>
              </a:r>
              <a:endParaRPr lang="ko-KR" altLang="en-US" sz="2353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46035" y="1380745"/>
              <a:ext cx="1260965" cy="615522"/>
            </a:xfrm>
            <a:prstGeom prst="rect">
              <a:avLst/>
            </a:prstGeom>
            <a:noFill/>
          </p:spPr>
          <p:txBody>
            <a:bodyPr wrap="non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353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Sensor</a:t>
              </a:r>
              <a:endParaRPr lang="ko-KR" altLang="en-US" sz="2353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293580" y="1211777"/>
              <a:ext cx="1260965" cy="615522"/>
            </a:xfrm>
            <a:prstGeom prst="rect">
              <a:avLst/>
            </a:prstGeom>
            <a:noFill/>
          </p:spPr>
          <p:txBody>
            <a:bodyPr wrap="non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353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Sensor</a:t>
              </a:r>
              <a:endParaRPr lang="ko-KR" altLang="en-US" sz="2353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30432" y="797287"/>
              <a:ext cx="1260965" cy="615522"/>
            </a:xfrm>
            <a:prstGeom prst="rect">
              <a:avLst/>
            </a:prstGeom>
            <a:noFill/>
          </p:spPr>
          <p:txBody>
            <a:bodyPr wrap="none" lIns="179285" tIns="143428" rIns="179285" bIns="143428" rtlCol="0">
              <a:spAutoFit/>
            </a:bodyPr>
            <a:lstStyle/>
            <a:p>
              <a:pPr defTabSz="914367" latinLnBrk="0">
                <a:lnSpc>
                  <a:spcPct val="90000"/>
                </a:lnSpc>
              </a:pPr>
              <a:r>
                <a:rPr lang="en-US" altLang="ko-KR" sz="2353" dirty="0">
                  <a:gradFill>
                    <a:gsLst>
                      <a:gs pos="2917">
                        <a:srgbClr val="FFFFFF"/>
                      </a:gs>
                      <a:gs pos="30000">
                        <a:srgbClr val="FFFFFF"/>
                      </a:gs>
                    </a:gsLst>
                    <a:lin ang="5400000" scaled="0"/>
                  </a:gradFill>
                </a:rPr>
                <a:t>Sensor</a:t>
              </a:r>
              <a:endParaRPr lang="ko-KR" altLang="en-US" sz="2353" dirty="0" err="1">
                <a:gradFill>
                  <a:gsLst>
                    <a:gs pos="2917">
                      <a:srgbClr val="FFFFFF"/>
                    </a:gs>
                    <a:gs pos="30000">
                      <a:srgbClr val="FFFFFF"/>
                    </a:gs>
                  </a:gsLst>
                  <a:lin ang="5400000" scaled="0"/>
                </a:gradFill>
              </a:endParaRP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1146035" y="2675916"/>
              <a:ext cx="1147545" cy="679649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>
              <a:stCxn id="9" idx="2"/>
            </p:cNvCxnSpPr>
            <p:nvPr/>
          </p:nvCxnSpPr>
          <p:spPr>
            <a:xfrm>
              <a:off x="2551634" y="2622991"/>
              <a:ext cx="181900" cy="604441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>
              <a:stCxn id="10" idx="2"/>
            </p:cNvCxnSpPr>
            <p:nvPr/>
          </p:nvCxnSpPr>
          <p:spPr>
            <a:xfrm>
              <a:off x="4279519" y="2656357"/>
              <a:ext cx="530793" cy="1494901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>
              <a:endCxn id="5" idx="0"/>
            </p:cNvCxnSpPr>
            <p:nvPr/>
          </p:nvCxnSpPr>
          <p:spPr>
            <a:xfrm>
              <a:off x="5612025" y="2089032"/>
              <a:ext cx="28889" cy="1967459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>
              <a:stCxn id="11" idx="2"/>
            </p:cNvCxnSpPr>
            <p:nvPr/>
          </p:nvCxnSpPr>
          <p:spPr>
            <a:xfrm flipH="1">
              <a:off x="6711834" y="2399654"/>
              <a:ext cx="1" cy="496151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endCxn id="7" idx="0"/>
            </p:cNvCxnSpPr>
            <p:nvPr/>
          </p:nvCxnSpPr>
          <p:spPr>
            <a:xfrm flipH="1">
              <a:off x="7656733" y="2348161"/>
              <a:ext cx="493972" cy="699643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2551633" y="4141873"/>
              <a:ext cx="1564598" cy="986845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 flipH="1">
              <a:off x="6711833" y="3865239"/>
              <a:ext cx="84417" cy="414590"/>
            </a:xfrm>
            <a:prstGeom prst="line">
              <a:avLst/>
            </a:prstGeom>
            <a:ln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9497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737035"/>
            <a:ext cx="6840760" cy="350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그룹 16"/>
          <p:cNvGrpSpPr>
            <a:grpSpLocks/>
          </p:cNvGrpSpPr>
          <p:nvPr/>
        </p:nvGrpSpPr>
        <p:grpSpPr bwMode="auto">
          <a:xfrm>
            <a:off x="683568" y="1317132"/>
            <a:ext cx="7992888" cy="1580468"/>
            <a:chOff x="3743320" y="3462848"/>
            <a:chExt cx="5041932" cy="1030364"/>
          </a:xfrm>
        </p:grpSpPr>
        <p:sp>
          <p:nvSpPr>
            <p:cNvPr id="6" name="직사각형 16"/>
            <p:cNvSpPr>
              <a:spLocks noChangeArrowheads="1"/>
            </p:cNvSpPr>
            <p:nvPr/>
          </p:nvSpPr>
          <p:spPr bwMode="auto">
            <a:xfrm>
              <a:off x="3743320" y="3841097"/>
              <a:ext cx="5041932" cy="652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ko-KR" altLang="en-US" dirty="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사물인터넷 서비스</a:t>
              </a:r>
              <a:r>
                <a:rPr lang="ko-KR" altLang="en-US" dirty="0">
                  <a:latin typeface="휴먼엑스포" pitchFamily="18" charset="-127"/>
                  <a:ea typeface="휴먼엑스포" pitchFamily="18" charset="-127"/>
                </a:rPr>
                <a:t>는 </a:t>
              </a:r>
              <a:r>
                <a:rPr lang="ko-KR" altLang="en-US" dirty="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사물</a:t>
              </a:r>
              <a:r>
                <a:rPr lang="en-US" altLang="ko-KR" dirty="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(Things)</a:t>
              </a:r>
              <a:r>
                <a:rPr lang="ko-KR" altLang="en-US" dirty="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의 연결</a:t>
              </a:r>
              <a:r>
                <a:rPr lang="ko-KR" altLang="en-US" dirty="0">
                  <a:latin typeface="휴먼엑스포" pitchFamily="18" charset="-127"/>
                  <a:ea typeface="휴먼엑스포" pitchFamily="18" charset="-127"/>
                </a:rPr>
                <a:t>을 통해 고객들에게 </a:t>
              </a:r>
              <a:r>
                <a:rPr lang="ko-KR" altLang="en-US" dirty="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새로운 서비스를 제공</a:t>
              </a:r>
              <a:r>
                <a:rPr lang="ko-KR" altLang="en-US" dirty="0">
                  <a:latin typeface="휴먼엑스포" pitchFamily="18" charset="-127"/>
                  <a:ea typeface="휴먼엑스포" pitchFamily="18" charset="-127"/>
                </a:rPr>
                <a:t>함으로써 제품의 본연의 가치를 높이는 것</a:t>
              </a:r>
            </a:p>
            <a:p>
              <a:pPr algn="ctr">
                <a:spcBef>
                  <a:spcPts val="600"/>
                </a:spcBef>
              </a:pPr>
              <a:endParaRPr lang="ko-KR" altLang="en-US" dirty="0">
                <a:latin typeface="휴먼엑스포" pitchFamily="18" charset="-127"/>
                <a:ea typeface="휴먼엑스포" pitchFamily="18" charset="-127"/>
              </a:endParaRPr>
            </a:p>
          </p:txBody>
        </p:sp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9F9ED"/>
                </a:clrFrom>
                <a:clrTo>
                  <a:srgbClr val="F9F9ED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3749665" y="3462848"/>
              <a:ext cx="447675" cy="419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9F9ED"/>
                </a:clrFrom>
                <a:clrTo>
                  <a:srgbClr val="F9F9ED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312207" y="3462848"/>
              <a:ext cx="438150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048513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글로벌 </a:t>
            </a:r>
            <a:r>
              <a:rPr lang="en-US" altLang="ko-KR" sz="2000" dirty="0" err="1"/>
              <a:t>IoT</a:t>
            </a:r>
            <a:r>
              <a:rPr lang="en-US" altLang="ko-KR" sz="2000" dirty="0"/>
              <a:t> </a:t>
            </a:r>
            <a:r>
              <a:rPr lang="ko-KR" altLang="en-US" sz="2000" dirty="0"/>
              <a:t>시장은 </a:t>
            </a:r>
            <a:r>
              <a:rPr lang="en-US" altLang="ko-KR" sz="2000" dirty="0"/>
              <a:t>5</a:t>
            </a:r>
            <a:r>
              <a:rPr lang="ko-KR" altLang="en-US" sz="2000" dirty="0" err="1"/>
              <a:t>조달러</a:t>
            </a:r>
            <a:r>
              <a:rPr lang="ko-KR" altLang="en-US" sz="2000" dirty="0"/>
              <a:t> 이상의 규모로 성장할 것으로 기대되며</a:t>
            </a:r>
            <a:r>
              <a:rPr lang="en-US" altLang="ko-KR" sz="2000" dirty="0"/>
              <a:t>, </a:t>
            </a:r>
            <a:r>
              <a:rPr lang="ko-KR" altLang="en-US" sz="2000" dirty="0"/>
              <a:t>국내 </a:t>
            </a:r>
            <a:r>
              <a:rPr lang="en-US" altLang="ko-KR" sz="2000" dirty="0" err="1"/>
              <a:t>IoT</a:t>
            </a:r>
            <a:r>
              <a:rPr lang="en-US" altLang="ko-KR" sz="2000" dirty="0"/>
              <a:t> </a:t>
            </a:r>
            <a:r>
              <a:rPr lang="ko-KR" altLang="en-US" sz="2000" dirty="0"/>
              <a:t>시장도 </a:t>
            </a:r>
            <a:r>
              <a:rPr lang="en-US" altLang="ko-KR" sz="2000" dirty="0"/>
              <a:t>30</a:t>
            </a:r>
            <a:r>
              <a:rPr lang="ko-KR" altLang="en-US" sz="2000" dirty="0"/>
              <a:t>조원에 이를 것으로 전망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1162033" y="5746064"/>
            <a:ext cx="3522586" cy="303899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$31 billion M2M service revenue in 2017(</a:t>
            </a:r>
            <a:r>
              <a:rPr lang="en-US" altLang="ko-KR" sz="1200" b="1" dirty="0" err="1">
                <a:solidFill>
                  <a:schemeClr val="bg1"/>
                </a:solidFill>
                <a:latin typeface="+mn-ea"/>
              </a:rPr>
              <a:t>Infonetics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52" y="2462046"/>
            <a:ext cx="4421866" cy="316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모서리가 둥근 직사각형 9"/>
          <p:cNvSpPr/>
          <p:nvPr/>
        </p:nvSpPr>
        <p:spPr bwMode="auto">
          <a:xfrm>
            <a:off x="5268594" y="5742168"/>
            <a:ext cx="3402765" cy="35112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$2.7~$6.2 trillion </a:t>
            </a:r>
            <a:r>
              <a:rPr lang="en-US" altLang="ko-KR" sz="1200" b="1" dirty="0" err="1">
                <a:solidFill>
                  <a:schemeClr val="bg1"/>
                </a:solidFill>
                <a:latin typeface="+mn-ea"/>
              </a:rPr>
              <a:t>IoT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 market opportunity(McKinsey)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854" y="2462046"/>
            <a:ext cx="4220634" cy="316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8155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755984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삼성전자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CES</a:t>
            </a:r>
          </a:p>
          <a:p>
            <a:pPr lvl="1"/>
            <a:r>
              <a:rPr lang="en-US" altLang="ko-KR" dirty="0">
                <a:hlinkClick r:id="rId2"/>
              </a:rPr>
              <a:t>http://www.forbes.com/video/3973078767001/</a:t>
            </a:r>
            <a:endParaRPr lang="en-US" altLang="ko-KR" dirty="0"/>
          </a:p>
          <a:p>
            <a:pPr lvl="1"/>
            <a:r>
              <a:rPr lang="en-US" altLang="ko-KR" dirty="0"/>
              <a:t>by 2017 (00:20) -&gt; 90% of Samsung device will be </a:t>
            </a:r>
            <a:r>
              <a:rPr lang="en-US" altLang="ko-KR" dirty="0" err="1"/>
              <a:t>IoT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추진 협의체</a:t>
            </a:r>
            <a:endParaRPr lang="en-US" altLang="ko-KR" dirty="0"/>
          </a:p>
          <a:p>
            <a:pPr lvl="1"/>
            <a:r>
              <a:rPr lang="en-US" altLang="ko-KR" dirty="0"/>
              <a:t>CE + IT Mobile + CFO : </a:t>
            </a:r>
            <a:r>
              <a:rPr lang="ko-KR" altLang="en-US" dirty="0"/>
              <a:t>디바이스</a:t>
            </a:r>
            <a:r>
              <a:rPr lang="en-US" altLang="ko-KR" dirty="0"/>
              <a:t>, </a:t>
            </a:r>
            <a:r>
              <a:rPr lang="ko-KR" altLang="en-US" dirty="0"/>
              <a:t>부품</a:t>
            </a:r>
            <a:r>
              <a:rPr lang="en-US" altLang="ko-KR" dirty="0"/>
              <a:t>, </a:t>
            </a:r>
            <a:r>
              <a:rPr lang="ko-KR" altLang="en-US" dirty="0"/>
              <a:t>통신 역량 결집</a:t>
            </a:r>
            <a:endParaRPr lang="en-US" altLang="ko-KR" dirty="0"/>
          </a:p>
          <a:p>
            <a:pPr lvl="2"/>
            <a:r>
              <a:rPr lang="ko-KR" altLang="en-US" dirty="0"/>
              <a:t>삼성전자는 향후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허브로 가정에서는 </a:t>
            </a:r>
            <a:r>
              <a:rPr lang="en-US" altLang="ko-KR" dirty="0"/>
              <a:t>TV</a:t>
            </a:r>
            <a:r>
              <a:rPr lang="ko-KR" altLang="en-US" dirty="0"/>
              <a:t>를</a:t>
            </a:r>
            <a:r>
              <a:rPr lang="en-US" altLang="ko-KR" dirty="0"/>
              <a:t>, </a:t>
            </a:r>
            <a:r>
              <a:rPr lang="ko-KR" altLang="en-US" dirty="0"/>
              <a:t>외부에서는 </a:t>
            </a:r>
            <a:r>
              <a:rPr lang="ko-KR" altLang="en-US" dirty="0" err="1"/>
              <a:t>스마트폰을</a:t>
            </a:r>
            <a:r>
              <a:rPr lang="ko-KR" altLang="en-US" dirty="0"/>
              <a:t> 활용할 계획</a:t>
            </a:r>
            <a:endParaRPr lang="en-US" altLang="ko-KR" dirty="0"/>
          </a:p>
          <a:p>
            <a:pPr lvl="2"/>
            <a:r>
              <a:rPr lang="ko-KR" altLang="en-US" dirty="0"/>
              <a:t>허브 </a:t>
            </a:r>
            <a:r>
              <a:rPr lang="en-US" altLang="ko-KR" dirty="0"/>
              <a:t>: </a:t>
            </a:r>
            <a:r>
              <a:rPr lang="ko-KR" altLang="en-US" dirty="0"/>
              <a:t>항상 전원과 네트워킹이 연결되어 있어야 하며</a:t>
            </a:r>
            <a:r>
              <a:rPr lang="en-US" altLang="ko-KR" dirty="0"/>
              <a:t> </a:t>
            </a:r>
            <a:r>
              <a:rPr lang="ko-KR" altLang="en-US" dirty="0"/>
              <a:t>모니터링 기능도 확보 필요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업계 동향 </a:t>
            </a:r>
          </a:p>
        </p:txBody>
      </p:sp>
      <p:grpSp>
        <p:nvGrpSpPr>
          <p:cNvPr id="4" name="그룹 16"/>
          <p:cNvGrpSpPr>
            <a:grpSpLocks/>
          </p:cNvGrpSpPr>
          <p:nvPr/>
        </p:nvGrpSpPr>
        <p:grpSpPr bwMode="auto">
          <a:xfrm>
            <a:off x="3562548" y="1196752"/>
            <a:ext cx="5041900" cy="498475"/>
            <a:chOff x="3743320" y="3462848"/>
            <a:chExt cx="5041932" cy="500121"/>
          </a:xfrm>
        </p:grpSpPr>
        <p:sp>
          <p:nvSpPr>
            <p:cNvPr id="5" name="직사각형 16"/>
            <p:cNvSpPr>
              <a:spLocks noChangeArrowheads="1"/>
            </p:cNvSpPr>
            <p:nvPr/>
          </p:nvSpPr>
          <p:spPr bwMode="auto">
            <a:xfrm>
              <a:off x="3743320" y="3654425"/>
              <a:ext cx="5041932" cy="308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>
                <a:spcBef>
                  <a:spcPts val="600"/>
                </a:spcBef>
              </a:pPr>
              <a:r>
                <a:rPr lang="ko-KR" altLang="en-US" sz="1400">
                  <a:latin typeface="휴먼엑스포" pitchFamily="18" charset="-127"/>
                  <a:ea typeface="휴먼엑스포" pitchFamily="18" charset="-127"/>
                </a:rPr>
                <a:t>삼성전자 </a:t>
              </a:r>
              <a:r>
                <a:rPr lang="ko-KR" altLang="en-US" sz="140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전사차원 </a:t>
              </a:r>
              <a:r>
                <a:rPr lang="en-US" altLang="ko-KR" sz="140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IoT </a:t>
              </a:r>
              <a:r>
                <a:rPr lang="ko-KR" altLang="en-US" sz="1400">
                  <a:solidFill>
                    <a:srgbClr val="C00000"/>
                  </a:solidFill>
                  <a:latin typeface="휴먼엑스포" pitchFamily="18" charset="-127"/>
                  <a:ea typeface="휴먼엑스포" pitchFamily="18" charset="-127"/>
                </a:rPr>
                <a:t>미래성장동력</a:t>
              </a:r>
              <a:r>
                <a:rPr lang="ko-KR" altLang="en-US" sz="1400">
                  <a:latin typeface="휴먼엑스포" pitchFamily="18" charset="-127"/>
                  <a:ea typeface="휴먼엑스포" pitchFamily="18" charset="-127"/>
                </a:rPr>
                <a:t> 추진</a:t>
              </a:r>
            </a:p>
          </p:txBody>
        </p:sp>
        <p:pic>
          <p:nvPicPr>
            <p:cNvPr id="6" name="Picture 6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9F9ED"/>
                </a:clrFrom>
                <a:clrTo>
                  <a:srgbClr val="F9F9ED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035419" y="3462848"/>
              <a:ext cx="447675" cy="419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7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9F9ED"/>
                </a:clrFrom>
                <a:clrTo>
                  <a:srgbClr val="F9F9ED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8026453" y="3462848"/>
              <a:ext cx="438150" cy="4286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8" name="그룹 29"/>
          <p:cNvGrpSpPr>
            <a:grpSpLocks/>
          </p:cNvGrpSpPr>
          <p:nvPr/>
        </p:nvGrpSpPr>
        <p:grpSpPr bwMode="auto">
          <a:xfrm>
            <a:off x="3532386" y="1828577"/>
            <a:ext cx="5072062" cy="1511300"/>
            <a:chOff x="3821142" y="1714488"/>
            <a:chExt cx="5072033" cy="1511300"/>
          </a:xfrm>
        </p:grpSpPr>
        <p:sp>
          <p:nvSpPr>
            <p:cNvPr id="9" name="모서리가 둥근 사각형 설명선 8"/>
            <p:cNvSpPr/>
            <p:nvPr/>
          </p:nvSpPr>
          <p:spPr>
            <a:xfrm>
              <a:off x="5500707" y="1714488"/>
              <a:ext cx="3392468" cy="928688"/>
            </a:xfrm>
            <a:prstGeom prst="wedgeRoundRectCallout">
              <a:avLst>
                <a:gd name="adj1" fmla="val -64107"/>
                <a:gd name="adj2" fmla="val -209"/>
                <a:gd name="adj3" fmla="val 1666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>
                <a:spcBef>
                  <a:spcPts val="600"/>
                </a:spcBef>
                <a:defRPr/>
              </a:pPr>
              <a:r>
                <a:rPr lang="en-US" altLang="ko-KR" sz="1000" dirty="0" err="1">
                  <a:latin typeface="+mn-ea"/>
                </a:rPr>
                <a:t>IoT</a:t>
              </a:r>
              <a:r>
                <a:rPr lang="ko-KR" altLang="en-US" sz="1000" dirty="0">
                  <a:latin typeface="+mn-ea"/>
                </a:rPr>
                <a:t>의 무한한 가능성을 열다</a:t>
              </a:r>
              <a:br>
                <a:rPr lang="en-US" altLang="ko-KR" sz="1000" dirty="0">
                  <a:latin typeface="+mn-ea"/>
                </a:rPr>
              </a:br>
              <a:r>
                <a:rPr lang="en-US" altLang="ko-KR" sz="1000" dirty="0">
                  <a:latin typeface="+mn-ea"/>
                </a:rPr>
                <a:t>(Unlocking Infinite Possibilities of </a:t>
              </a:r>
              <a:r>
                <a:rPr lang="en-US" altLang="ko-KR" sz="1000" dirty="0" err="1">
                  <a:latin typeface="+mn-ea"/>
                </a:rPr>
                <a:t>IoT</a:t>
              </a:r>
              <a:r>
                <a:rPr lang="en-US" altLang="ko-KR" sz="1000" dirty="0">
                  <a:latin typeface="+mn-ea"/>
                </a:rPr>
                <a:t>).</a:t>
              </a:r>
            </a:p>
            <a:p>
              <a:pPr algn="r">
                <a:spcBef>
                  <a:spcPts val="600"/>
                </a:spcBef>
                <a:defRPr/>
              </a:pPr>
              <a:r>
                <a:rPr lang="en-US" altLang="ko-KR" sz="1000" dirty="0">
                  <a:latin typeface="+mn-ea"/>
                </a:rPr>
                <a:t>[2015 CES </a:t>
              </a:r>
              <a:r>
                <a:rPr lang="ko-KR" altLang="en-US" sz="1000" dirty="0">
                  <a:latin typeface="+mn-ea"/>
                </a:rPr>
                <a:t>기조연설</a:t>
              </a:r>
              <a:r>
                <a:rPr lang="en-US" altLang="ko-KR" sz="1000" dirty="0">
                  <a:latin typeface="+mn-ea"/>
                </a:rPr>
                <a:t>]</a:t>
              </a:r>
            </a:p>
          </p:txBody>
        </p:sp>
        <p:sp>
          <p:nvSpPr>
            <p:cNvPr id="10" name="모서리가 둥근 직사각형 9"/>
            <p:cNvSpPr/>
            <p:nvPr/>
          </p:nvSpPr>
          <p:spPr bwMode="auto">
            <a:xfrm>
              <a:off x="3821142" y="2844788"/>
              <a:ext cx="1584316" cy="381000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sz="1000" b="1" dirty="0">
                  <a:latin typeface="+mn-ea"/>
                </a:rPr>
                <a:t>삼성전자 </a:t>
              </a:r>
              <a:r>
                <a:rPr lang="en-US" altLang="ko-KR" sz="1000" b="1" dirty="0">
                  <a:latin typeface="+mn-ea"/>
                </a:rPr>
                <a:t>CE</a:t>
              </a:r>
              <a:r>
                <a:rPr lang="ko-KR" altLang="en-US" sz="1000" b="1" dirty="0" err="1">
                  <a:latin typeface="+mn-ea"/>
                </a:rPr>
                <a:t>부문장</a:t>
              </a:r>
              <a:r>
                <a:rPr lang="ko-KR" altLang="en-US" sz="1000" b="1" dirty="0">
                  <a:latin typeface="+mn-ea"/>
                </a:rPr>
                <a:t> </a:t>
              </a:r>
              <a:r>
                <a:rPr lang="ko-KR" altLang="en-US" sz="1000" b="1" dirty="0" err="1">
                  <a:latin typeface="+mn-ea"/>
                </a:rPr>
                <a:t>윤부근</a:t>
              </a:r>
              <a:r>
                <a:rPr lang="ko-KR" altLang="en-US" sz="1000" b="1" dirty="0">
                  <a:latin typeface="+mn-ea"/>
                </a:rPr>
                <a:t> 사장</a:t>
              </a:r>
              <a:endParaRPr lang="en-US" altLang="ko-KR" sz="10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11" name="Picture 9" descr="C:\Documents and Settings\eduenter_99\바탕 화면\실루엣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83" t="28346" r="50851" b="36850"/>
          <a:stretch>
            <a:fillRect/>
          </a:stretch>
        </p:blipFill>
        <p:spPr bwMode="auto">
          <a:xfrm>
            <a:off x="4068961" y="1900015"/>
            <a:ext cx="452437" cy="1074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612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://kocoafab.cc/data/14120402135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149" y="589789"/>
            <a:ext cx="3994497" cy="2856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Intel </a:t>
            </a:r>
          </a:p>
          <a:p>
            <a:pPr lvl="1"/>
            <a:r>
              <a:rPr lang="en-US" altLang="ko-KR" dirty="0"/>
              <a:t>Edison board</a:t>
            </a:r>
          </a:p>
          <a:p>
            <a:pPr lvl="1"/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시장을 위한 초소형 보드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1026" name="Picture 2" descr="http://kocoafab.cc/data/14120402033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09" y="2996952"/>
            <a:ext cx="3552395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kocoafab.cc/data/14120402140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5832649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582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Key Features</a:t>
            </a:r>
          </a:p>
          <a:p>
            <a:pPr lvl="1"/>
            <a:r>
              <a:rPr lang="en-US" altLang="ko-KR" dirty="0"/>
              <a:t>22nm </a:t>
            </a:r>
            <a:r>
              <a:rPr lang="ko-KR" altLang="en-US" dirty="0"/>
              <a:t>인텔 </a:t>
            </a:r>
            <a:r>
              <a:rPr lang="en-US" altLang="ko-KR" dirty="0"/>
              <a:t>® Atom ™ </a:t>
            </a:r>
            <a:r>
              <a:rPr lang="en-US" altLang="ko-KR" dirty="0" err="1"/>
              <a:t>SoC</a:t>
            </a:r>
            <a:r>
              <a:rPr lang="en-US" altLang="ko-KR" dirty="0"/>
              <a:t> (</a:t>
            </a:r>
            <a:r>
              <a:rPr lang="ko-KR" altLang="en-US" dirty="0"/>
              <a:t>기존 </a:t>
            </a:r>
            <a:r>
              <a:rPr lang="en-US" altLang="ko-KR" dirty="0" err="1"/>
              <a:t>Silvermont</a:t>
            </a:r>
            <a:r>
              <a:rPr lang="en-US" altLang="ko-KR" dirty="0"/>
              <a:t> 1 )</a:t>
            </a:r>
            <a:r>
              <a:rPr lang="ko-KR" altLang="en-US" dirty="0"/>
              <a:t>이 사용</a:t>
            </a:r>
            <a:endParaRPr lang="en-US" altLang="ko-KR" dirty="0"/>
          </a:p>
          <a:p>
            <a:pPr lvl="1"/>
            <a:r>
              <a:rPr lang="en-US" altLang="ko-KR" dirty="0"/>
              <a:t>Dual core dual thread 500 MHz</a:t>
            </a:r>
            <a:r>
              <a:rPr lang="ko-KR" altLang="en-US" dirty="0"/>
              <a:t> </a:t>
            </a:r>
            <a:r>
              <a:rPr lang="en-US" altLang="ko-KR" dirty="0"/>
              <a:t>CPU, 100 MHz / 32bit Intel Quark ™ MCU</a:t>
            </a:r>
            <a:r>
              <a:rPr lang="ko-KR" altLang="en-US" dirty="0"/>
              <a:t> 탑재</a:t>
            </a:r>
            <a:endParaRPr lang="en-US" altLang="ko-KR" dirty="0"/>
          </a:p>
          <a:p>
            <a:pPr lvl="1"/>
            <a:r>
              <a:rPr lang="en-US" altLang="ko-KR" dirty="0"/>
              <a:t>40 </a:t>
            </a:r>
            <a:r>
              <a:rPr lang="ko-KR" altLang="en-US" dirty="0"/>
              <a:t>개 </a:t>
            </a:r>
            <a:r>
              <a:rPr lang="en-US" altLang="ko-KR" dirty="0"/>
              <a:t>GPIO</a:t>
            </a:r>
            <a:r>
              <a:rPr lang="ko-KR" altLang="en-US" dirty="0"/>
              <a:t> 지원</a:t>
            </a:r>
            <a:endParaRPr lang="en-US" altLang="ko-KR" dirty="0"/>
          </a:p>
          <a:p>
            <a:pPr lvl="1"/>
            <a:r>
              <a:rPr lang="en-US" altLang="ko-KR" dirty="0"/>
              <a:t>Dual band </a:t>
            </a:r>
            <a:r>
              <a:rPr lang="en-US" altLang="ko-KR" dirty="0" err="1"/>
              <a:t>WiFi</a:t>
            </a:r>
            <a:r>
              <a:rPr lang="en-US" altLang="ko-KR" dirty="0"/>
              <a:t>, Bluetooth Low Energy(BLE) </a:t>
            </a:r>
            <a:r>
              <a:rPr lang="ko-KR" altLang="en-US" dirty="0"/>
              <a:t>우표 크기 모듈에 모두 탑재</a:t>
            </a:r>
            <a:endParaRPr lang="en-US" altLang="ko-KR" dirty="0"/>
          </a:p>
          <a:p>
            <a:pPr lvl="1"/>
            <a:r>
              <a:rPr lang="ko-KR" altLang="en-US" dirty="0"/>
              <a:t>인텔 </a:t>
            </a:r>
            <a:r>
              <a:rPr lang="en-US" altLang="ko-KR" dirty="0"/>
              <a:t>® Edison </a:t>
            </a:r>
            <a:r>
              <a:rPr lang="ko-KR" altLang="en-US" dirty="0"/>
              <a:t>모듈은 </a:t>
            </a:r>
            <a:r>
              <a:rPr lang="en-US" altLang="ko-KR" dirty="0"/>
              <a:t>Arduino *,</a:t>
            </a:r>
            <a:r>
              <a:rPr lang="ko-KR" altLang="en-US" dirty="0"/>
              <a:t> </a:t>
            </a:r>
            <a:r>
              <a:rPr lang="en-US" altLang="ko-KR" dirty="0"/>
              <a:t>C / C ++ </a:t>
            </a:r>
            <a:r>
              <a:rPr lang="ko-KR" altLang="en-US" dirty="0"/>
              <a:t>개발을 지원</a:t>
            </a:r>
            <a:endParaRPr lang="en-US" altLang="ko-KR" dirty="0"/>
          </a:p>
          <a:p>
            <a:pPr lvl="1"/>
            <a:r>
              <a:rPr lang="ko-KR" altLang="en-US" dirty="0"/>
              <a:t>곧 </a:t>
            </a:r>
            <a:r>
              <a:rPr lang="en-US" altLang="ko-KR" dirty="0"/>
              <a:t>Node.JS, Python, RTOS, Visual Programming</a:t>
            </a:r>
            <a:r>
              <a:rPr lang="ko-KR" altLang="en-US" dirty="0"/>
              <a:t> 지원 예정</a:t>
            </a:r>
            <a:endParaRPr lang="en-US" altLang="ko-KR" dirty="0"/>
          </a:p>
          <a:p>
            <a:pPr lvl="1"/>
            <a:r>
              <a:rPr lang="ko-KR" altLang="en-US" dirty="0"/>
              <a:t>인텔 </a:t>
            </a:r>
            <a:r>
              <a:rPr lang="en-US" altLang="ko-KR" dirty="0"/>
              <a:t>® Edison </a:t>
            </a:r>
            <a:r>
              <a:rPr lang="ko-KR" altLang="en-US" dirty="0"/>
              <a:t>모듈은 장치 간 연결 및 장치와 </a:t>
            </a:r>
            <a:r>
              <a:rPr lang="ko-KR" altLang="en-US" dirty="0" err="1"/>
              <a:t>클라우드</a:t>
            </a:r>
            <a:r>
              <a:rPr lang="ko-KR" altLang="en-US" dirty="0"/>
              <a:t> 사이의 연결 프레임 워크 포함</a:t>
            </a:r>
            <a:endParaRPr lang="en-US" altLang="ko-KR" dirty="0"/>
          </a:p>
          <a:p>
            <a:pPr lvl="1"/>
            <a:r>
              <a:rPr lang="ko-KR" altLang="en-US" dirty="0"/>
              <a:t>장치 간의 통신 및 </a:t>
            </a:r>
            <a:r>
              <a:rPr lang="ko-KR" altLang="en-US" dirty="0" err="1"/>
              <a:t>클라우드</a:t>
            </a:r>
            <a:r>
              <a:rPr lang="ko-KR" altLang="en-US" dirty="0"/>
              <a:t> 기반 멀티 </a:t>
            </a:r>
            <a:r>
              <a:rPr lang="ko-KR" altLang="en-US" dirty="0" err="1"/>
              <a:t>테넌트</a:t>
            </a:r>
            <a:r>
              <a:rPr lang="ko-KR" altLang="en-US" dirty="0"/>
              <a:t> 분석 서비스 가능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</p:spTree>
    <p:extLst>
      <p:ext uri="{BB962C8B-B14F-4D97-AF65-F5344CB8AC3E}">
        <p14:creationId xmlns:p14="http://schemas.microsoft.com/office/powerpoint/2010/main" val="2637058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Freescale</a:t>
            </a:r>
          </a:p>
          <a:p>
            <a:pPr lvl="1"/>
            <a:r>
              <a:rPr lang="en-US" altLang="ko-KR" dirty="0" err="1"/>
              <a:t>IoT</a:t>
            </a:r>
            <a:r>
              <a:rPr lang="en-US" altLang="ko-KR" dirty="0"/>
              <a:t> Gateway</a:t>
            </a:r>
          </a:p>
          <a:p>
            <a:pPr lvl="1"/>
            <a:r>
              <a:rPr lang="en-US" altLang="ko-KR" dirty="0">
                <a:hlinkClick r:id="rId2"/>
              </a:rPr>
              <a:t>Demonstration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3074" name="Picture 2" descr="QorIQ LS1021A-IoT Gateway System Block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" y="3438178"/>
            <a:ext cx="5387752" cy="3232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477008"/>
            <a:ext cx="3846286" cy="196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453855"/>
            <a:ext cx="3566567" cy="148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1104844"/>
            <a:ext cx="5688632" cy="2333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6369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BeagleBone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2050" name="Picture 2" descr="http://beagleboard.org/static/images/product_beaglebon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37" y="1988840"/>
            <a:ext cx="1799453" cy="194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beagleboard.org/static/images/BBG_Photo_overview_sm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3756" y="1916832"/>
            <a:ext cx="1622417" cy="206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beagleboard.org/static/images/product_beagleboard_xm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83" y="4005064"/>
            <a:ext cx="2076221" cy="207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beagleboard.org/static/images/product_beagleboard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594" y="4005064"/>
            <a:ext cx="2076221" cy="207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8952" y="3933056"/>
            <a:ext cx="400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BeagleBone</a:t>
            </a:r>
            <a:r>
              <a:rPr lang="en-US" altLang="ko-KR" dirty="0"/>
              <a:t>      </a:t>
            </a:r>
            <a:r>
              <a:rPr lang="en-US" altLang="ko-KR" dirty="0" err="1"/>
              <a:t>BeagleBone</a:t>
            </a:r>
            <a:r>
              <a:rPr lang="en-US" altLang="ko-KR" dirty="0"/>
              <a:t> Green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59159" y="5949280"/>
            <a:ext cx="369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BeagleBoard-xM</a:t>
            </a:r>
            <a:r>
              <a:rPr lang="en-US" altLang="ko-KR" dirty="0"/>
              <a:t>    </a:t>
            </a:r>
            <a:r>
              <a:rPr lang="en-US" altLang="ko-KR" dirty="0" err="1"/>
              <a:t>BeagleBoard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27984" y="1916832"/>
            <a:ext cx="4822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BeagleBoard-xM</a:t>
            </a:r>
            <a:endParaRPr lang="en-US" altLang="ko-KR" dirty="0"/>
          </a:p>
          <a:p>
            <a:r>
              <a:rPr lang="en-US" altLang="ko-KR" dirty="0">
                <a:hlinkClick r:id="rId6"/>
              </a:rPr>
              <a:t>AM37x 1GHz ARM Cortex-A8 compatible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27984" y="2780928"/>
            <a:ext cx="42867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BeagleBoard</a:t>
            </a:r>
            <a:endParaRPr lang="en-US" altLang="ko-KR" dirty="0"/>
          </a:p>
          <a:p>
            <a:r>
              <a:rPr lang="en-US" altLang="ko-KR" dirty="0">
                <a:hlinkClick r:id="rId7"/>
              </a:rPr>
              <a:t>OMAP3530 720MHz ARM Cortex-A8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427985" y="3474874"/>
            <a:ext cx="46085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BeagleBone</a:t>
            </a:r>
            <a:r>
              <a:rPr lang="en-US" altLang="ko-KR" dirty="0"/>
              <a:t> is an $89 MSRP, </a:t>
            </a:r>
          </a:p>
          <a:p>
            <a:r>
              <a:rPr lang="en-US" altLang="ko-KR" dirty="0">
                <a:hlinkClick r:id="rId8"/>
              </a:rPr>
              <a:t>AM335x 720MHz ARM Cortex-A8</a:t>
            </a:r>
            <a:endParaRPr lang="en-US" altLang="ko-KR" dirty="0"/>
          </a:p>
          <a:p>
            <a:r>
              <a:rPr lang="en-US" altLang="ko-KR" dirty="0"/>
              <a:t>credit-card-sized Linux computer that </a:t>
            </a:r>
          </a:p>
          <a:p>
            <a:r>
              <a:rPr lang="en-US" altLang="ko-KR" dirty="0"/>
              <a:t>connects to the Internet and runs software such as Android 4.0 and Ubuntu</a:t>
            </a:r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427984" y="5241974"/>
            <a:ext cx="4608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BeagleBone</a:t>
            </a:r>
            <a:r>
              <a:rPr lang="en-US" altLang="ko-KR" dirty="0"/>
              <a:t> Green</a:t>
            </a:r>
          </a:p>
          <a:p>
            <a:r>
              <a:rPr lang="en-US" altLang="ko-KR" dirty="0">
                <a:hlinkClick r:id="rId8"/>
              </a:rPr>
              <a:t>AM335x 1GHz ARM® Cortex-A8</a:t>
            </a:r>
            <a:endParaRPr lang="en-US" altLang="ko-KR" dirty="0"/>
          </a:p>
          <a:p>
            <a:r>
              <a:rPr lang="en-US" altLang="ko-KR" dirty="0"/>
              <a:t>based on the open-source hardware design of </a:t>
            </a:r>
            <a:r>
              <a:rPr lang="en-US" altLang="ko-KR" dirty="0" err="1">
                <a:hlinkClick r:id="rId9"/>
              </a:rPr>
              <a:t>BeagleBone</a:t>
            </a:r>
            <a:r>
              <a:rPr lang="en-US" altLang="ko-KR" dirty="0">
                <a:hlinkClick r:id="rId9"/>
              </a:rPr>
              <a:t> (Black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756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8219256" cy="4525963"/>
          </a:xfrm>
        </p:spPr>
        <p:txBody>
          <a:bodyPr>
            <a:normAutofit/>
          </a:bodyPr>
          <a:lstStyle/>
          <a:p>
            <a:r>
              <a:rPr lang="en-US" altLang="ko-KR" dirty="0"/>
              <a:t>ARM</a:t>
            </a:r>
          </a:p>
          <a:p>
            <a:pPr lvl="1"/>
            <a:r>
              <a:rPr lang="en-US" altLang="ko-KR" dirty="0" err="1"/>
              <a:t>Sensinode</a:t>
            </a:r>
            <a:r>
              <a:rPr lang="en-US" altLang="ko-KR" dirty="0"/>
              <a:t> </a:t>
            </a:r>
            <a:r>
              <a:rPr lang="ko-KR" altLang="en-US" dirty="0"/>
              <a:t>인수를 통하여 </a:t>
            </a:r>
            <a:r>
              <a:rPr lang="en-US" altLang="ko-KR" dirty="0"/>
              <a:t>All IP </a:t>
            </a:r>
            <a:r>
              <a:rPr lang="ko-KR" altLang="en-US" dirty="0"/>
              <a:t>기반 개방형 솔루션 확보</a:t>
            </a:r>
            <a:endParaRPr lang="en-US" altLang="ko-KR" dirty="0"/>
          </a:p>
          <a:p>
            <a:pPr lvl="1"/>
            <a:r>
              <a:rPr lang="en-US" altLang="ko-KR" dirty="0"/>
              <a:t>ARM </a:t>
            </a:r>
            <a:r>
              <a:rPr lang="en-US" altLang="ko-KR" dirty="0" err="1"/>
              <a:t>mbed</a:t>
            </a:r>
            <a:r>
              <a:rPr lang="en-US" altLang="ko-KR" dirty="0"/>
              <a:t>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디바이스 플랫폼 </a:t>
            </a:r>
            <a:r>
              <a:rPr lang="en-US" altLang="ko-KR" dirty="0"/>
              <a:t>+ </a:t>
            </a:r>
            <a:r>
              <a:rPr lang="en-US" altLang="ko-KR" dirty="0" err="1"/>
              <a:t>mbed</a:t>
            </a:r>
            <a:r>
              <a:rPr lang="en-US" altLang="ko-KR" dirty="0"/>
              <a:t> OS (</a:t>
            </a:r>
            <a:r>
              <a:rPr lang="ko-KR" altLang="en-US" dirty="0"/>
              <a:t>무료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Sensinode</a:t>
            </a:r>
            <a:endParaRPr lang="en-US" altLang="ko-KR" dirty="0"/>
          </a:p>
          <a:p>
            <a:pPr lvl="1"/>
            <a:r>
              <a:rPr lang="en-US" altLang="ko-KR" dirty="0"/>
              <a:t>6LoWPAN(IPv6 over Low power Wireless Personal Area Network) </a:t>
            </a:r>
          </a:p>
          <a:p>
            <a:pPr lvl="1"/>
            <a:r>
              <a:rPr lang="en-US" altLang="ko-KR" dirty="0" err="1"/>
              <a:t>CoAP</a:t>
            </a:r>
            <a:r>
              <a:rPr lang="en-US" altLang="ko-KR" dirty="0"/>
              <a:t>(Constrained Application Protocol) </a:t>
            </a:r>
            <a:r>
              <a:rPr lang="ko-KR" altLang="en-US" dirty="0"/>
              <a:t>기준 정립</a:t>
            </a:r>
            <a:r>
              <a:rPr lang="en-US" altLang="ko-KR" dirty="0"/>
              <a:t>, </a:t>
            </a:r>
          </a:p>
          <a:p>
            <a:pPr lvl="1"/>
            <a:r>
              <a:rPr lang="en-US" altLang="ko-KR" dirty="0"/>
              <a:t>IETF </a:t>
            </a:r>
            <a:r>
              <a:rPr lang="ko-KR" altLang="en-US" dirty="0"/>
              <a:t>표준화 활동</a:t>
            </a:r>
            <a:r>
              <a:rPr lang="en-US" altLang="ko-KR" dirty="0"/>
              <a:t>, ZigBee IP </a:t>
            </a:r>
            <a:r>
              <a:rPr lang="ko-KR" altLang="en-US" dirty="0"/>
              <a:t>표준화 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</p:spTree>
    <p:extLst>
      <p:ext uri="{BB962C8B-B14F-4D97-AF65-F5344CB8AC3E}">
        <p14:creationId xmlns:p14="http://schemas.microsoft.com/office/powerpoint/2010/main" val="2411405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4186808" cy="4525963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PHY/MAC </a:t>
            </a:r>
          </a:p>
          <a:p>
            <a:pPr lvl="1"/>
            <a:r>
              <a:rPr lang="en-US" altLang="ko-KR" dirty="0"/>
              <a:t>IEEE 802.15.4 </a:t>
            </a:r>
          </a:p>
          <a:p>
            <a:pPr lvl="1"/>
            <a:r>
              <a:rPr lang="ko-KR" altLang="en-US" dirty="0"/>
              <a:t>저속도 무선 개인 통신망</a:t>
            </a:r>
            <a:r>
              <a:rPr lang="en-US" altLang="ko-KR" dirty="0"/>
              <a:t>(Low Rate Wireless Personal Area Network) </a:t>
            </a:r>
            <a:r>
              <a:rPr lang="ko-KR" altLang="en-US" dirty="0"/>
              <a:t> 규격</a:t>
            </a:r>
            <a:r>
              <a:rPr lang="en-US" altLang="ko-KR" dirty="0"/>
              <a:t>, </a:t>
            </a:r>
            <a:r>
              <a:rPr lang="ko-KR" altLang="en-US" dirty="0"/>
              <a:t>저렴한 제조 단가</a:t>
            </a:r>
            <a:endParaRPr lang="en-US" altLang="ko-KR" dirty="0"/>
          </a:p>
          <a:p>
            <a:r>
              <a:rPr lang="en-US" altLang="ko-KR" dirty="0"/>
              <a:t>Adaptation </a:t>
            </a:r>
            <a:r>
              <a:rPr lang="ko-KR" altLang="en-US" dirty="0"/>
              <a:t>계층</a:t>
            </a:r>
            <a:endParaRPr lang="en-US" altLang="ko-KR" dirty="0"/>
          </a:p>
          <a:p>
            <a:pPr lvl="1"/>
            <a:r>
              <a:rPr lang="en-US" altLang="ko-KR" dirty="0"/>
              <a:t>6LoWPAN</a:t>
            </a:r>
          </a:p>
          <a:p>
            <a:pPr lvl="1"/>
            <a:r>
              <a:rPr lang="en-US" altLang="ko-KR" dirty="0"/>
              <a:t>IEEE 802.15.4</a:t>
            </a:r>
            <a:r>
              <a:rPr lang="ko-KR" altLang="en-US" dirty="0"/>
              <a:t>기반의 센서 네트워크에 </a:t>
            </a:r>
            <a:r>
              <a:rPr lang="en-US" altLang="ko-KR" dirty="0"/>
              <a:t>IPv6</a:t>
            </a:r>
            <a:r>
              <a:rPr lang="ko-KR" altLang="en-US" dirty="0"/>
              <a:t>를 지원하기 위한 규격</a:t>
            </a:r>
            <a:endParaRPr lang="en-US" altLang="ko-KR" dirty="0"/>
          </a:p>
          <a:p>
            <a:pPr lvl="1"/>
            <a:r>
              <a:rPr lang="ko-KR" altLang="en-US" dirty="0"/>
              <a:t>최소한의 기능만을 가진 </a:t>
            </a:r>
            <a:r>
              <a:rPr lang="en-US" altLang="ko-KR" dirty="0"/>
              <a:t>TCP/IP </a:t>
            </a:r>
            <a:r>
              <a:rPr lang="ko-KR" altLang="en-US" dirty="0"/>
              <a:t>프로토콜 </a:t>
            </a:r>
            <a:r>
              <a:rPr lang="ko-KR" altLang="en-US" dirty="0" err="1"/>
              <a:t>스택으로</a:t>
            </a:r>
            <a:r>
              <a:rPr lang="ko-KR" altLang="en-US" dirty="0"/>
              <a:t> 센서 네트워크 동작 목표</a:t>
            </a:r>
            <a:endParaRPr lang="en-US" altLang="ko-KR" dirty="0"/>
          </a:p>
          <a:p>
            <a:r>
              <a:rPr lang="en-US" altLang="ko-KR" dirty="0"/>
              <a:t>Application </a:t>
            </a:r>
            <a:r>
              <a:rPr lang="ko-KR" altLang="en-US" dirty="0"/>
              <a:t>계층</a:t>
            </a:r>
            <a:endParaRPr lang="en-US" altLang="ko-KR" dirty="0"/>
          </a:p>
          <a:p>
            <a:pPr lvl="1"/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환경에서 웹 기반 프로토콜 규격</a:t>
            </a:r>
            <a:r>
              <a:rPr lang="en-US" altLang="ko-KR" dirty="0"/>
              <a:t>, </a:t>
            </a:r>
            <a:r>
              <a:rPr lang="ko-KR" altLang="en-US" dirty="0"/>
              <a:t>기존 </a:t>
            </a:r>
            <a:r>
              <a:rPr lang="en-US" altLang="ko-KR" dirty="0"/>
              <a:t>HTTP</a:t>
            </a:r>
            <a:r>
              <a:rPr lang="ko-KR" altLang="en-US" dirty="0"/>
              <a:t>와 연동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4" name="Picture 2" descr="http://weekly.tta.or.kr/newsletter/article/img/2010-09-03/1-(1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772816"/>
            <a:ext cx="4332637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644008" y="1772816"/>
            <a:ext cx="4032448" cy="11521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228184" y="1412776"/>
            <a:ext cx="8370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solidFill>
                  <a:srgbClr val="FF0000"/>
                </a:solidFill>
              </a:rPr>
              <a:t>CoAP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44008" y="3501008"/>
            <a:ext cx="4032448" cy="28803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731654" y="4757082"/>
            <a:ext cx="4016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6LoWPAN : Adaptation b/w IPv6 and IEEE 802.15.4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83568" y="5911779"/>
            <a:ext cx="8460432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CoRE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r>
              <a:rPr kumimoji="1" lang="ko-KR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워킹그룹에서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제정하려는 </a:t>
            </a:r>
            <a:r>
              <a:rPr kumimoji="1" lang="en-US" altLang="ko-KR" sz="1100" b="0" i="0" u="none" strike="noStrike" cap="none" normalizeH="0" baseline="0" dirty="0" err="1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CoAP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의 표준화 영역은 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TCP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와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 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UDP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를 포함하는 트랜스포트 계층을 포함한 상위 애플리케이션 계층에서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 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M2M </a:t>
            </a:r>
            <a:r>
              <a:rPr kumimoji="1" lang="ko-KR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노드들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사이에서 어떻게 리소스 이벤트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(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예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: 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온도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, 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습도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)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에 대한 요청을 하고 이벤트가 생겼을 경우 어떻게 비동기적으로 리소스 이벤트를 </a:t>
            </a:r>
            <a:r>
              <a:rPr kumimoji="1" lang="ko-KR" altLang="en-US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노드에게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전송할 지에 대한 방법을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 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REST(Representational State Transfer) 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기반의 접근방식으로 프로토콜을 설계하는 부분이다</a:t>
            </a:r>
            <a:r>
              <a:rPr kumimoji="1" lang="en-US" altLang="ko-KR" sz="11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굴림" pitchFamily="50" charset="-127"/>
                <a:ea typeface="Nanum"/>
                <a:cs typeface="굴림" pitchFamily="50" charset="-127"/>
              </a:rPr>
              <a:t>. </a:t>
            </a:r>
            <a:endParaRPr kumimoji="1" lang="en-US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2032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11482"/>
              </p:ext>
            </p:extLst>
          </p:nvPr>
        </p:nvGraphicFramePr>
        <p:xfrm>
          <a:off x="457200" y="1481138"/>
          <a:ext cx="8229600" cy="430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현황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전망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Open HW</a:t>
                      </a:r>
                      <a:r>
                        <a:rPr lang="en-US" altLang="ko-KR" sz="1600" baseline="0" dirty="0"/>
                        <a:t> Platform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Thing HW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플랫폼 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Arduino,</a:t>
                      </a:r>
                      <a:r>
                        <a:rPr lang="en-US" altLang="ko-KR" sz="1600" baseline="0" dirty="0"/>
                        <a:t> Raspberry Pi, Galileo </a:t>
                      </a:r>
                      <a:r>
                        <a:rPr lang="ko-KR" altLang="en-US" sz="1600" baseline="0" dirty="0"/>
                        <a:t>등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개발 편의성 중심 </a:t>
                      </a:r>
                      <a:r>
                        <a:rPr lang="en-US" altLang="ko-KR" sz="1600" dirty="0"/>
                        <a:t>Open HW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중심</a:t>
                      </a:r>
                      <a:endParaRPr lang="en-US" altLang="ko-KR" sz="1600" baseline="0" dirty="0"/>
                    </a:p>
                    <a:p>
                      <a:pPr latinLnBrk="1"/>
                      <a:r>
                        <a:rPr lang="ko-KR" altLang="en-US" sz="1600" baseline="0" dirty="0"/>
                        <a:t>다양한 창의 </a:t>
                      </a:r>
                      <a:r>
                        <a:rPr lang="en-US" altLang="ko-KR" sz="1600" baseline="0" dirty="0" err="1"/>
                        <a:t>IoT</a:t>
                      </a:r>
                      <a:r>
                        <a:rPr lang="en-US" altLang="ko-KR" sz="1600" baseline="0" dirty="0"/>
                        <a:t> Product</a:t>
                      </a:r>
                      <a:r>
                        <a:rPr lang="ko-KR" altLang="en-US" sz="1600" baseline="0" dirty="0"/>
                        <a:t>에 적용 예상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Device Platform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Device Operating</a:t>
                      </a:r>
                      <a:r>
                        <a:rPr lang="en-US" altLang="ko-KR" sz="1600" baseline="0" dirty="0"/>
                        <a:t> System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Tiny</a:t>
                      </a:r>
                      <a:r>
                        <a:rPr lang="en-US" altLang="ko-KR" sz="1600" baseline="0" dirty="0"/>
                        <a:t> OS, </a:t>
                      </a:r>
                      <a:r>
                        <a:rPr lang="en-US" altLang="ko-KR" sz="1600" baseline="0" dirty="0" err="1"/>
                        <a:t>Rasbian</a:t>
                      </a:r>
                      <a:r>
                        <a:rPr lang="en-US" altLang="ko-KR" sz="1600" baseline="0" dirty="0"/>
                        <a:t>, Embedded Linux, </a:t>
                      </a:r>
                      <a:r>
                        <a:rPr lang="en-US" altLang="ko-KR" sz="1600" baseline="0" dirty="0" err="1"/>
                        <a:t>nanoQplus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등 경량 </a:t>
                      </a:r>
                      <a:r>
                        <a:rPr lang="en-US" altLang="ko-KR" sz="1600" baseline="0" dirty="0"/>
                        <a:t>OS</a:t>
                      </a:r>
                    </a:p>
                    <a:p>
                      <a:pPr latinLnBrk="1"/>
                      <a:r>
                        <a:rPr lang="en-US" altLang="ko-KR" sz="1600" baseline="0" dirty="0"/>
                        <a:t>Wearable Device </a:t>
                      </a:r>
                      <a:r>
                        <a:rPr lang="ko-KR" altLang="en-US" sz="1600" baseline="0" dirty="0"/>
                        <a:t>용 </a:t>
                      </a:r>
                      <a:r>
                        <a:rPr lang="ko-KR" altLang="en-US" sz="1600" baseline="0" dirty="0" err="1"/>
                        <a:t>초경량</a:t>
                      </a:r>
                      <a:r>
                        <a:rPr lang="en-US" altLang="ko-KR" sz="1600" baseline="0" dirty="0"/>
                        <a:t>/</a:t>
                      </a:r>
                      <a:r>
                        <a:rPr lang="ko-KR" altLang="en-US" sz="1600" baseline="0" dirty="0"/>
                        <a:t>저전력 </a:t>
                      </a:r>
                      <a:r>
                        <a:rPr lang="en-US" altLang="ko-KR" sz="1600" baseline="0" dirty="0"/>
                        <a:t>OS </a:t>
                      </a:r>
                      <a:r>
                        <a:rPr lang="ko-KR" altLang="en-US" sz="1600" baseline="0" dirty="0"/>
                        <a:t>등장</a:t>
                      </a:r>
                      <a:endParaRPr lang="en-US" altLang="ko-KR" sz="1600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목적별</a:t>
                      </a:r>
                      <a:r>
                        <a:rPr lang="ko-KR" altLang="en-US" sz="1600" dirty="0"/>
                        <a:t> </a:t>
                      </a:r>
                      <a:r>
                        <a:rPr lang="ko-KR" altLang="en-US" sz="1600" dirty="0" err="1"/>
                        <a:t>초경량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저전력 </a:t>
                      </a:r>
                      <a:r>
                        <a:rPr lang="en-US" altLang="ko-KR" sz="1600" dirty="0"/>
                        <a:t>OS </a:t>
                      </a:r>
                    </a:p>
                    <a:p>
                      <a:pPr latinLnBrk="1"/>
                      <a:r>
                        <a:rPr lang="ko-KR" altLang="en-US" sz="1600" dirty="0"/>
                        <a:t>네트워크 장비의 </a:t>
                      </a:r>
                      <a:r>
                        <a:rPr lang="en-US" altLang="ko-KR" sz="1600" dirty="0" err="1"/>
                        <a:t>IoT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baseline="0" dirty="0"/>
                        <a:t>인프라화 예상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사물 데이터 플랫폼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서비스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사물 데이터 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개방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연계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검색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글로벌 기업 </a:t>
                      </a:r>
                      <a:r>
                        <a:rPr lang="en-US" altLang="ko-KR" sz="1600" dirty="0" err="1"/>
                        <a:t>IoT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데이터분석 플랫폼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 err="1"/>
                        <a:t>시맨틱</a:t>
                      </a:r>
                      <a:r>
                        <a:rPr lang="ko-KR" altLang="en-US" sz="1600" dirty="0"/>
                        <a:t> 기술 </a:t>
                      </a:r>
                      <a:r>
                        <a:rPr lang="en-US" altLang="ko-KR" sz="1600" dirty="0" err="1"/>
                        <a:t>IoT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접목을 통한 데이터 상호운용 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공공 데이터 플랫폼 운용 확대</a:t>
                      </a:r>
                      <a:endParaRPr lang="en-US" altLang="ko-KR" sz="1600" dirty="0"/>
                    </a:p>
                    <a:p>
                      <a:pPr latinLnBrk="1"/>
                      <a:r>
                        <a:rPr lang="ko-KR" altLang="en-US" sz="1600" dirty="0"/>
                        <a:t>사물연동 및 지능형 서비스 요구 증대에 따른 관련 기술 중요도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</p:spTree>
    <p:extLst>
      <p:ext uri="{BB962C8B-B14F-4D97-AF65-F5344CB8AC3E}">
        <p14:creationId xmlns:p14="http://schemas.microsoft.com/office/powerpoint/2010/main" val="2412771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grpSp>
        <p:nvGrpSpPr>
          <p:cNvPr id="5" name="그룹 56"/>
          <p:cNvGrpSpPr>
            <a:grpSpLocks/>
          </p:cNvGrpSpPr>
          <p:nvPr/>
        </p:nvGrpSpPr>
        <p:grpSpPr bwMode="auto">
          <a:xfrm>
            <a:off x="538857" y="2996952"/>
            <a:ext cx="7921575" cy="647337"/>
            <a:chOff x="3779838" y="3777928"/>
            <a:chExt cx="5036032" cy="371475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3779838" y="3777928"/>
              <a:ext cx="431841" cy="37147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spcBef>
                  <a:spcPts val="600"/>
                </a:spcBef>
                <a:defRPr/>
              </a:pPr>
              <a:endParaRPr lang="ko-KR" altLang="en-US" sz="4000" b="1" dirty="0">
                <a:solidFill>
                  <a:schemeClr val="bg1"/>
                </a:solidFill>
                <a:latin typeface="돋움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272010" y="3789041"/>
              <a:ext cx="4543860" cy="360362"/>
            </a:xfrm>
            <a:prstGeom prst="rect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 err="1"/>
                <a:t>IoT</a:t>
              </a:r>
              <a:r>
                <a:rPr lang="en-US" altLang="ko-KR" dirty="0"/>
                <a:t> with Web Technologies</a:t>
              </a:r>
            </a:p>
          </p:txBody>
        </p:sp>
        <p:pic>
          <p:nvPicPr>
            <p:cNvPr id="8" name="Picture 36" descr="C:\Documents and Settings\신현아\바탕 화면\icon\1326275478_check.png"/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7463" y="3803898"/>
              <a:ext cx="340618" cy="340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" name="직사각형 8"/>
          <p:cNvSpPr>
            <a:spLocks noChangeArrowheads="1"/>
          </p:cNvSpPr>
          <p:nvPr/>
        </p:nvSpPr>
        <p:spPr bwMode="auto">
          <a:xfrm>
            <a:off x="1333012" y="3696851"/>
            <a:ext cx="7127420" cy="723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 err="1">
                <a:latin typeface="+mn-ea"/>
                <a:ea typeface="+mn-ea"/>
              </a:rPr>
              <a:t>Javascript</a:t>
            </a:r>
            <a:r>
              <a:rPr lang="en-US" altLang="ko-KR" dirty="0">
                <a:latin typeface="+mn-ea"/>
                <a:ea typeface="+mn-ea"/>
              </a:rPr>
              <a:t> based </a:t>
            </a:r>
            <a:r>
              <a:rPr lang="en-US" altLang="ko-KR" dirty="0" err="1">
                <a:latin typeface="+mn-ea"/>
                <a:ea typeface="+mn-ea"/>
              </a:rPr>
              <a:t>IoT</a:t>
            </a:r>
            <a:r>
              <a:rPr lang="en-US" altLang="ko-KR" dirty="0">
                <a:latin typeface="+mn-ea"/>
                <a:ea typeface="+mn-ea"/>
              </a:rPr>
              <a:t> Device Middleware</a:t>
            </a:r>
          </a:p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>
                <a:latin typeface="+mn-ea"/>
                <a:ea typeface="+mn-ea"/>
              </a:rPr>
              <a:t>Node.js </a:t>
            </a:r>
            <a:r>
              <a:rPr lang="ko-KR" altLang="en-US" dirty="0">
                <a:latin typeface="+mn-ea"/>
                <a:ea typeface="+mn-ea"/>
              </a:rPr>
              <a:t>관심 증대</a:t>
            </a: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10" name="그룹 56"/>
          <p:cNvGrpSpPr>
            <a:grpSpLocks/>
          </p:cNvGrpSpPr>
          <p:nvPr/>
        </p:nvGrpSpPr>
        <p:grpSpPr bwMode="auto">
          <a:xfrm>
            <a:off x="538857" y="4670623"/>
            <a:ext cx="7921575" cy="647337"/>
            <a:chOff x="3779838" y="3777928"/>
            <a:chExt cx="5036032" cy="371475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3779838" y="3777928"/>
              <a:ext cx="431841" cy="37147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spcBef>
                  <a:spcPts val="600"/>
                </a:spcBef>
                <a:defRPr/>
              </a:pPr>
              <a:endParaRPr lang="ko-KR" altLang="en-US" sz="4000" b="1" dirty="0">
                <a:solidFill>
                  <a:schemeClr val="bg1"/>
                </a:solidFill>
                <a:latin typeface="돋움" pitchFamily="50" charset="-127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272010" y="3789040"/>
              <a:ext cx="4543860" cy="360363"/>
            </a:xfrm>
            <a:prstGeom prst="rect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 err="1"/>
                <a:t>IoT</a:t>
              </a:r>
              <a:r>
                <a:rPr lang="en-US" altLang="ko-KR" dirty="0"/>
                <a:t> Cloud Platform</a:t>
              </a:r>
            </a:p>
          </p:txBody>
        </p:sp>
        <p:pic>
          <p:nvPicPr>
            <p:cNvPr id="13" name="Picture 36" descr="C:\Documents and Settings\신현아\바탕 화면\icon\1326275478_check.png"/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7463" y="3803898"/>
              <a:ext cx="340618" cy="340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직사각형 13"/>
          <p:cNvSpPr>
            <a:spLocks noChangeArrowheads="1"/>
          </p:cNvSpPr>
          <p:nvPr/>
        </p:nvSpPr>
        <p:spPr bwMode="auto">
          <a:xfrm>
            <a:off x="1333012" y="5370520"/>
            <a:ext cx="712742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>
                <a:latin typeface="+mn-ea"/>
              </a:rPr>
              <a:t>Shifting from offering goods to offering services</a:t>
            </a:r>
          </a:p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 err="1">
                <a:latin typeface="+mn-ea"/>
                <a:ea typeface="+mn-ea"/>
              </a:rPr>
              <a:t>IoT</a:t>
            </a:r>
            <a:r>
              <a:rPr lang="en-US" altLang="ko-KR" dirty="0">
                <a:latin typeface="+mn-ea"/>
                <a:ea typeface="+mn-ea"/>
              </a:rPr>
              <a:t> Cloud - A Key Enabler of Innovative </a:t>
            </a:r>
            <a:r>
              <a:rPr lang="en-US" altLang="ko-KR" dirty="0" err="1">
                <a:latin typeface="+mn-ea"/>
                <a:ea typeface="+mn-ea"/>
              </a:rPr>
              <a:t>IoT</a:t>
            </a:r>
            <a:r>
              <a:rPr lang="en-US" altLang="ko-KR" dirty="0">
                <a:latin typeface="+mn-ea"/>
                <a:ea typeface="+mn-ea"/>
              </a:rPr>
              <a:t> Services</a:t>
            </a:r>
          </a:p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endParaRPr lang="en-US" altLang="ko-KR" dirty="0">
              <a:latin typeface="+mn-ea"/>
              <a:ea typeface="+mn-ea"/>
            </a:endParaRPr>
          </a:p>
        </p:txBody>
      </p:sp>
      <p:grpSp>
        <p:nvGrpSpPr>
          <p:cNvPr id="15" name="그룹 56"/>
          <p:cNvGrpSpPr>
            <a:grpSpLocks/>
          </p:cNvGrpSpPr>
          <p:nvPr/>
        </p:nvGrpSpPr>
        <p:grpSpPr bwMode="auto">
          <a:xfrm>
            <a:off x="538857" y="1412776"/>
            <a:ext cx="7921575" cy="647337"/>
            <a:chOff x="3779838" y="3777928"/>
            <a:chExt cx="5036032" cy="371475"/>
          </a:xfrm>
        </p:grpSpPr>
        <p:sp>
          <p:nvSpPr>
            <p:cNvPr id="16" name="모서리가 둥근 직사각형 15"/>
            <p:cNvSpPr/>
            <p:nvPr/>
          </p:nvSpPr>
          <p:spPr>
            <a:xfrm>
              <a:off x="3779838" y="3777928"/>
              <a:ext cx="431841" cy="371475"/>
            </a:xfrm>
            <a:prstGeom prst="roundRect">
              <a:avLst/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spcBef>
                  <a:spcPts val="600"/>
                </a:spcBef>
                <a:defRPr/>
              </a:pPr>
              <a:endParaRPr lang="ko-KR" altLang="en-US" sz="4000" b="1" dirty="0">
                <a:solidFill>
                  <a:schemeClr val="bg1"/>
                </a:solidFill>
                <a:latin typeface="돋움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272010" y="3789041"/>
              <a:ext cx="4543860" cy="360362"/>
            </a:xfrm>
            <a:prstGeom prst="rect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>
                <a:defRPr/>
              </a:pPr>
              <a:r>
                <a:rPr lang="en-US" altLang="ko-KR" dirty="0"/>
                <a:t>From B2B to B2C</a:t>
              </a:r>
            </a:p>
          </p:txBody>
        </p:sp>
        <p:pic>
          <p:nvPicPr>
            <p:cNvPr id="18" name="Picture 36" descr="C:\Documents and Settings\신현아\바탕 화면\icon\1326275478_check.png"/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7463" y="3803898"/>
              <a:ext cx="340618" cy="340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직사각형 18"/>
          <p:cNvSpPr>
            <a:spLocks noChangeArrowheads="1"/>
          </p:cNvSpPr>
          <p:nvPr/>
        </p:nvSpPr>
        <p:spPr bwMode="auto">
          <a:xfrm>
            <a:off x="1333012" y="2112675"/>
            <a:ext cx="7127420" cy="723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>
                <a:latin typeface="+mn-ea"/>
                <a:ea typeface="+mn-ea"/>
              </a:rPr>
              <a:t>Increased automation, Reduced process cost</a:t>
            </a:r>
          </a:p>
          <a:p>
            <a:pPr marL="182563" indent="-182563">
              <a:spcBef>
                <a:spcPts val="600"/>
              </a:spcBef>
              <a:buFont typeface="Wingdings" pitchFamily="2" charset="2"/>
              <a:buChar char="§"/>
              <a:defRPr/>
            </a:pPr>
            <a:r>
              <a:rPr lang="en-US" altLang="ko-KR" dirty="0">
                <a:latin typeface="+mn-ea"/>
              </a:rPr>
              <a:t>From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business market to mass market</a:t>
            </a:r>
            <a:endParaRPr lang="en-US" altLang="ko-KR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1884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디바이스 </a:t>
            </a:r>
            <a:r>
              <a:rPr lang="en-US" altLang="ko-KR" dirty="0"/>
              <a:t>Middleware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075960"/>
            <a:ext cx="6552728" cy="406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148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1328"/>
            <a:ext cx="5554960" cy="537667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Node.js </a:t>
            </a:r>
            <a:r>
              <a:rPr lang="ko-KR" altLang="en-US" dirty="0"/>
              <a:t>관심 증대</a:t>
            </a:r>
            <a:endParaRPr lang="en-US" altLang="ko-KR" dirty="0"/>
          </a:p>
          <a:p>
            <a:pPr lvl="1"/>
            <a:r>
              <a:rPr lang="ko-KR" altLang="en-US" dirty="0"/>
              <a:t>개발 편의성</a:t>
            </a:r>
            <a:r>
              <a:rPr lang="en-US" altLang="ko-KR" dirty="0"/>
              <a:t>, </a:t>
            </a:r>
            <a:r>
              <a:rPr lang="ko-KR" altLang="en-US" dirty="0" err="1"/>
              <a:t>확장성</a:t>
            </a:r>
            <a:r>
              <a:rPr lang="en-US" altLang="ko-KR" dirty="0"/>
              <a:t>, </a:t>
            </a:r>
            <a:r>
              <a:rPr lang="ko-KR" altLang="en-US" dirty="0"/>
              <a:t>호환성을 위해  </a:t>
            </a:r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 err="1"/>
              <a:t>웹기반</a:t>
            </a:r>
            <a:r>
              <a:rPr lang="ko-KR" altLang="en-US" dirty="0"/>
              <a:t> 양방향 </a:t>
            </a:r>
            <a:r>
              <a:rPr lang="ko-KR" altLang="en-US" dirty="0" err="1"/>
              <a:t>비동기</a:t>
            </a:r>
            <a:r>
              <a:rPr lang="ko-KR" altLang="en-US" dirty="0"/>
              <a:t> 서비스 구현을 위해 </a:t>
            </a:r>
            <a:r>
              <a:rPr lang="en-US" altLang="ko-KR" dirty="0"/>
              <a:t>Node.js</a:t>
            </a:r>
            <a:r>
              <a:rPr lang="ko-KR" altLang="en-US" dirty="0"/>
              <a:t> </a:t>
            </a:r>
            <a:r>
              <a:rPr lang="en-US" altLang="ko-KR" dirty="0" err="1"/>
              <a:t>Javascript</a:t>
            </a:r>
            <a:r>
              <a:rPr lang="en-US" altLang="ko-KR" dirty="0"/>
              <a:t> </a:t>
            </a:r>
            <a:r>
              <a:rPr lang="ko-KR" altLang="en-US" dirty="0"/>
              <a:t>기술을 적용하는 추세임</a:t>
            </a:r>
            <a:endParaRPr lang="en-US" altLang="ko-KR" dirty="0"/>
          </a:p>
          <a:p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센서 </a:t>
            </a:r>
            <a:r>
              <a:rPr lang="ko-KR" altLang="en-US" dirty="0" err="1"/>
              <a:t>노드</a:t>
            </a:r>
            <a:r>
              <a:rPr lang="ko-KR" altLang="en-US" dirty="0"/>
              <a:t> 구성요소</a:t>
            </a:r>
          </a:p>
          <a:p>
            <a:pPr lvl="1"/>
            <a:r>
              <a:rPr lang="en-US" altLang="ko-KR" dirty="0"/>
              <a:t>OS or Firmware</a:t>
            </a:r>
          </a:p>
          <a:p>
            <a:pPr lvl="1"/>
            <a:r>
              <a:rPr lang="en-US" altLang="ko-KR" dirty="0" err="1"/>
              <a:t>Javascript</a:t>
            </a:r>
            <a:r>
              <a:rPr lang="en-US" altLang="ko-KR" dirty="0"/>
              <a:t> SW/HW Engine </a:t>
            </a:r>
          </a:p>
          <a:p>
            <a:pPr lvl="1"/>
            <a:r>
              <a:rPr lang="en-US" altLang="ko-KR" dirty="0"/>
              <a:t>Node.js</a:t>
            </a:r>
          </a:p>
          <a:p>
            <a:r>
              <a:rPr lang="en-US" altLang="ko-KR" dirty="0"/>
              <a:t>Node.js</a:t>
            </a:r>
          </a:p>
          <a:p>
            <a:pPr lvl="1"/>
            <a:r>
              <a:rPr lang="en-US" altLang="ko-KR" dirty="0"/>
              <a:t>A basic server is implemented in 5 lines of code.</a:t>
            </a:r>
          </a:p>
          <a:p>
            <a:pPr lvl="1"/>
            <a:r>
              <a:rPr lang="en-US" altLang="ko-KR" dirty="0"/>
              <a:t>The </a:t>
            </a:r>
            <a:r>
              <a:rPr lang="en-US" altLang="ko-KR" dirty="0" err="1"/>
              <a:t>npm</a:t>
            </a:r>
            <a:r>
              <a:rPr lang="en-US" altLang="ko-KR" dirty="0"/>
              <a:t> (Node Packaged Modules) library has 50k+ packages, most of which are written in pure </a:t>
            </a:r>
            <a:r>
              <a:rPr lang="en-US" altLang="ko-KR" dirty="0" err="1"/>
              <a:t>Javascript</a:t>
            </a:r>
            <a:r>
              <a:rPr lang="en-US" altLang="ko-KR" dirty="0"/>
              <a:t>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362" y="1484785"/>
            <a:ext cx="3063409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971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729825"/>
            <a:ext cx="4622698" cy="41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/>
        </p:nvGrpSpPr>
        <p:grpSpPr>
          <a:xfrm>
            <a:off x="395536" y="1363923"/>
            <a:ext cx="4567289" cy="3219143"/>
            <a:chOff x="1012823" y="1361985"/>
            <a:chExt cx="7231585" cy="5307375"/>
          </a:xfrm>
        </p:grpSpPr>
        <p:pic>
          <p:nvPicPr>
            <p:cNvPr id="614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2823" y="1361985"/>
              <a:ext cx="7231585" cy="530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47" name="Picture 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9" y="2057831"/>
              <a:ext cx="7056784" cy="2667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783090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7515374" cy="4327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6329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Open HW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916832"/>
            <a:ext cx="7632601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4309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 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836741" y="1484784"/>
            <a:ext cx="1572649" cy="544430"/>
          </a:xfrm>
          <a:prstGeom prst="roundRect">
            <a:avLst>
              <a:gd name="adj" fmla="val 7161"/>
            </a:avLst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tIns="46800" anchor="ctr"/>
          <a:lstStyle/>
          <a:p>
            <a:pPr algn="ctr">
              <a:spcBef>
                <a:spcPts val="600"/>
              </a:spcBef>
              <a:defRPr/>
            </a:pPr>
            <a:r>
              <a:rPr lang="en-US" altLang="ko-KR" sz="1200" b="1" dirty="0" err="1">
                <a:solidFill>
                  <a:schemeClr val="bg1"/>
                </a:solidFill>
                <a:latin typeface="+mn-ea"/>
              </a:rPr>
              <a:t>IoT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</a:rPr>
              <a:t> Cloud</a:t>
            </a:r>
            <a:endParaRPr lang="ko-KR" altLang="en-US" sz="1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96378" y="1484784"/>
            <a:ext cx="5601559" cy="544430"/>
          </a:xfrm>
          <a:prstGeom prst="rect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46800" anchor="ctr"/>
          <a:lstStyle/>
          <a:p>
            <a:pPr marL="182563" indent="-182563">
              <a:spcBef>
                <a:spcPts val="600"/>
              </a:spcBef>
              <a:defRPr/>
            </a:pPr>
            <a:r>
              <a:rPr lang="en-US" altLang="ko-KR" sz="2000" dirty="0">
                <a:latin typeface="+mn-ea"/>
              </a:rPr>
              <a:t>A Key Enabler of Innovative </a:t>
            </a:r>
            <a:r>
              <a:rPr lang="en-US" altLang="ko-KR" sz="2000" dirty="0" err="1">
                <a:latin typeface="+mn-ea"/>
              </a:rPr>
              <a:t>IoT</a:t>
            </a:r>
            <a:r>
              <a:rPr lang="en-US" altLang="ko-KR" sz="2000" dirty="0">
                <a:latin typeface="+mn-ea"/>
              </a:rPr>
              <a:t> Services</a:t>
            </a:r>
          </a:p>
        </p:txBody>
      </p:sp>
      <p:pic>
        <p:nvPicPr>
          <p:cNvPr id="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119953"/>
            <a:ext cx="7270353" cy="2359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41" y="4479150"/>
            <a:ext cx="7261196" cy="181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7504" y="3685674"/>
            <a:ext cx="2891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hlinkClick r:id="rId2"/>
              </a:rPr>
              <a:t>https://www.youtube.com/watch?v=o7VXyolenvU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9161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플랫폼 현황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77" y="2003786"/>
            <a:ext cx="8244408" cy="3729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4951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업계 동향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7029450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598881"/>
            <a:ext cx="5695578" cy="3027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5864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Things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90" name="그룹 89"/>
          <p:cNvGrpSpPr/>
          <p:nvPr/>
        </p:nvGrpSpPr>
        <p:grpSpPr>
          <a:xfrm>
            <a:off x="755576" y="2081088"/>
            <a:ext cx="7481559" cy="4084216"/>
            <a:chOff x="978873" y="2081088"/>
            <a:chExt cx="5035550" cy="2286000"/>
          </a:xfrm>
        </p:grpSpPr>
        <p:grpSp>
          <p:nvGrpSpPr>
            <p:cNvPr id="73" name="그룹 56"/>
            <p:cNvGrpSpPr>
              <a:grpSpLocks/>
            </p:cNvGrpSpPr>
            <p:nvPr/>
          </p:nvGrpSpPr>
          <p:grpSpPr bwMode="auto">
            <a:xfrm>
              <a:off x="978873" y="2081088"/>
              <a:ext cx="5035550" cy="371475"/>
              <a:chOff x="3779838" y="3777928"/>
              <a:chExt cx="5036032" cy="371475"/>
            </a:xfrm>
          </p:grpSpPr>
          <p:sp>
            <p:nvSpPr>
              <p:cNvPr id="74" name="모서리가 둥근 직사각형 73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75" name="직사각형 74"/>
              <p:cNvSpPr/>
              <p:nvPr/>
            </p:nvSpPr>
            <p:spPr>
              <a:xfrm>
                <a:off x="4272010" y="3789040"/>
                <a:ext cx="4543860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ko-KR" altLang="en-US" dirty="0"/>
                  <a:t>세상의 거의 모든 사물을 </a:t>
                </a:r>
                <a:r>
                  <a:rPr lang="en-US" altLang="ko-KR" dirty="0"/>
                  <a:t>Things</a:t>
                </a:r>
                <a:r>
                  <a:rPr lang="ko-KR" altLang="en-US" dirty="0"/>
                  <a:t>로 대응시킬 수 있음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  <p:pic>
            <p:nvPicPr>
              <p:cNvPr id="76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7" name="그룹 56"/>
            <p:cNvGrpSpPr>
              <a:grpSpLocks/>
            </p:cNvGrpSpPr>
            <p:nvPr/>
          </p:nvGrpSpPr>
          <p:grpSpPr bwMode="auto">
            <a:xfrm>
              <a:off x="978873" y="2581150"/>
              <a:ext cx="5035550" cy="371475"/>
              <a:chOff x="3779838" y="3777928"/>
              <a:chExt cx="5036032" cy="371475"/>
            </a:xfrm>
          </p:grpSpPr>
          <p:sp>
            <p:nvSpPr>
              <p:cNvPr id="78" name="모서리가 둥근 직사각형 77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4272010" y="3789041"/>
                <a:ext cx="4543860" cy="360362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dirty="0"/>
                  <a:t>Things</a:t>
                </a:r>
                <a:r>
                  <a:rPr lang="ko-KR" altLang="en-US" dirty="0"/>
                  <a:t>는 현재로써는 임베디드 시스템과 유사함</a:t>
                </a:r>
                <a:r>
                  <a:rPr lang="en-US" altLang="ko-KR" dirty="0"/>
                  <a:t>.</a:t>
                </a:r>
              </a:p>
            </p:txBody>
          </p:sp>
          <p:pic>
            <p:nvPicPr>
              <p:cNvPr id="80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1" name="모서리가 둥근 직사각형 80"/>
            <p:cNvSpPr/>
            <p:nvPr/>
          </p:nvSpPr>
          <p:spPr>
            <a:xfrm>
              <a:off x="2256811" y="3139950"/>
              <a:ext cx="2436812" cy="415925"/>
            </a:xfrm>
            <a:prstGeom prst="roundRect">
              <a:avLst>
                <a:gd name="adj" fmla="val 7161"/>
              </a:avLst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4 parts of Things</a:t>
              </a:r>
              <a:endParaRPr lang="ko-KR" altLang="en-US" sz="2400" b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82" name="꺾인 연결선 81"/>
            <p:cNvCxnSpPr>
              <a:stCxn id="81" idx="2"/>
              <a:endCxn id="85" idx="0"/>
            </p:cNvCxnSpPr>
            <p:nvPr/>
          </p:nvCxnSpPr>
          <p:spPr>
            <a:xfrm rot="5400000">
              <a:off x="2359998" y="2746250"/>
              <a:ext cx="306388" cy="19256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1" idx="2"/>
              <a:endCxn id="87" idx="0"/>
            </p:cNvCxnSpPr>
            <p:nvPr/>
          </p:nvCxnSpPr>
          <p:spPr>
            <a:xfrm rot="16200000" flipH="1">
              <a:off x="3645873" y="3386013"/>
              <a:ext cx="306388" cy="64611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1" idx="2"/>
              <a:endCxn id="86" idx="0"/>
            </p:cNvCxnSpPr>
            <p:nvPr/>
          </p:nvCxnSpPr>
          <p:spPr>
            <a:xfrm rot="5400000">
              <a:off x="3002936" y="3389187"/>
              <a:ext cx="306388" cy="63976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모서리가 둥근 직사각형 84"/>
            <p:cNvSpPr/>
            <p:nvPr/>
          </p:nvSpPr>
          <p:spPr>
            <a:xfrm>
              <a:off x="978873" y="3862263"/>
              <a:ext cx="1143000" cy="503237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센서 </a:t>
              </a:r>
              <a:r>
                <a:rPr lang="en-US" altLang="ko-KR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dirty="0" err="1">
                  <a:solidFill>
                    <a:schemeClr val="tx1"/>
                  </a:solidFill>
                  <a:latin typeface="+mn-ea"/>
                </a:rPr>
                <a:t>액츄에이터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2264748" y="3862263"/>
              <a:ext cx="1141413" cy="504825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마이크로 컨트롤러</a:t>
              </a:r>
            </a:p>
          </p:txBody>
        </p:sp>
        <p:sp>
          <p:nvSpPr>
            <p:cNvPr id="87" name="모서리가 둥근 직사각형 86"/>
            <p:cNvSpPr/>
            <p:nvPr/>
          </p:nvSpPr>
          <p:spPr>
            <a:xfrm>
              <a:off x="3550623" y="3862263"/>
              <a:ext cx="1143000" cy="503237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통신 </a:t>
              </a:r>
              <a:r>
                <a:rPr lang="ko-KR" altLang="en-US" dirty="0" err="1">
                  <a:solidFill>
                    <a:schemeClr val="tx1"/>
                  </a:solidFill>
                  <a:latin typeface="+mn-ea"/>
                </a:rPr>
                <a:t>유닛</a:t>
              </a:r>
              <a:endParaRPr lang="ko-KR" altLang="en-US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88" name="꺾인 연결선 87"/>
            <p:cNvCxnSpPr>
              <a:stCxn id="81" idx="2"/>
              <a:endCxn id="89" idx="0"/>
            </p:cNvCxnSpPr>
            <p:nvPr/>
          </p:nvCxnSpPr>
          <p:spPr>
            <a:xfrm rot="16200000" flipH="1">
              <a:off x="4288811" y="2743075"/>
              <a:ext cx="306388" cy="193198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모서리가 둥근 직사각형 88"/>
            <p:cNvSpPr/>
            <p:nvPr/>
          </p:nvSpPr>
          <p:spPr>
            <a:xfrm>
              <a:off x="4836498" y="3862263"/>
              <a:ext cx="1143000" cy="503237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dirty="0">
                  <a:solidFill>
                    <a:schemeClr val="tx1"/>
                  </a:solidFill>
                  <a:latin typeface="+mn-ea"/>
                </a:rPr>
                <a:t>전력 공급장치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6566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4" descr="pic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8054975" cy="437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9108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827584" y="1556795"/>
            <a:ext cx="7416824" cy="4392487"/>
            <a:chOff x="3851275" y="1093515"/>
            <a:chExt cx="5048250" cy="2956198"/>
          </a:xfrm>
        </p:grpSpPr>
        <p:grpSp>
          <p:nvGrpSpPr>
            <p:cNvPr id="4" name="그룹 16"/>
            <p:cNvGrpSpPr>
              <a:grpSpLocks/>
            </p:cNvGrpSpPr>
            <p:nvPr/>
          </p:nvGrpSpPr>
          <p:grpSpPr bwMode="auto">
            <a:xfrm>
              <a:off x="3851275" y="1093515"/>
              <a:ext cx="5041900" cy="671795"/>
              <a:chOff x="3743320" y="3292146"/>
              <a:chExt cx="5041932" cy="674018"/>
            </a:xfrm>
          </p:grpSpPr>
          <p:sp>
            <p:nvSpPr>
              <p:cNvPr id="5" name="직사각형 16"/>
              <p:cNvSpPr>
                <a:spLocks noChangeArrowheads="1"/>
              </p:cNvSpPr>
              <p:nvPr/>
            </p:nvSpPr>
            <p:spPr bwMode="auto">
              <a:xfrm>
                <a:off x="3743320" y="3654429"/>
                <a:ext cx="5041932" cy="3117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>
                  <a:spcBef>
                    <a:spcPts val="600"/>
                  </a:spcBef>
                </a:pPr>
                <a:r>
                  <a:rPr lang="ko-KR" altLang="en-US" sz="240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사물</a:t>
                </a:r>
                <a:r>
                  <a:rPr lang="en-US" altLang="ko-KR" sz="240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(Thing)</a:t>
                </a:r>
                <a:r>
                  <a:rPr lang="ko-KR" altLang="en-US" sz="2400">
                    <a:latin typeface="휴먼엑스포" pitchFamily="18" charset="-127"/>
                    <a:ea typeface="휴먼엑스포" pitchFamily="18" charset="-127"/>
                  </a:rPr>
                  <a:t>은 다음과 같은 </a:t>
                </a:r>
                <a:r>
                  <a:rPr lang="ko-KR" altLang="en-US" sz="240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속성</a:t>
                </a:r>
                <a:r>
                  <a:rPr lang="ko-KR" altLang="en-US" sz="2400">
                    <a:latin typeface="휴먼엑스포" pitchFamily="18" charset="-127"/>
                    <a:ea typeface="휴먼엑스포" pitchFamily="18" charset="-127"/>
                  </a:rPr>
                  <a:t>을 가짐</a:t>
                </a:r>
                <a:r>
                  <a:rPr lang="en-US" altLang="ko-KR" sz="2400">
                    <a:latin typeface="휴먼엑스포" pitchFamily="18" charset="-127"/>
                    <a:ea typeface="휴먼엑스포" pitchFamily="18" charset="-127"/>
                  </a:rPr>
                  <a:t>.</a:t>
                </a:r>
              </a:p>
            </p:txBody>
          </p:sp>
          <p:pic>
            <p:nvPicPr>
              <p:cNvPr id="6" name="Picture 6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9F9ED"/>
                  </a:clrFrom>
                  <a:clrTo>
                    <a:srgbClr val="F9F9ED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4035419" y="3292146"/>
                <a:ext cx="447675" cy="419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" name="Picture 7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9F9ED"/>
                  </a:clrFrom>
                  <a:clrTo>
                    <a:srgbClr val="F9F9ED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8026453" y="3292147"/>
                <a:ext cx="438150" cy="4286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8" name="그룹 20"/>
            <p:cNvGrpSpPr>
              <a:grpSpLocks/>
            </p:cNvGrpSpPr>
            <p:nvPr/>
          </p:nvGrpSpPr>
          <p:grpSpPr bwMode="auto">
            <a:xfrm>
              <a:off x="3862388" y="1835150"/>
              <a:ext cx="5037137" cy="371475"/>
              <a:chOff x="3707904" y="1574800"/>
              <a:chExt cx="5037468" cy="445703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3707904" y="1574800"/>
                <a:ext cx="431828" cy="445703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spcBef>
                    <a:spcPts val="600"/>
                  </a:spcBef>
                  <a:defRPr/>
                </a:pPr>
                <a:r>
                  <a:rPr lang="en-US" altLang="ko-KR" sz="3200" b="1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ko-KR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4200061" y="1586228"/>
                <a:ext cx="4545311" cy="432371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defRPr/>
                </a:pPr>
                <a:r>
                  <a:rPr lang="ko-KR" altLang="en-US" sz="1400" dirty="0">
                    <a:latin typeface="+mn-ea"/>
                  </a:rPr>
                  <a:t>전력 소스는 일반적으로 배터리에 의한 구동이 주를 이룸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1" name="그룹 27"/>
            <p:cNvGrpSpPr>
              <a:grpSpLocks/>
            </p:cNvGrpSpPr>
            <p:nvPr/>
          </p:nvGrpSpPr>
          <p:grpSpPr bwMode="auto">
            <a:xfrm>
              <a:off x="3857625" y="2857500"/>
              <a:ext cx="5037138" cy="371475"/>
              <a:chOff x="3707904" y="1574800"/>
              <a:chExt cx="5037468" cy="445703"/>
            </a:xfrm>
          </p:grpSpPr>
          <p:sp>
            <p:nvSpPr>
              <p:cNvPr id="12" name="모서리가 둥근 직사각형 11"/>
              <p:cNvSpPr/>
              <p:nvPr/>
            </p:nvSpPr>
            <p:spPr>
              <a:xfrm>
                <a:off x="3707904" y="1574800"/>
                <a:ext cx="431828" cy="445703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spcBef>
                    <a:spcPts val="600"/>
                  </a:spcBef>
                  <a:defRPr/>
                </a:pPr>
                <a:r>
                  <a:rPr lang="en-US" altLang="ko-KR" sz="3200" b="1" dirty="0">
                    <a:solidFill>
                      <a:schemeClr val="bg1"/>
                    </a:solidFill>
                    <a:latin typeface="+mn-ea"/>
                  </a:rPr>
                  <a:t>03</a:t>
                </a:r>
                <a:endParaRPr lang="ko-KR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4200061" y="1586228"/>
                <a:ext cx="4545311" cy="432371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defRPr/>
                </a:pPr>
                <a:r>
                  <a:rPr lang="ko-KR" altLang="en-US" sz="1400" dirty="0">
                    <a:latin typeface="+mn-ea"/>
                  </a:rPr>
                  <a:t>사물 수준에서 복잡한 연산을 수행하지는 않음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4" name="그룹 18"/>
            <p:cNvGrpSpPr>
              <a:grpSpLocks/>
            </p:cNvGrpSpPr>
            <p:nvPr/>
          </p:nvGrpSpPr>
          <p:grpSpPr bwMode="auto">
            <a:xfrm>
              <a:off x="3857625" y="2357438"/>
              <a:ext cx="5037138" cy="371475"/>
              <a:chOff x="3707904" y="1574800"/>
              <a:chExt cx="5037468" cy="445703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3707904" y="1574800"/>
                <a:ext cx="431828" cy="445703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latinLnBrk="0">
                  <a:spcBef>
                    <a:spcPts val="600"/>
                  </a:spcBef>
                  <a:defRPr/>
                </a:pPr>
                <a:r>
                  <a:rPr lang="en-US" altLang="ko-KR" sz="3200" b="1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ko-KR" altLang="en-US" sz="32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4200061" y="1586228"/>
                <a:ext cx="4545311" cy="432369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atinLnBrk="0">
                  <a:defRPr/>
                </a:pPr>
                <a:r>
                  <a:rPr lang="ko-KR" altLang="en-US" sz="1400" dirty="0">
                    <a:latin typeface="+mn-ea"/>
                  </a:rPr>
                  <a:t>저가의 작은 크기를 갖는 기기이므로</a:t>
                </a:r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계산능력은 다소 떨어지는 편임</a:t>
                </a:r>
                <a:r>
                  <a:rPr lang="en-US" altLang="ko-KR" sz="1400" dirty="0">
                    <a:latin typeface="+mn-ea"/>
                  </a:rPr>
                  <a:t>.</a:t>
                </a:r>
              </a:p>
            </p:txBody>
          </p:sp>
        </p:grpSp>
        <p:grpSp>
          <p:nvGrpSpPr>
            <p:cNvPr id="17" name="그룹 36"/>
            <p:cNvGrpSpPr>
              <a:grpSpLocks/>
            </p:cNvGrpSpPr>
            <p:nvPr/>
          </p:nvGrpSpPr>
          <p:grpSpPr bwMode="auto">
            <a:xfrm>
              <a:off x="3943350" y="3546475"/>
              <a:ext cx="4949825" cy="503238"/>
              <a:chOff x="3708400" y="2853755"/>
              <a:chExt cx="5240242" cy="503237"/>
            </a:xfrm>
          </p:grpSpPr>
          <p:sp>
            <p:nvSpPr>
              <p:cNvPr id="18" name="대각선 방향의 모서리가 둥근 사각형 17"/>
              <p:cNvSpPr/>
              <p:nvPr/>
            </p:nvSpPr>
            <p:spPr>
              <a:xfrm>
                <a:off x="3708400" y="2853755"/>
                <a:ext cx="5240242" cy="503237"/>
              </a:xfrm>
              <a:prstGeom prst="round2DiagRect">
                <a:avLst/>
              </a:prstGeom>
              <a:ln w="28575">
                <a:solidFill>
                  <a:srgbClr val="C0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200"/>
              </a:p>
            </p:txBody>
          </p:sp>
          <p:sp>
            <p:nvSpPr>
              <p:cNvPr id="19" name="TextBox 24"/>
              <p:cNvSpPr txBox="1">
                <a:spLocks noChangeArrowheads="1"/>
              </p:cNvSpPr>
              <p:nvPr/>
            </p:nvSpPr>
            <p:spPr bwMode="auto">
              <a:xfrm>
                <a:off x="4284663" y="2874392"/>
                <a:ext cx="4608512" cy="4764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ko-KR" altLang="en-US" sz="2000" b="1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사물인터넷의 사물을 설계함에 있어서 전력 소모는</a:t>
                </a:r>
                <a:br>
                  <a:rPr lang="en-US" altLang="ko-KR" sz="2000" b="1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</a:br>
                <a:r>
                  <a:rPr lang="ko-KR" altLang="en-US" sz="2000" b="1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주요 이슈가 됨</a:t>
                </a:r>
                <a:r>
                  <a:rPr lang="en-US" altLang="ko-KR" sz="2000" b="1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.</a:t>
                </a:r>
              </a:p>
            </p:txBody>
          </p:sp>
        </p:grpSp>
        <p:pic>
          <p:nvPicPr>
            <p:cNvPr id="20" name="Picture 25" descr="C:\Documents and Settings\신현아\바탕 화면\icon\1326272254_ktip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625" y="3400425"/>
              <a:ext cx="603250" cy="604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95918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755576" y="1484786"/>
            <a:ext cx="7561535" cy="4031635"/>
            <a:chOff x="3851275" y="1077775"/>
            <a:chExt cx="5041900" cy="3422791"/>
          </a:xfrm>
        </p:grpSpPr>
        <p:grpSp>
          <p:nvGrpSpPr>
            <p:cNvPr id="4" name="그룹 16"/>
            <p:cNvGrpSpPr>
              <a:grpSpLocks/>
            </p:cNvGrpSpPr>
            <p:nvPr/>
          </p:nvGrpSpPr>
          <p:grpSpPr bwMode="auto">
            <a:xfrm>
              <a:off x="3851275" y="1077775"/>
              <a:ext cx="5041900" cy="1167945"/>
              <a:chOff x="3743320" y="3254348"/>
              <a:chExt cx="5041932" cy="1170219"/>
            </a:xfrm>
          </p:grpSpPr>
          <p:sp>
            <p:nvSpPr>
              <p:cNvPr id="5" name="직사각형 16"/>
              <p:cNvSpPr>
                <a:spLocks noChangeArrowheads="1"/>
              </p:cNvSpPr>
              <p:nvPr/>
            </p:nvSpPr>
            <p:spPr bwMode="auto">
              <a:xfrm>
                <a:off x="3743320" y="3560608"/>
                <a:ext cx="5041932" cy="8639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algn="ctr">
                  <a:spcBef>
                    <a:spcPts val="600"/>
                  </a:spcBef>
                </a:pPr>
                <a:r>
                  <a:rPr lang="ko-KR" altLang="en-US" sz="2000" dirty="0">
                    <a:latin typeface="휴먼엑스포" pitchFamily="18" charset="-127"/>
                    <a:ea typeface="휴먼엑스포" pitchFamily="18" charset="-127"/>
                  </a:rPr>
                  <a:t>사물</a:t>
                </a:r>
                <a:r>
                  <a:rPr lang="en-US" altLang="ko-KR" sz="2000" dirty="0">
                    <a:latin typeface="휴먼엑스포" pitchFamily="18" charset="-127"/>
                    <a:ea typeface="휴먼엑스포" pitchFamily="18" charset="-127"/>
                  </a:rPr>
                  <a:t>(Things)</a:t>
                </a:r>
                <a:r>
                  <a:rPr lang="ko-KR" altLang="en-US" sz="2000" dirty="0">
                    <a:latin typeface="휴먼엑스포" pitchFamily="18" charset="-127"/>
                    <a:ea typeface="휴먼엑스포" pitchFamily="18" charset="-127"/>
                  </a:rPr>
                  <a:t>은 항상</a:t>
                </a:r>
                <a:br>
                  <a:rPr lang="en-US" altLang="ko-KR" sz="2000" dirty="0">
                    <a:latin typeface="휴먼엑스포" pitchFamily="18" charset="-127"/>
                    <a:ea typeface="휴먼엑스포" pitchFamily="18" charset="-127"/>
                  </a:rPr>
                </a:br>
                <a:r>
                  <a:rPr lang="ko-KR" altLang="en-US" sz="2000" dirty="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팀 단위로 업무를 수행</a:t>
                </a:r>
                <a:r>
                  <a:rPr lang="en-US" altLang="ko-KR" sz="2000" dirty="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(Team work)</a:t>
                </a:r>
                <a:r>
                  <a:rPr lang="ko-KR" altLang="en-US" sz="2000" dirty="0">
                    <a:latin typeface="휴먼엑스포" pitchFamily="18" charset="-127"/>
                    <a:ea typeface="휴먼엑스포" pitchFamily="18" charset="-127"/>
                  </a:rPr>
                  <a:t>하기 때문에</a:t>
                </a:r>
                <a:br>
                  <a:rPr lang="en-US" altLang="ko-KR" sz="2000" dirty="0">
                    <a:latin typeface="휴먼엑스포" pitchFamily="18" charset="-127"/>
                    <a:ea typeface="휴먼엑스포" pitchFamily="18" charset="-127"/>
                  </a:rPr>
                </a:br>
                <a:r>
                  <a:rPr lang="ko-KR" altLang="en-US" sz="2000" dirty="0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통신 </a:t>
                </a:r>
                <a:r>
                  <a:rPr lang="ko-KR" altLang="en-US" sz="2000" dirty="0" err="1">
                    <a:solidFill>
                      <a:srgbClr val="C00000"/>
                    </a:solidFill>
                    <a:latin typeface="휴먼엑스포" pitchFamily="18" charset="-127"/>
                    <a:ea typeface="휴먼엑스포" pitchFamily="18" charset="-127"/>
                  </a:rPr>
                  <a:t>유닛</a:t>
                </a:r>
                <a:r>
                  <a:rPr lang="ko-KR" altLang="en-US" sz="2000" dirty="0" err="1">
                    <a:latin typeface="휴먼엑스포" pitchFamily="18" charset="-127"/>
                    <a:ea typeface="휴먼엑스포" pitchFamily="18" charset="-127"/>
                  </a:rPr>
                  <a:t>을</a:t>
                </a:r>
                <a:r>
                  <a:rPr lang="ko-KR" altLang="en-US" sz="2000" dirty="0">
                    <a:latin typeface="휴먼엑스포" pitchFamily="18" charset="-127"/>
                    <a:ea typeface="휴먼엑스포" pitchFamily="18" charset="-127"/>
                  </a:rPr>
                  <a:t> 갖추고 있어야 함</a:t>
                </a:r>
                <a:r>
                  <a:rPr lang="en-US" altLang="ko-KR" sz="2000" dirty="0">
                    <a:latin typeface="휴먼엑스포" pitchFamily="18" charset="-127"/>
                    <a:ea typeface="휴먼엑스포" pitchFamily="18" charset="-127"/>
                  </a:rPr>
                  <a:t>.</a:t>
                </a:r>
              </a:p>
            </p:txBody>
          </p:sp>
          <p:pic>
            <p:nvPicPr>
              <p:cNvPr id="6" name="Picture 6"/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9F9ED"/>
                  </a:clrFrom>
                  <a:clrTo>
                    <a:srgbClr val="F9F9ED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4035419" y="3257068"/>
                <a:ext cx="447675" cy="5388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7" name="Picture 7"/>
              <p:cNvPicPr>
                <a:picLocks noChangeAspect="1" noChangeArrowheads="1"/>
              </p:cNvPicPr>
              <p:nvPr/>
            </p:nvPicPr>
            <p:blipFill>
              <a:blip r:embed="rId3" cstate="print">
                <a:clrChange>
                  <a:clrFrom>
                    <a:srgbClr val="F9F9ED"/>
                  </a:clrFrom>
                  <a:clrTo>
                    <a:srgbClr val="F9F9ED">
                      <a:alpha val="0"/>
                    </a:srgbClr>
                  </a:clrTo>
                </a:clrChange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>
                <a:off x="8026453" y="3254348"/>
                <a:ext cx="438150" cy="5511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8" name="모서리가 둥근 직사각형 7"/>
            <p:cNvSpPr/>
            <p:nvPr/>
          </p:nvSpPr>
          <p:spPr>
            <a:xfrm>
              <a:off x="3857625" y="2286000"/>
              <a:ext cx="1090613" cy="428625"/>
            </a:xfrm>
            <a:prstGeom prst="roundRect">
              <a:avLst>
                <a:gd name="adj" fmla="val 7161"/>
              </a:avLst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tIns="46800"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b="1" dirty="0">
                  <a:solidFill>
                    <a:schemeClr val="bg1"/>
                  </a:solidFill>
                  <a:latin typeface="+mn-ea"/>
                </a:rPr>
                <a:t>통신의 역할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008563" y="2286000"/>
              <a:ext cx="3884612" cy="428625"/>
            </a:xfrm>
            <a:prstGeom prst="rect">
              <a:avLst/>
            </a:prstGeom>
            <a:ln w="12700">
              <a:solidFill>
                <a:schemeClr val="accent4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tIns="46800" anchor="ctr"/>
            <a:lstStyle/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sz="1600" dirty="0"/>
                <a:t>둘 이상의 사물 간에 데이터 통신을 위한 링크를 제공</a:t>
              </a:r>
              <a:endParaRPr lang="en-US" altLang="ko-KR" sz="1600" dirty="0">
                <a:latin typeface="+mn-ea"/>
              </a:endParaRPr>
            </a:p>
          </p:txBody>
        </p:sp>
        <p:grpSp>
          <p:nvGrpSpPr>
            <p:cNvPr id="10" name="그룹 3"/>
            <p:cNvGrpSpPr>
              <a:grpSpLocks/>
            </p:cNvGrpSpPr>
            <p:nvPr/>
          </p:nvGrpSpPr>
          <p:grpSpPr bwMode="auto">
            <a:xfrm>
              <a:off x="3857625" y="2786065"/>
              <a:ext cx="5035550" cy="1714501"/>
              <a:chOff x="8969498" y="3717032"/>
              <a:chExt cx="5035550" cy="1713404"/>
            </a:xfrm>
          </p:grpSpPr>
          <p:sp>
            <p:nvSpPr>
              <p:cNvPr id="11" name="모서리가 둥근 직사각형 10"/>
              <p:cNvSpPr/>
              <p:nvPr/>
            </p:nvSpPr>
            <p:spPr>
              <a:xfrm>
                <a:off x="8969498" y="3717032"/>
                <a:ext cx="1090613" cy="1713404"/>
              </a:xfrm>
              <a:prstGeom prst="roundRect">
                <a:avLst>
                  <a:gd name="adj" fmla="val 7161"/>
                </a:avLst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tIns="46800"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b="1" dirty="0">
                    <a:solidFill>
                      <a:schemeClr val="bg1"/>
                    </a:solidFill>
                    <a:latin typeface="+mn-ea"/>
                  </a:rPr>
                  <a:t>통신의 형태</a:t>
                </a: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10120436" y="3717032"/>
                <a:ext cx="3884612" cy="1713404"/>
              </a:xfrm>
              <a:prstGeom prst="rect">
                <a:avLst/>
              </a:prstGeom>
              <a:ln w="12700">
                <a:solidFill>
                  <a:schemeClr val="accent4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182563" indent="-182563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ko-KR" altLang="en-US" sz="1600" dirty="0"/>
                  <a:t>유선</a:t>
                </a:r>
                <a:endParaRPr lang="en-US" altLang="ko-KR" sz="1600" dirty="0"/>
              </a:p>
              <a:p>
                <a:pPr marL="355600" lvl="1" indent="-173038">
                  <a:spcBef>
                    <a:spcPts val="600"/>
                  </a:spcBef>
                  <a:buFont typeface="맑은 고딕" pitchFamily="50" charset="-127"/>
                  <a:buChar char="–"/>
                  <a:defRPr/>
                </a:pPr>
                <a:endParaRPr lang="en-US" altLang="ko-KR" sz="1600" dirty="0">
                  <a:latin typeface="+mn-ea"/>
                </a:endParaRPr>
              </a:p>
              <a:p>
                <a:pPr marL="182563" indent="-182563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endParaRPr lang="en-US" altLang="ko-KR" sz="1600" dirty="0"/>
              </a:p>
              <a:p>
                <a:pPr marL="182563" indent="-182563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ko-KR" altLang="en-US" sz="1600" dirty="0"/>
                  <a:t>무선</a:t>
                </a:r>
                <a:endParaRPr lang="en-US" altLang="ko-KR" sz="1600" dirty="0"/>
              </a:p>
              <a:p>
                <a:pPr marL="368300" indent="-182563">
                  <a:spcBef>
                    <a:spcPts val="600"/>
                  </a:spcBef>
                  <a:buFont typeface="맑은 고딕" pitchFamily="50" charset="-127"/>
                  <a:buChar char="–"/>
                  <a:defRPr/>
                </a:pPr>
                <a:endParaRPr lang="en-US" altLang="ko-KR" sz="1600" dirty="0"/>
              </a:p>
              <a:p>
                <a:pPr marL="368300" indent="-182563">
                  <a:spcBef>
                    <a:spcPts val="600"/>
                  </a:spcBef>
                  <a:buFont typeface="맑은 고딕" pitchFamily="50" charset="-127"/>
                  <a:buChar char="–"/>
                  <a:defRPr/>
                </a:pPr>
                <a:endParaRPr lang="en-US" altLang="ko-KR" sz="1600" dirty="0"/>
              </a:p>
              <a:p>
                <a:pPr marL="368300" indent="-182563">
                  <a:spcBef>
                    <a:spcPts val="600"/>
                  </a:spcBef>
                  <a:buFont typeface="맑은 고딕" pitchFamily="50" charset="-127"/>
                  <a:buChar char="–"/>
                  <a:defRPr/>
                </a:pPr>
                <a:r>
                  <a:rPr lang="en-US" altLang="ko-KR" sz="1600" dirty="0"/>
                  <a:t>RF </a:t>
                </a:r>
                <a:r>
                  <a:rPr lang="ko-KR" altLang="en-US" sz="1600" dirty="0"/>
                  <a:t>기반 통신방식을 가장 대중적으로 사용하고 있음</a:t>
                </a:r>
                <a:r>
                  <a:rPr lang="en-US" altLang="ko-KR" sz="1600" dirty="0"/>
                  <a:t>. </a:t>
                </a:r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auto">
              <a:xfrm rot="484624">
                <a:off x="10217950" y="4601937"/>
                <a:ext cx="355506" cy="720930"/>
              </a:xfrm>
              <a:custGeom>
                <a:avLst/>
                <a:gdLst>
                  <a:gd name="T0" fmla="*/ 2147483647 w 529"/>
                  <a:gd name="T1" fmla="*/ 0 h 462"/>
                  <a:gd name="T2" fmla="*/ 2147483647 w 529"/>
                  <a:gd name="T3" fmla="*/ 2147483647 h 462"/>
                  <a:gd name="T4" fmla="*/ 2147483647 w 529"/>
                  <a:gd name="T5" fmla="*/ 2147483647 h 462"/>
                  <a:gd name="T6" fmla="*/ 2147483647 w 529"/>
                  <a:gd name="T7" fmla="*/ 2147483647 h 462"/>
                  <a:gd name="T8" fmla="*/ 2147483647 w 529"/>
                  <a:gd name="T9" fmla="*/ 2147483647 h 462"/>
                  <a:gd name="T10" fmla="*/ 2147483647 w 529"/>
                  <a:gd name="T11" fmla="*/ 2147483647 h 462"/>
                  <a:gd name="T12" fmla="*/ 2147483647 w 529"/>
                  <a:gd name="T13" fmla="*/ 2147483647 h 462"/>
                  <a:gd name="T14" fmla="*/ 2147483647 w 529"/>
                  <a:gd name="T15" fmla="*/ 2147483647 h 462"/>
                  <a:gd name="T16" fmla="*/ 2147483647 w 529"/>
                  <a:gd name="T17" fmla="*/ 2147483647 h 462"/>
                  <a:gd name="T18" fmla="*/ 2147483647 w 529"/>
                  <a:gd name="T19" fmla="*/ 2147483647 h 462"/>
                  <a:gd name="T20" fmla="*/ 2147483647 w 529"/>
                  <a:gd name="T21" fmla="*/ 2147483647 h 462"/>
                  <a:gd name="T22" fmla="*/ 2147483647 w 529"/>
                  <a:gd name="T23" fmla="*/ 2147483647 h 46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29"/>
                  <a:gd name="T37" fmla="*/ 0 h 462"/>
                  <a:gd name="T38" fmla="*/ 529 w 529"/>
                  <a:gd name="T39" fmla="*/ 462 h 462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29" h="462">
                    <a:moveTo>
                      <a:pt x="166" y="0"/>
                    </a:moveTo>
                    <a:cubicBezTo>
                      <a:pt x="109" y="23"/>
                      <a:pt x="53" y="46"/>
                      <a:pt x="30" y="91"/>
                    </a:cubicBezTo>
                    <a:cubicBezTo>
                      <a:pt x="7" y="136"/>
                      <a:pt x="0" y="227"/>
                      <a:pt x="30" y="272"/>
                    </a:cubicBezTo>
                    <a:cubicBezTo>
                      <a:pt x="60" y="317"/>
                      <a:pt x="158" y="355"/>
                      <a:pt x="211" y="363"/>
                    </a:cubicBezTo>
                    <a:cubicBezTo>
                      <a:pt x="264" y="371"/>
                      <a:pt x="324" y="341"/>
                      <a:pt x="347" y="318"/>
                    </a:cubicBezTo>
                    <a:cubicBezTo>
                      <a:pt x="370" y="295"/>
                      <a:pt x="362" y="242"/>
                      <a:pt x="347" y="227"/>
                    </a:cubicBezTo>
                    <a:cubicBezTo>
                      <a:pt x="332" y="212"/>
                      <a:pt x="287" y="212"/>
                      <a:pt x="257" y="227"/>
                    </a:cubicBezTo>
                    <a:cubicBezTo>
                      <a:pt x="227" y="242"/>
                      <a:pt x="181" y="288"/>
                      <a:pt x="166" y="318"/>
                    </a:cubicBezTo>
                    <a:cubicBezTo>
                      <a:pt x="151" y="348"/>
                      <a:pt x="151" y="385"/>
                      <a:pt x="166" y="408"/>
                    </a:cubicBezTo>
                    <a:cubicBezTo>
                      <a:pt x="181" y="431"/>
                      <a:pt x="219" y="446"/>
                      <a:pt x="257" y="454"/>
                    </a:cubicBezTo>
                    <a:cubicBezTo>
                      <a:pt x="295" y="462"/>
                      <a:pt x="348" y="462"/>
                      <a:pt x="393" y="454"/>
                    </a:cubicBezTo>
                    <a:cubicBezTo>
                      <a:pt x="438" y="446"/>
                      <a:pt x="483" y="427"/>
                      <a:pt x="529" y="408"/>
                    </a:cubicBez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pPr>
                  <a:spcBef>
                    <a:spcPts val="600"/>
                  </a:spcBef>
                  <a:defRPr/>
                </a:pPr>
                <a:endParaRPr lang="ko-KR" altLang="en-US" sz="1200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그룹 23"/>
            <p:cNvGrpSpPr>
              <a:grpSpLocks/>
            </p:cNvGrpSpPr>
            <p:nvPr/>
          </p:nvGrpSpPr>
          <p:grpSpPr bwMode="auto">
            <a:xfrm>
              <a:off x="5286375" y="3786188"/>
              <a:ext cx="3429000" cy="433387"/>
              <a:chOff x="3635375" y="4789539"/>
              <a:chExt cx="3429201" cy="432699"/>
            </a:xfrm>
          </p:grpSpPr>
          <p:sp>
            <p:nvSpPr>
              <p:cNvPr id="16" name="직사각형 15"/>
              <p:cNvSpPr/>
              <p:nvPr/>
            </p:nvSpPr>
            <p:spPr>
              <a:xfrm>
                <a:off x="3778258" y="4797463"/>
                <a:ext cx="3286318" cy="4247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defRPr/>
                </a:pPr>
                <a:r>
                  <a:rPr lang="en-US" altLang="ko-KR" sz="1200" dirty="0">
                    <a:latin typeface="+mn-ea"/>
                  </a:rPr>
                  <a:t>RF, IR </a:t>
                </a:r>
                <a:r>
                  <a:rPr lang="ko-KR" altLang="en-US" sz="1200" dirty="0">
                    <a:latin typeface="+mn-ea"/>
                  </a:rPr>
                  <a:t>등</a:t>
                </a:r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3635375" y="4789539"/>
                <a:ext cx="360384" cy="35979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  <p:grpSp>
          <p:nvGrpSpPr>
            <p:cNvPr id="18" name="그룹 23"/>
            <p:cNvGrpSpPr>
              <a:grpSpLocks/>
            </p:cNvGrpSpPr>
            <p:nvPr/>
          </p:nvGrpSpPr>
          <p:grpSpPr bwMode="auto">
            <a:xfrm>
              <a:off x="5286375" y="3071813"/>
              <a:ext cx="3429000" cy="433387"/>
              <a:chOff x="3635375" y="4789539"/>
              <a:chExt cx="3429201" cy="432699"/>
            </a:xfrm>
          </p:grpSpPr>
          <p:sp>
            <p:nvSpPr>
              <p:cNvPr id="19" name="직사각형 18"/>
              <p:cNvSpPr/>
              <p:nvPr/>
            </p:nvSpPr>
            <p:spPr>
              <a:xfrm>
                <a:off x="3778258" y="4797463"/>
                <a:ext cx="3286318" cy="4247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defRPr/>
                </a:pPr>
                <a:r>
                  <a:rPr lang="ko-KR" altLang="en-US" sz="1200" dirty="0">
                    <a:latin typeface="+mn-ea"/>
                  </a:rPr>
                  <a:t>동축케이블</a:t>
                </a:r>
                <a:r>
                  <a:rPr lang="en-US" altLang="ko-KR" sz="1200" dirty="0">
                    <a:latin typeface="+mn-ea"/>
                  </a:rPr>
                  <a:t>, </a:t>
                </a:r>
                <a:r>
                  <a:rPr lang="ko-KR" altLang="en-US" sz="1200" dirty="0">
                    <a:latin typeface="+mn-ea"/>
                  </a:rPr>
                  <a:t>광케이블 등</a:t>
                </a:r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3635375" y="4789539"/>
                <a:ext cx="360384" cy="35979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8327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827584" y="1628800"/>
            <a:ext cx="7633543" cy="4185768"/>
            <a:chOff x="3843338" y="1187450"/>
            <a:chExt cx="5049837" cy="3068639"/>
          </a:xfrm>
        </p:grpSpPr>
        <p:grpSp>
          <p:nvGrpSpPr>
            <p:cNvPr id="4" name="그룹 56"/>
            <p:cNvGrpSpPr>
              <a:grpSpLocks/>
            </p:cNvGrpSpPr>
            <p:nvPr/>
          </p:nvGrpSpPr>
          <p:grpSpPr bwMode="auto">
            <a:xfrm>
              <a:off x="3843338" y="1187450"/>
              <a:ext cx="5003800" cy="371475"/>
              <a:chOff x="3779838" y="3777928"/>
              <a:chExt cx="5185271" cy="371475"/>
            </a:xfrm>
          </p:grpSpPr>
          <p:sp>
            <p:nvSpPr>
              <p:cNvPr id="5" name="모서리가 둥근 직사각형 4"/>
              <p:cNvSpPr/>
              <p:nvPr/>
            </p:nvSpPr>
            <p:spPr>
              <a:xfrm>
                <a:off x="3779838" y="3777928"/>
                <a:ext cx="432654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6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4271714" y="3789041"/>
                <a:ext cx="4693395" cy="3603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spcBef>
                    <a:spcPts val="600"/>
                  </a:spcBef>
                  <a:defRPr/>
                </a:pPr>
                <a:r>
                  <a:rPr lang="ko-KR" altLang="en-US" sz="1600" dirty="0"/>
                  <a:t>네트워크의 역할</a:t>
                </a:r>
                <a:endParaRPr lang="en-US" altLang="ko-KR" sz="1600" dirty="0"/>
              </a:p>
            </p:txBody>
          </p:sp>
          <p:pic>
            <p:nvPicPr>
              <p:cNvPr id="7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" name="직사각형 7"/>
            <p:cNvSpPr>
              <a:spLocks noChangeArrowheads="1"/>
            </p:cNvSpPr>
            <p:nvPr/>
          </p:nvSpPr>
          <p:spPr bwMode="auto">
            <a:xfrm>
              <a:off x="4356100" y="1603375"/>
              <a:ext cx="4537075" cy="6656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sz="1600" dirty="0" err="1">
                  <a:latin typeface="+mn-ea"/>
                  <a:ea typeface="+mn-ea"/>
                </a:rPr>
                <a:t>노드</a:t>
              </a:r>
              <a:r>
                <a:rPr lang="ko-KR" altLang="en-US" sz="1600" dirty="0">
                  <a:latin typeface="+mn-ea"/>
                  <a:ea typeface="+mn-ea"/>
                </a:rPr>
                <a:t> 관리</a:t>
              </a:r>
              <a:r>
                <a:rPr lang="en-US" altLang="ko-KR" sz="1600" dirty="0">
                  <a:latin typeface="+mn-ea"/>
                  <a:ea typeface="+mn-ea"/>
                </a:rPr>
                <a:t>(Discovery, Join, Leave </a:t>
              </a:r>
              <a:r>
                <a:rPr lang="ko-KR" altLang="en-US" sz="1600" dirty="0">
                  <a:latin typeface="+mn-ea"/>
                  <a:ea typeface="+mn-ea"/>
                </a:rPr>
                <a:t>등</a:t>
              </a:r>
              <a:r>
                <a:rPr lang="en-US" altLang="ko-KR" sz="1600" dirty="0">
                  <a:latin typeface="+mn-ea"/>
                  <a:ea typeface="+mn-ea"/>
                </a:rPr>
                <a:t>)</a:t>
              </a:r>
            </a:p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sz="1600" dirty="0">
                  <a:latin typeface="+mn-ea"/>
                  <a:ea typeface="+mn-ea"/>
                </a:rPr>
                <a:t>네트워크 상의 소스</a:t>
              </a:r>
              <a:r>
                <a:rPr lang="en-US" altLang="ko-KR" sz="1600" dirty="0">
                  <a:latin typeface="+mn-ea"/>
                  <a:ea typeface="+mn-ea"/>
                </a:rPr>
                <a:t>(Source)</a:t>
              </a:r>
              <a:r>
                <a:rPr lang="ko-KR" altLang="en-US" sz="1600" dirty="0">
                  <a:latin typeface="+mn-ea"/>
                  <a:ea typeface="+mn-ea"/>
                </a:rPr>
                <a:t>로부터  목적지</a:t>
              </a:r>
              <a:r>
                <a:rPr lang="en-US" altLang="ko-KR" sz="1600" dirty="0">
                  <a:latin typeface="+mn-ea"/>
                  <a:ea typeface="+mn-ea"/>
                </a:rPr>
                <a:t>(Destination)</a:t>
              </a:r>
              <a:r>
                <a:rPr lang="ko-KR" altLang="en-US" sz="1600" dirty="0">
                  <a:latin typeface="+mn-ea"/>
                  <a:ea typeface="+mn-ea"/>
                </a:rPr>
                <a:t>까지 </a:t>
              </a:r>
              <a:br>
                <a:rPr lang="en-US" altLang="ko-KR" sz="1600" dirty="0">
                  <a:latin typeface="+mn-ea"/>
                  <a:ea typeface="+mn-ea"/>
                </a:rPr>
              </a:br>
              <a:r>
                <a:rPr lang="ko-KR" altLang="en-US" sz="1600" dirty="0">
                  <a:latin typeface="+mn-ea"/>
                  <a:ea typeface="+mn-ea"/>
                </a:rPr>
                <a:t>데이터 </a:t>
              </a:r>
              <a:r>
                <a:rPr lang="ko-KR" altLang="en-US" sz="1600" dirty="0" err="1">
                  <a:latin typeface="+mn-ea"/>
                  <a:ea typeface="+mn-ea"/>
                </a:rPr>
                <a:t>패킷을</a:t>
              </a:r>
              <a:r>
                <a:rPr lang="ko-KR" altLang="en-US" sz="1600" dirty="0">
                  <a:latin typeface="+mn-ea"/>
                  <a:ea typeface="+mn-ea"/>
                </a:rPr>
                <a:t> 연계</a:t>
              </a:r>
              <a:r>
                <a:rPr lang="en-US" altLang="ko-KR" sz="1600" dirty="0">
                  <a:latin typeface="+mn-ea"/>
                  <a:ea typeface="+mn-ea"/>
                </a:rPr>
                <a:t>(Relaying)</a:t>
              </a:r>
            </a:p>
          </p:txBody>
        </p:sp>
        <p:grpSp>
          <p:nvGrpSpPr>
            <p:cNvPr id="9" name="그룹 56"/>
            <p:cNvGrpSpPr>
              <a:grpSpLocks/>
            </p:cNvGrpSpPr>
            <p:nvPr/>
          </p:nvGrpSpPr>
          <p:grpSpPr bwMode="auto">
            <a:xfrm>
              <a:off x="3843338" y="2339975"/>
              <a:ext cx="5003800" cy="371475"/>
              <a:chOff x="3779838" y="3777928"/>
              <a:chExt cx="5185271" cy="371475"/>
            </a:xfrm>
          </p:grpSpPr>
          <p:sp>
            <p:nvSpPr>
              <p:cNvPr id="10" name="모서리가 둥근 직사각형 9"/>
              <p:cNvSpPr/>
              <p:nvPr/>
            </p:nvSpPr>
            <p:spPr>
              <a:xfrm>
                <a:off x="3779838" y="3777928"/>
                <a:ext cx="432654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6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271714" y="3789041"/>
                <a:ext cx="4693395" cy="3603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spcBef>
                    <a:spcPts val="600"/>
                  </a:spcBef>
                  <a:defRPr/>
                </a:pPr>
                <a:r>
                  <a:rPr lang="ko-KR" altLang="en-US" sz="1600" dirty="0"/>
                  <a:t>분산 시스템이므로 모든 </a:t>
                </a:r>
                <a:r>
                  <a:rPr lang="ko-KR" altLang="en-US" sz="1600" dirty="0" err="1"/>
                  <a:t>노드들은</a:t>
                </a:r>
                <a:r>
                  <a:rPr lang="ko-KR" altLang="en-US" sz="1600" dirty="0"/>
                  <a:t>  네트워킹과 관련된 작업을 수행할 </a:t>
                </a:r>
                <a:br>
                  <a:rPr lang="en-US" altLang="ko-KR" sz="1600" dirty="0"/>
                </a:br>
                <a:r>
                  <a:rPr lang="ko-KR" altLang="en-US" sz="1600" dirty="0"/>
                  <a:t>필요가 있음</a:t>
                </a:r>
                <a:r>
                  <a:rPr lang="en-US" altLang="ko-KR" sz="1600" dirty="0"/>
                  <a:t>. </a:t>
                </a:r>
              </a:p>
            </p:txBody>
          </p:sp>
          <p:pic>
            <p:nvPicPr>
              <p:cNvPr id="12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3" name="그룹 56"/>
            <p:cNvGrpSpPr>
              <a:grpSpLocks/>
            </p:cNvGrpSpPr>
            <p:nvPr/>
          </p:nvGrpSpPr>
          <p:grpSpPr bwMode="auto">
            <a:xfrm>
              <a:off x="3843338" y="2841625"/>
              <a:ext cx="5003800" cy="371475"/>
              <a:chOff x="3779838" y="3777928"/>
              <a:chExt cx="5185271" cy="371475"/>
            </a:xfrm>
          </p:grpSpPr>
          <p:sp>
            <p:nvSpPr>
              <p:cNvPr id="14" name="모서리가 둥근 직사각형 13"/>
              <p:cNvSpPr/>
              <p:nvPr/>
            </p:nvSpPr>
            <p:spPr>
              <a:xfrm>
                <a:off x="3779838" y="3777928"/>
                <a:ext cx="432654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6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4271714" y="3789041"/>
                <a:ext cx="4693395" cy="3603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spcBef>
                    <a:spcPts val="600"/>
                  </a:spcBef>
                  <a:defRPr/>
                </a:pPr>
                <a:r>
                  <a:rPr lang="ko-KR" altLang="en-US" sz="1600" dirty="0"/>
                  <a:t>사물인터넷에서 </a:t>
                </a:r>
                <a:r>
                  <a:rPr lang="en-US" altLang="ko-KR" sz="1600" dirty="0"/>
                  <a:t>RF </a:t>
                </a:r>
                <a:r>
                  <a:rPr lang="ko-KR" altLang="en-US" sz="1600" dirty="0"/>
                  <a:t>기반 네트워크는 대개 무선 멀티 홉 네트워크</a:t>
                </a:r>
                <a:br>
                  <a:rPr lang="en-US" altLang="ko-KR" sz="1600" dirty="0"/>
                </a:br>
                <a:r>
                  <a:rPr lang="en-US" altLang="ko-KR" sz="1600" dirty="0"/>
                  <a:t>(Wireless multi-hop network)</a:t>
                </a:r>
                <a:r>
                  <a:rPr lang="ko-KR" altLang="en-US" sz="1600" dirty="0"/>
                  <a:t>임</a:t>
                </a:r>
                <a:r>
                  <a:rPr lang="en-US" altLang="ko-KR" sz="1600" dirty="0"/>
                  <a:t>.</a:t>
                </a:r>
              </a:p>
            </p:txBody>
          </p:sp>
          <p:pic>
            <p:nvPicPr>
              <p:cNvPr id="16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7" name="그룹 23"/>
            <p:cNvGrpSpPr>
              <a:grpSpLocks/>
            </p:cNvGrpSpPr>
            <p:nvPr/>
          </p:nvGrpSpPr>
          <p:grpSpPr bwMode="auto">
            <a:xfrm>
              <a:off x="4322763" y="3273425"/>
              <a:ext cx="4535487" cy="982664"/>
              <a:chOff x="3635375" y="4789539"/>
              <a:chExt cx="4535697" cy="980673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3778257" y="4797463"/>
                <a:ext cx="4392815" cy="97274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en-US" altLang="ko-KR" sz="1600" dirty="0">
                    <a:latin typeface="+mn-ea"/>
                  </a:rPr>
                  <a:t>Wireless Sensor Networks(WSNs)</a:t>
                </a:r>
              </a:p>
              <a:p>
                <a:pPr marL="361950" indent="-180975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en-US" altLang="ko-KR" sz="1600" dirty="0">
                    <a:latin typeface="+mn-ea"/>
                  </a:rPr>
                  <a:t>Mobile Wireless Ad hoc Networks(MANETs)</a:t>
                </a:r>
              </a:p>
              <a:p>
                <a:pPr marL="361950" indent="-180975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en-US" altLang="ko-KR" sz="1600" dirty="0">
                    <a:latin typeface="+mn-ea"/>
                  </a:rPr>
                  <a:t>Wireless Mesh Networks(WMNs)</a:t>
                </a:r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3635375" y="4789539"/>
                <a:ext cx="360379" cy="359633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sz="2400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31242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1) Sensors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971600" y="2083668"/>
            <a:ext cx="7200800" cy="4441676"/>
            <a:chOff x="1063625" y="1867644"/>
            <a:chExt cx="5035550" cy="2857500"/>
          </a:xfrm>
        </p:grpSpPr>
        <p:grpSp>
          <p:nvGrpSpPr>
            <p:cNvPr id="4" name="그룹 56"/>
            <p:cNvGrpSpPr>
              <a:grpSpLocks/>
            </p:cNvGrpSpPr>
            <p:nvPr/>
          </p:nvGrpSpPr>
          <p:grpSpPr bwMode="auto">
            <a:xfrm>
              <a:off x="1063625" y="2367706"/>
              <a:ext cx="5035550" cy="371475"/>
              <a:chOff x="3779838" y="3777928"/>
              <a:chExt cx="5036032" cy="371475"/>
            </a:xfrm>
          </p:grpSpPr>
          <p:sp>
            <p:nvSpPr>
              <p:cNvPr id="5" name="모서리가 둥근 직사각형 4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4272010" y="3789041"/>
                <a:ext cx="4543860" cy="360362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ko-KR" altLang="en-US" dirty="0"/>
                  <a:t>주변 정보를 </a:t>
                </a:r>
                <a:r>
                  <a:rPr lang="ko-KR" altLang="en-US" dirty="0" err="1"/>
                  <a:t>센싱하고</a:t>
                </a:r>
                <a:r>
                  <a:rPr lang="ko-KR" altLang="en-US" dirty="0"/>
                  <a:t> 수집함</a:t>
                </a:r>
                <a:r>
                  <a:rPr lang="en-US" altLang="ko-KR" dirty="0"/>
                  <a:t>. </a:t>
                </a:r>
              </a:p>
            </p:txBody>
          </p:sp>
          <p:pic>
            <p:nvPicPr>
              <p:cNvPr id="7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" name="그룹 56"/>
            <p:cNvGrpSpPr>
              <a:grpSpLocks/>
            </p:cNvGrpSpPr>
            <p:nvPr/>
          </p:nvGrpSpPr>
          <p:grpSpPr bwMode="auto">
            <a:xfrm>
              <a:off x="1063625" y="1867644"/>
              <a:ext cx="5035550" cy="371475"/>
              <a:chOff x="3779838" y="3777928"/>
              <a:chExt cx="5036032" cy="371475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4272010" y="3789040"/>
                <a:ext cx="4543860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ko-KR" altLang="en-US" dirty="0"/>
                  <a:t>주로 입력 장치로 사용함</a:t>
                </a:r>
                <a:r>
                  <a:rPr lang="en-US" altLang="ko-KR" dirty="0"/>
                  <a:t>.</a:t>
                </a:r>
              </a:p>
            </p:txBody>
          </p:sp>
          <p:pic>
            <p:nvPicPr>
              <p:cNvPr id="11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모서리가 둥근 직사각형 11"/>
            <p:cNvSpPr/>
            <p:nvPr/>
          </p:nvSpPr>
          <p:spPr>
            <a:xfrm>
              <a:off x="2770188" y="2926506"/>
              <a:ext cx="1579562" cy="415925"/>
            </a:xfrm>
            <a:prstGeom prst="roundRect">
              <a:avLst>
                <a:gd name="adj" fmla="val 7161"/>
              </a:avLst>
            </a:prstGeom>
            <a:ln/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en-US" altLang="ko-KR" sz="2400" b="1" dirty="0">
                  <a:solidFill>
                    <a:schemeClr val="bg1"/>
                  </a:solidFill>
                  <a:latin typeface="+mn-ea"/>
                </a:rPr>
                <a:t>3 types of sensors</a:t>
              </a:r>
              <a:endParaRPr lang="ko-KR" altLang="en-US" sz="2400" b="1" dirty="0">
                <a:solidFill>
                  <a:schemeClr val="bg1"/>
                </a:solidFill>
                <a:latin typeface="+mn-ea"/>
              </a:endParaRPr>
            </a:p>
          </p:txBody>
        </p:sp>
        <p:cxnSp>
          <p:nvCxnSpPr>
            <p:cNvPr id="13" name="꺾인 연결선 12"/>
            <p:cNvCxnSpPr>
              <a:stCxn id="12" idx="2"/>
              <a:endCxn id="16" idx="0"/>
            </p:cNvCxnSpPr>
            <p:nvPr/>
          </p:nvCxnSpPr>
          <p:spPr>
            <a:xfrm rot="5400000">
              <a:off x="2555082" y="2643137"/>
              <a:ext cx="306388" cy="170497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꺾인 연결선 13"/>
            <p:cNvCxnSpPr>
              <a:stCxn id="12" idx="2"/>
              <a:endCxn id="18" idx="0"/>
            </p:cNvCxnSpPr>
            <p:nvPr/>
          </p:nvCxnSpPr>
          <p:spPr>
            <a:xfrm rot="16200000" flipH="1">
              <a:off x="4280694" y="2622500"/>
              <a:ext cx="306388" cy="174625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 14"/>
            <p:cNvCxnSpPr>
              <a:stCxn id="12" idx="2"/>
              <a:endCxn id="17" idx="0"/>
            </p:cNvCxnSpPr>
            <p:nvPr/>
          </p:nvCxnSpPr>
          <p:spPr>
            <a:xfrm rot="16200000" flipH="1">
              <a:off x="3413125" y="3490069"/>
              <a:ext cx="306388" cy="1111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모서리가 둥근 직사각형 15"/>
            <p:cNvSpPr/>
            <p:nvPr/>
          </p:nvSpPr>
          <p:spPr>
            <a:xfrm>
              <a:off x="1063625" y="3648819"/>
              <a:ext cx="1584325" cy="503237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수동적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(Passive), </a:t>
              </a: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전방향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en-US" altLang="ko-KR" sz="1600" dirty="0" err="1">
                  <a:solidFill>
                    <a:schemeClr val="tx1"/>
                  </a:solidFill>
                  <a:latin typeface="+mn-ea"/>
                </a:rPr>
                <a:t>Omnidirectional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2779713" y="3648819"/>
              <a:ext cx="1582737" cy="504825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수동적</a:t>
              </a: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(Passive), </a:t>
              </a:r>
              <a:br>
                <a:rPr lang="en-US" altLang="ko-KR" sz="1600" dirty="0"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좁은 영역 빔 센서</a:t>
              </a:r>
              <a:br>
                <a:rPr lang="en-US" altLang="ko-KR" sz="16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(Narrow-beam Sensor)</a:t>
              </a: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4514850" y="3648819"/>
              <a:ext cx="1584325" cy="503237"/>
            </a:xfrm>
            <a:prstGeom prst="roundRect">
              <a:avLst>
                <a:gd name="adj" fmla="val 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spcBef>
                  <a:spcPts val="600"/>
                </a:spcBef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능동적 센서</a:t>
              </a:r>
              <a:br>
                <a:rPr lang="en-US" altLang="ko-KR" sz="16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1600" dirty="0">
                  <a:solidFill>
                    <a:schemeClr val="tx1"/>
                  </a:solidFill>
                  <a:latin typeface="+mn-ea"/>
                </a:rPr>
                <a:t>(Active Sensors)</a:t>
              </a:r>
            </a:p>
          </p:txBody>
        </p:sp>
        <p:grpSp>
          <p:nvGrpSpPr>
            <p:cNvPr id="19" name="그룹 23"/>
            <p:cNvGrpSpPr>
              <a:grpSpLocks/>
            </p:cNvGrpSpPr>
            <p:nvPr/>
          </p:nvGrpSpPr>
          <p:grpSpPr bwMode="auto">
            <a:xfrm>
              <a:off x="4492625" y="4291756"/>
              <a:ext cx="1571625" cy="433388"/>
              <a:chOff x="3635375" y="4789539"/>
              <a:chExt cx="1571707" cy="432699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3778257" y="4797464"/>
                <a:ext cx="1428825" cy="4247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defRPr/>
                </a:pPr>
                <a:r>
                  <a:rPr lang="en-US" altLang="ko-KR" dirty="0">
                    <a:latin typeface="+mn-ea"/>
                  </a:rPr>
                  <a:t>Sonar, Radar etc</a:t>
                </a:r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3635375" y="4789539"/>
                <a:ext cx="360382" cy="35979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sz="2800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  <p:grpSp>
          <p:nvGrpSpPr>
            <p:cNvPr id="22" name="그룹 23"/>
            <p:cNvGrpSpPr>
              <a:grpSpLocks/>
            </p:cNvGrpSpPr>
            <p:nvPr/>
          </p:nvGrpSpPr>
          <p:grpSpPr bwMode="auto">
            <a:xfrm>
              <a:off x="2778125" y="4291756"/>
              <a:ext cx="1571625" cy="433388"/>
              <a:chOff x="3635375" y="4789539"/>
              <a:chExt cx="1571707" cy="432699"/>
            </a:xfrm>
          </p:grpSpPr>
          <p:sp>
            <p:nvSpPr>
              <p:cNvPr id="23" name="직사각형 22"/>
              <p:cNvSpPr/>
              <p:nvPr/>
            </p:nvSpPr>
            <p:spPr>
              <a:xfrm>
                <a:off x="3778257" y="4797464"/>
                <a:ext cx="1428825" cy="42477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defRPr/>
                </a:pPr>
                <a:r>
                  <a:rPr lang="en-US" altLang="ko-KR" dirty="0">
                    <a:latin typeface="+mn-ea"/>
                  </a:rPr>
                  <a:t>PIR</a:t>
                </a:r>
              </a:p>
            </p:txBody>
          </p:sp>
          <p:sp>
            <p:nvSpPr>
              <p:cNvPr id="24" name="타원 23"/>
              <p:cNvSpPr/>
              <p:nvPr/>
            </p:nvSpPr>
            <p:spPr>
              <a:xfrm>
                <a:off x="3635375" y="4789539"/>
                <a:ext cx="360382" cy="35979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sz="2800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5411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2) Actuators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929631" y="2060848"/>
            <a:ext cx="7098753" cy="2941231"/>
            <a:chOff x="1217663" y="2793512"/>
            <a:chExt cx="5035550" cy="1639887"/>
          </a:xfrm>
        </p:grpSpPr>
        <p:grpSp>
          <p:nvGrpSpPr>
            <p:cNvPr id="4" name="그룹 56"/>
            <p:cNvGrpSpPr>
              <a:grpSpLocks/>
            </p:cNvGrpSpPr>
            <p:nvPr/>
          </p:nvGrpSpPr>
          <p:grpSpPr bwMode="auto">
            <a:xfrm>
              <a:off x="1217663" y="3293574"/>
              <a:ext cx="5035550" cy="371475"/>
              <a:chOff x="3779838" y="3777928"/>
              <a:chExt cx="5036032" cy="371475"/>
            </a:xfrm>
          </p:grpSpPr>
          <p:sp>
            <p:nvSpPr>
              <p:cNvPr id="5" name="모서리가 둥근 직사각형 4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4272010" y="3789041"/>
                <a:ext cx="4543860" cy="360362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ko-KR" altLang="en-US" dirty="0"/>
                  <a:t>주변에 산재해 있음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  <p:pic>
            <p:nvPicPr>
              <p:cNvPr id="7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" name="그룹 56"/>
            <p:cNvGrpSpPr>
              <a:grpSpLocks/>
            </p:cNvGrpSpPr>
            <p:nvPr/>
          </p:nvGrpSpPr>
          <p:grpSpPr bwMode="auto">
            <a:xfrm>
              <a:off x="1217663" y="2793512"/>
              <a:ext cx="5035550" cy="371475"/>
              <a:chOff x="3779838" y="3777928"/>
              <a:chExt cx="5036032" cy="371475"/>
            </a:xfrm>
          </p:grpSpPr>
          <p:sp>
            <p:nvSpPr>
              <p:cNvPr id="9" name="모서리가 둥근 직사각형 8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40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4272010" y="3789040"/>
                <a:ext cx="4543860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ko-KR" altLang="en-US" dirty="0"/>
                  <a:t>주로 출력 장치로 사용함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  <p:pic>
            <p:nvPicPr>
              <p:cNvPr id="11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직사각형 11"/>
            <p:cNvSpPr>
              <a:spLocks noChangeArrowheads="1"/>
            </p:cNvSpPr>
            <p:nvPr/>
          </p:nvSpPr>
          <p:spPr bwMode="auto">
            <a:xfrm>
              <a:off x="1722488" y="3722199"/>
              <a:ext cx="4530725" cy="1879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ko-KR" altLang="en-US" dirty="0">
                  <a:latin typeface="+mn-ea"/>
                  <a:ea typeface="+mn-ea"/>
                </a:rPr>
                <a:t>사물을 움직이기 위해서 모터를 컨트롤함</a:t>
              </a:r>
              <a:r>
                <a:rPr lang="en-US" altLang="ko-KR" dirty="0">
                  <a:latin typeface="+mn-ea"/>
                  <a:ea typeface="+mn-ea"/>
                </a:rPr>
                <a:t>.</a:t>
              </a:r>
              <a:endParaRPr lang="ko-KR" altLang="en-US" dirty="0">
                <a:latin typeface="+mn-ea"/>
                <a:ea typeface="+mn-ea"/>
              </a:endParaRPr>
            </a:p>
          </p:txBody>
        </p:sp>
        <p:grpSp>
          <p:nvGrpSpPr>
            <p:cNvPr id="13" name="그룹 23"/>
            <p:cNvGrpSpPr>
              <a:grpSpLocks/>
            </p:cNvGrpSpPr>
            <p:nvPr/>
          </p:nvGrpSpPr>
          <p:grpSpPr bwMode="auto">
            <a:xfrm>
              <a:off x="1787576" y="4000012"/>
              <a:ext cx="3529012" cy="433387"/>
              <a:chOff x="3635375" y="4789539"/>
              <a:chExt cx="3528575" cy="432699"/>
            </a:xfrm>
          </p:grpSpPr>
          <p:sp>
            <p:nvSpPr>
              <p:cNvPr id="14" name="직사각형 13"/>
              <p:cNvSpPr/>
              <p:nvPr/>
            </p:nvSpPr>
            <p:spPr>
              <a:xfrm>
                <a:off x="3778232" y="4797463"/>
                <a:ext cx="3385718" cy="42477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tIns="46800" anchor="ctr"/>
              <a:lstStyle/>
              <a:p>
                <a:pPr marL="361950" indent="-180975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ko-KR" altLang="en-US" dirty="0">
                    <a:latin typeface="+mn-ea"/>
                  </a:rPr>
                  <a:t>조명</a:t>
                </a:r>
                <a:r>
                  <a:rPr lang="en-US" altLang="ko-KR" dirty="0">
                    <a:latin typeface="+mn-ea"/>
                  </a:rPr>
                  <a:t>/</a:t>
                </a:r>
                <a:r>
                  <a:rPr lang="ko-KR" altLang="en-US" dirty="0">
                    <a:latin typeface="+mn-ea"/>
                  </a:rPr>
                  <a:t>전등</a:t>
                </a:r>
                <a:r>
                  <a:rPr lang="en-US" altLang="ko-KR" dirty="0">
                    <a:latin typeface="+mn-ea"/>
                  </a:rPr>
                  <a:t>, </a:t>
                </a:r>
                <a:r>
                  <a:rPr lang="ko-KR" altLang="en-US" dirty="0">
                    <a:latin typeface="+mn-ea"/>
                  </a:rPr>
                  <a:t>스피커 등</a:t>
                </a:r>
                <a:endParaRPr lang="en-US" altLang="ko-KR" dirty="0">
                  <a:latin typeface="+mn-ea"/>
                </a:endParaRPr>
              </a:p>
              <a:p>
                <a:pPr marL="361950" indent="-180975">
                  <a:spcBef>
                    <a:spcPts val="600"/>
                  </a:spcBef>
                  <a:buFont typeface="Wingdings" pitchFamily="2" charset="2"/>
                  <a:buChar char="§"/>
                  <a:defRPr/>
                </a:pPr>
                <a:r>
                  <a:rPr lang="ko-KR" altLang="en-US" dirty="0">
                    <a:latin typeface="+mn-ea"/>
                  </a:rPr>
                  <a:t>메시지를 디스플레이 하는 전광판 등</a:t>
                </a:r>
              </a:p>
            </p:txBody>
          </p:sp>
          <p:sp>
            <p:nvSpPr>
              <p:cNvPr id="15" name="타원 14"/>
              <p:cNvSpPr/>
              <p:nvPr/>
            </p:nvSpPr>
            <p:spPr>
              <a:xfrm>
                <a:off x="3635375" y="4789539"/>
                <a:ext cx="360317" cy="35979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spcBef>
                    <a:spcPts val="600"/>
                  </a:spcBef>
                  <a:defRPr/>
                </a:pPr>
                <a:r>
                  <a:rPr lang="ko-KR" altLang="en-US" sz="2800" b="1" dirty="0">
                    <a:solidFill>
                      <a:schemeClr val="bg1"/>
                    </a:solidFill>
                    <a:latin typeface="+mn-ea"/>
                  </a:rPr>
                  <a:t>예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5997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키트</a:t>
            </a:r>
            <a:r>
              <a:rPr lang="en-US" altLang="ko-KR" dirty="0"/>
              <a:t>(Kit) </a:t>
            </a:r>
            <a:r>
              <a:rPr lang="ko-KR" altLang="en-US" dirty="0"/>
              <a:t>사례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88840"/>
            <a:ext cx="7200800" cy="4709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9832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통신 기술</a:t>
            </a:r>
            <a:endParaRPr lang="en-US" altLang="ko-KR" dirty="0"/>
          </a:p>
          <a:p>
            <a:pPr lvl="1"/>
            <a:r>
              <a:rPr lang="en-US" altLang="ko-KR" dirty="0" err="1"/>
              <a:t>WiFi</a:t>
            </a:r>
            <a:r>
              <a:rPr lang="en-US" altLang="ko-KR" dirty="0"/>
              <a:t>, Cellular : </a:t>
            </a:r>
            <a:r>
              <a:rPr lang="ko-KR" altLang="en-US" dirty="0"/>
              <a:t>사물인터넷 통신으로 사용하기에는 </a:t>
            </a:r>
            <a:r>
              <a:rPr lang="en-US" altLang="ko-KR" dirty="0"/>
              <a:t>too much power consumption</a:t>
            </a:r>
          </a:p>
          <a:p>
            <a:pPr lvl="1"/>
            <a:r>
              <a:rPr lang="en-US" altLang="ko-KR" dirty="0"/>
              <a:t>ZigBee, Bluetooth LE(BLE) </a:t>
            </a:r>
            <a:r>
              <a:rPr lang="ko-KR" altLang="en-US" dirty="0"/>
              <a:t>등의 저전력 무선 네트워킹 기술 등장</a:t>
            </a:r>
            <a:endParaRPr lang="en-US" altLang="ko-KR" dirty="0"/>
          </a:p>
          <a:p>
            <a:pPr lvl="1"/>
            <a:r>
              <a:rPr lang="ko-KR" altLang="en-US" dirty="0"/>
              <a:t>센서 정보 저장 최적화 기반 데이터 관리 기술 필요 </a:t>
            </a:r>
            <a:endParaRPr lang="en-US" altLang="ko-KR" dirty="0"/>
          </a:p>
          <a:p>
            <a:pPr lvl="2"/>
            <a:r>
              <a:rPr lang="en-US" altLang="ko-KR" dirty="0"/>
              <a:t>Query </a:t>
            </a:r>
            <a:r>
              <a:rPr lang="ko-KR" altLang="en-US" dirty="0"/>
              <a:t>및 데이터 관리를 위해 객체간 통신</a:t>
            </a:r>
            <a:r>
              <a:rPr lang="en-US" altLang="ko-KR" dirty="0"/>
              <a:t>/</a:t>
            </a:r>
            <a:r>
              <a:rPr lang="ko-KR" altLang="en-US" dirty="0"/>
              <a:t>데이터 전송이 빈번하게 발생</a:t>
            </a:r>
            <a:r>
              <a:rPr lang="en-US" altLang="ko-KR" dirty="0"/>
              <a:t>. </a:t>
            </a:r>
            <a:r>
              <a:rPr lang="ko-KR" altLang="en-US" dirty="0"/>
              <a:t>지능화된 </a:t>
            </a:r>
            <a:r>
              <a:rPr lang="en-US" altLang="ko-KR" dirty="0"/>
              <a:t>DB</a:t>
            </a:r>
            <a:r>
              <a:rPr lang="ko-KR" altLang="en-US" dirty="0"/>
              <a:t>관리 방법 필요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1186312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548630"/>
            <a:ext cx="7528446" cy="312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IEEE 802.15.4 : LR-WPAN(Low Rate Wireless Personal Area Network)</a:t>
            </a:r>
          </a:p>
          <a:p>
            <a:pPr lvl="1"/>
            <a:r>
              <a:rPr lang="en-US" altLang="ko-KR" dirty="0"/>
              <a:t>10m </a:t>
            </a:r>
            <a:r>
              <a:rPr lang="ko-KR" altLang="en-US" dirty="0"/>
              <a:t>이내 좁은 영역에서 사용하는 저전력</a:t>
            </a:r>
            <a:r>
              <a:rPr lang="en-US" altLang="ko-KR" dirty="0"/>
              <a:t>/</a:t>
            </a:r>
            <a:r>
              <a:rPr lang="ko-KR" altLang="en-US" dirty="0"/>
              <a:t>소형</a:t>
            </a:r>
            <a:r>
              <a:rPr lang="en-US" altLang="ko-KR" dirty="0"/>
              <a:t>/</a:t>
            </a:r>
            <a:r>
              <a:rPr lang="ko-KR" altLang="en-US" dirty="0"/>
              <a:t>저가 개인 무선 네트워크 기술</a:t>
            </a:r>
            <a:endParaRPr lang="en-US" altLang="ko-KR" dirty="0"/>
          </a:p>
          <a:p>
            <a:pPr lvl="1"/>
            <a:r>
              <a:rPr lang="en-US" altLang="ko-KR" dirty="0"/>
              <a:t>2.4GHz(World), 868MHz(EU), 915MHz(US) </a:t>
            </a:r>
            <a:r>
              <a:rPr lang="ko-KR" altLang="en-US" dirty="0"/>
              <a:t>대역 사용</a:t>
            </a:r>
            <a:endParaRPr lang="en-US" altLang="ko-KR" dirty="0"/>
          </a:p>
          <a:p>
            <a:pPr lvl="1"/>
            <a:r>
              <a:rPr lang="en-US" altLang="ko-KR" dirty="0"/>
              <a:t>CSMA/CA(Collision Avoidance)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11560" y="5517232"/>
            <a:ext cx="79928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>
            <a:off x="8284022" y="5517232"/>
            <a:ext cx="0" cy="5040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827584" y="5517232"/>
            <a:ext cx="0" cy="5040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24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altLang="ko-KR" dirty="0"/>
              <a:t>6LoWPAN (IPv6 over Low-Power Wireless Personal Area Networks), Adaptation</a:t>
            </a:r>
          </a:p>
          <a:p>
            <a:pPr lvl="1"/>
            <a:r>
              <a:rPr lang="en-US" altLang="ko-KR" dirty="0"/>
              <a:t>6LoWPAN</a:t>
            </a:r>
            <a:r>
              <a:rPr lang="ko-KR" altLang="en-US" dirty="0"/>
              <a:t>은 </a:t>
            </a:r>
            <a:r>
              <a:rPr lang="en-US" altLang="ko-KR" dirty="0"/>
              <a:t>L2 Layer</a:t>
            </a:r>
            <a:r>
              <a:rPr lang="ko-KR" altLang="en-US" dirty="0"/>
              <a:t>에 </a:t>
            </a:r>
            <a:r>
              <a:rPr lang="en-US" altLang="ko-KR" dirty="0"/>
              <a:t>IEEE 802.15.4</a:t>
            </a:r>
            <a:r>
              <a:rPr lang="ko-KR" altLang="en-US" dirty="0"/>
              <a:t>를 기반으로 하는 센서 네트워크 상에 </a:t>
            </a:r>
            <a:r>
              <a:rPr lang="en-US" altLang="ko-KR" dirty="0"/>
              <a:t>IPv6</a:t>
            </a:r>
            <a:r>
              <a:rPr lang="ko-KR" altLang="en-US" dirty="0"/>
              <a:t>를 지원하기 위한 이슈를 다루는 그룹</a:t>
            </a:r>
            <a:endParaRPr lang="en-US" altLang="ko-KR" dirty="0"/>
          </a:p>
          <a:p>
            <a:pPr lvl="1"/>
            <a:r>
              <a:rPr lang="en-US" altLang="ko-KR" dirty="0"/>
              <a:t>IPv4</a:t>
            </a:r>
            <a:r>
              <a:rPr lang="ko-KR" altLang="en-US" dirty="0"/>
              <a:t>가 아닌 </a:t>
            </a:r>
            <a:r>
              <a:rPr lang="en-US" altLang="ko-KR" dirty="0"/>
              <a:t>IPv6</a:t>
            </a:r>
            <a:r>
              <a:rPr lang="ko-KR" altLang="en-US" dirty="0"/>
              <a:t>를 채택한 이유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ZigBee</a:t>
            </a:r>
            <a:r>
              <a:rPr lang="ko-KR" altLang="en-US" dirty="0"/>
              <a:t>는 </a:t>
            </a:r>
            <a:r>
              <a:rPr lang="en-US" altLang="ko-KR" dirty="0"/>
              <a:t>open standard</a:t>
            </a:r>
            <a:r>
              <a:rPr lang="ko-KR" altLang="en-US" dirty="0"/>
              <a:t>가 아니고 </a:t>
            </a:r>
            <a:r>
              <a:rPr lang="en-US" altLang="ko-KR" dirty="0"/>
              <a:t>ZigBee Alliance</a:t>
            </a:r>
            <a:r>
              <a:rPr lang="ko-KR" altLang="en-US" dirty="0"/>
              <a:t>에 가입한 멤버에 한해 사용가능</a:t>
            </a:r>
            <a:endParaRPr lang="en-US" altLang="ko-KR" dirty="0"/>
          </a:p>
          <a:p>
            <a:r>
              <a:rPr lang="en-US" altLang="ko-KR" dirty="0"/>
              <a:t>6LoWPAN </a:t>
            </a:r>
            <a:r>
              <a:rPr lang="ko-KR" altLang="en-US" dirty="0"/>
              <a:t>고려사항</a:t>
            </a:r>
            <a:endParaRPr lang="en-US" altLang="ko-KR" dirty="0"/>
          </a:p>
          <a:p>
            <a:pPr lvl="1"/>
            <a:r>
              <a:rPr lang="en-US" altLang="ko-KR" dirty="0"/>
              <a:t>Small packet size : </a:t>
            </a:r>
            <a:r>
              <a:rPr lang="ko-KR" altLang="en-US" dirty="0"/>
              <a:t>헤더 제외하고 최대 </a:t>
            </a:r>
            <a:r>
              <a:rPr lang="en-US" altLang="ko-KR" dirty="0"/>
              <a:t>127byte</a:t>
            </a:r>
          </a:p>
          <a:p>
            <a:pPr lvl="1"/>
            <a:r>
              <a:rPr lang="en-US" altLang="ko-KR" dirty="0"/>
              <a:t>16</a:t>
            </a:r>
            <a:r>
              <a:rPr lang="ko-KR" altLang="en-US" dirty="0"/>
              <a:t>비트 </a:t>
            </a:r>
            <a:r>
              <a:rPr lang="ko-KR" altLang="en-US" dirty="0" err="1"/>
              <a:t>단축형</a:t>
            </a:r>
            <a:endParaRPr lang="en-US" altLang="ko-KR" dirty="0"/>
          </a:p>
          <a:p>
            <a:pPr lvl="1"/>
            <a:r>
              <a:rPr lang="en-US" altLang="ko-KR" dirty="0"/>
              <a:t>IEEE 802.15.4 </a:t>
            </a:r>
            <a:r>
              <a:rPr lang="ko-KR" altLang="en-US" dirty="0"/>
              <a:t>주파수 대역</a:t>
            </a:r>
            <a:r>
              <a:rPr lang="en-US" altLang="ko-KR" dirty="0"/>
              <a:t>, </a:t>
            </a:r>
            <a:r>
              <a:rPr lang="ko-KR" altLang="en-US" dirty="0"/>
              <a:t>데이터 전송률</a:t>
            </a:r>
            <a:endParaRPr lang="en-US" altLang="ko-KR" dirty="0"/>
          </a:p>
          <a:p>
            <a:pPr lvl="1"/>
            <a:r>
              <a:rPr lang="en-US" altLang="ko-KR" dirty="0"/>
              <a:t>Topology : start, mesh</a:t>
            </a:r>
          </a:p>
          <a:p>
            <a:pPr lvl="1"/>
            <a:r>
              <a:rPr lang="ko-KR" altLang="en-US" dirty="0"/>
              <a:t>저전력</a:t>
            </a:r>
            <a:r>
              <a:rPr lang="en-US" altLang="ko-KR" dirty="0"/>
              <a:t>, </a:t>
            </a:r>
            <a:r>
              <a:rPr lang="ko-KR" altLang="en-US" dirty="0"/>
              <a:t>저가</a:t>
            </a:r>
            <a:r>
              <a:rPr lang="en-US" altLang="ko-KR" dirty="0"/>
              <a:t>, </a:t>
            </a:r>
            <a:r>
              <a:rPr lang="ko-KR" altLang="en-US" dirty="0" err="1"/>
              <a:t>저신뢰성</a:t>
            </a:r>
            <a:r>
              <a:rPr lang="en-US" altLang="ko-KR" dirty="0"/>
              <a:t>, sleep mode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3500692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Bluetooth Low Energy (BLE) </a:t>
            </a:r>
            <a:r>
              <a:rPr lang="en-US" altLang="ko-KR" dirty="0"/>
              <a:t>is the </a:t>
            </a:r>
            <a:r>
              <a:rPr lang="en-US" altLang="ko-KR" dirty="0">
                <a:solidFill>
                  <a:srgbClr val="FF0000"/>
                </a:solidFill>
              </a:rPr>
              <a:t>solution</a:t>
            </a:r>
            <a:r>
              <a:rPr lang="en-US" altLang="ko-KR" dirty="0"/>
              <a:t> for </a:t>
            </a:r>
            <a:r>
              <a:rPr lang="en-US" altLang="ko-KR" dirty="0" err="1"/>
              <a:t>IoT</a:t>
            </a:r>
            <a:r>
              <a:rPr lang="en-US" altLang="ko-KR" dirty="0"/>
              <a:t> Sensor Nodes/Devices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3074" name="Picture 2" descr="Heart Rate Profile(HRP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405594"/>
            <a:ext cx="21907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roximity Profile(PXP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3405594"/>
            <a:ext cx="21907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Alert Notification Profile(ANP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405594"/>
            <a:ext cx="21907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55576" y="4643844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Heart Rate Profile         Proximity Profile            Alert Notification Profile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73262" y="5446965"/>
            <a:ext cx="6303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Bluetooth Smart </a:t>
            </a:r>
            <a:r>
              <a:rPr lang="en-US" altLang="ko-KR" dirty="0" err="1"/>
              <a:t>SensorTag</a:t>
            </a:r>
            <a:r>
              <a:rPr lang="en-US" altLang="ko-KR" dirty="0"/>
              <a:t> with </a:t>
            </a:r>
            <a:r>
              <a:rPr lang="en-US" altLang="ko-KR" dirty="0" err="1"/>
              <a:t>iBeacon</a:t>
            </a:r>
            <a:r>
              <a:rPr lang="en-US" altLang="ko-KR" dirty="0"/>
              <a:t> technology</a:t>
            </a:r>
          </a:p>
          <a:p>
            <a:pPr lvl="1"/>
            <a:r>
              <a:rPr lang="en-US" altLang="ko-KR" dirty="0">
                <a:hlinkClick r:id="rId5"/>
              </a:rPr>
              <a:t>https://www.youtube.com/watch?v=TvtrU9lCKmQ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82940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Bluesooth</a:t>
            </a:r>
            <a:r>
              <a:rPr lang="en-US" altLang="ko-KR" dirty="0"/>
              <a:t> Smart BLE IEEE 802.15.6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503435"/>
              </p:ext>
            </p:extLst>
          </p:nvPr>
        </p:nvGraphicFramePr>
        <p:xfrm>
          <a:off x="467544" y="1916832"/>
          <a:ext cx="8208912" cy="4973637"/>
        </p:xfrm>
        <a:graphic>
          <a:graphicData uri="http://schemas.openxmlformats.org/drawingml/2006/table">
            <a:tbl>
              <a:tblPr/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9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dirty="0">
                          <a:solidFill>
                            <a:srgbClr val="FFFFFF"/>
                          </a:solidFill>
                          <a:effectLst/>
                        </a:rPr>
                        <a:t>Bluetooth low energy</a:t>
                      </a:r>
                      <a:br>
                        <a:rPr lang="en-US" sz="1000" dirty="0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000" dirty="0">
                          <a:solidFill>
                            <a:srgbClr val="FFFFFF"/>
                          </a:solidFill>
                          <a:effectLst/>
                        </a:rPr>
                        <a:t>(Bluetooth Smart)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5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solidFill>
                            <a:srgbClr val="FFFFFF"/>
                          </a:solidFill>
                          <a:effectLst/>
                        </a:rPr>
                        <a:t>Dual Mode Bluetooth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5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solidFill>
                            <a:srgbClr val="FFFFFF"/>
                          </a:solidFill>
                          <a:effectLst/>
                        </a:rPr>
                        <a:t>Classic Bluetooth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5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620">
                <a:tc>
                  <a:txBody>
                    <a:bodyPr/>
                    <a:lstStyle/>
                    <a:p>
                      <a:pPr algn="ctr" fontAlgn="t"/>
                      <a:endParaRPr lang="en-US" altLang="ko-KR" sz="1000" dirty="0">
                        <a:effectLst/>
                      </a:endParaRPr>
                    </a:p>
                    <a:p>
                      <a:pPr algn="ctr" fontAlgn="t"/>
                      <a:endParaRPr lang="en-US" altLang="ko-KR" sz="1000" dirty="0">
                        <a:effectLst/>
                      </a:endParaRPr>
                    </a:p>
                    <a:p>
                      <a:pPr algn="ctr" fontAlgn="t"/>
                      <a:endParaRPr lang="en-US" altLang="ko-KR" sz="1000" dirty="0">
                        <a:effectLst/>
                      </a:endParaRPr>
                    </a:p>
                    <a:p>
                      <a:pPr algn="ctr" fontAlgn="t"/>
                      <a:endParaRPr lang="en-US" altLang="ko-KR" sz="1000" dirty="0">
                        <a:effectLst/>
                      </a:endParaRPr>
                    </a:p>
                    <a:p>
                      <a:pPr algn="ctr" fontAlgn="t"/>
                      <a:endParaRPr lang="en-US" altLang="ko-KR" sz="1000" dirty="0">
                        <a:effectLst/>
                      </a:endParaRPr>
                    </a:p>
                    <a:p>
                      <a:pPr algn="ctr" fontAlgn="t"/>
                      <a:endParaRPr lang="ko-KR" altLang="en-US" sz="1000" dirty="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ko-KR" altLang="en-US" sz="1000" dirty="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ko-KR" altLang="en-US" sz="1000" dirty="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256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Connect low power applications to a smart phone or tablet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dirty="0">
                          <a:effectLst/>
                        </a:rPr>
                        <a:t>Bluetooth connection across any end point (Bluetooth low energy or classic); enables bridge between Bluetooth low energy (Bluetooth Smart) and classic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>
                          <a:effectLst/>
                        </a:rPr>
                        <a:t>Bluetooth connection with high data rate (up to 3Mbps)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14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</a:rPr>
                        <a:t>TI Benefits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795"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Easy to design with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Low power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Integration, automotive qualification and extreme temperature support (125 C)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Best performance for optimized power consumption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Flexible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Proven solution and support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Best performance with reliable connection over 100m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Flexible</a:t>
                      </a: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>
                          <a:effectLst/>
                        </a:rPr>
                        <a:t>Proven solution and support</a:t>
                      </a: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4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</a:rPr>
                        <a:t>Product Offering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412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solidFill>
                            <a:srgbClr val="AA6666"/>
                          </a:solidFill>
                          <a:effectLst/>
                          <a:hlinkClick r:id="rId2"/>
                        </a:rPr>
                        <a:t>Bluetooth low energy (Bluetooth Smart) products</a:t>
                      </a:r>
                      <a:endParaRPr lang="en-US" sz="100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solidFill>
                            <a:srgbClr val="AA6666"/>
                          </a:solidFill>
                          <a:effectLst/>
                          <a:hlinkClick r:id="rId3"/>
                        </a:rPr>
                        <a:t>Dual mode Bluetooth products</a:t>
                      </a:r>
                      <a:endParaRPr lang="en-US" sz="100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u="none" strike="noStrike">
                          <a:solidFill>
                            <a:srgbClr val="AA6666"/>
                          </a:solidFill>
                          <a:effectLst/>
                          <a:hlinkClick r:id="rId4"/>
                        </a:rPr>
                        <a:t>Classic Bluetooth products</a:t>
                      </a:r>
                      <a:endParaRPr lang="en-US" sz="100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14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1000">
                          <a:solidFill>
                            <a:srgbClr val="333333"/>
                          </a:solidFill>
                          <a:effectLst/>
                        </a:rPr>
                        <a:t>Software Offering</a:t>
                      </a:r>
                    </a:p>
                  </a:txBody>
                  <a:tcPr marL="50288" marR="50288" marT="25144" marB="25144" anchor="ctr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7334"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 u="none" strike="noStrike" dirty="0">
                          <a:solidFill>
                            <a:srgbClr val="AA6666"/>
                          </a:solidFill>
                          <a:effectLst/>
                          <a:hlinkClick r:id="rId5"/>
                        </a:rPr>
                        <a:t>Bluetooth low energy (Bluetooth Smart)4.0 Stack</a:t>
                      </a:r>
                      <a:endParaRPr lang="en-US" sz="1000" dirty="0">
                        <a:effectLst/>
                      </a:endParaRPr>
                    </a:p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 u="none" strike="noStrike" dirty="0">
                          <a:solidFill>
                            <a:srgbClr val="AA6666"/>
                          </a:solidFill>
                          <a:effectLst/>
                          <a:hlinkClick r:id="rId6"/>
                        </a:rPr>
                        <a:t>Android and iOS app source code</a:t>
                      </a:r>
                      <a:endParaRPr lang="en-US" sz="1000" dirty="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 u="none" strike="noStrike">
                          <a:solidFill>
                            <a:srgbClr val="AA6666"/>
                          </a:solidFill>
                          <a:effectLst/>
                          <a:hlinkClick r:id="rId7"/>
                        </a:rPr>
                        <a:t>TI Bluetooth Stack: certified and royalty-free</a:t>
                      </a:r>
                      <a:endParaRPr lang="en-US" sz="100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Font typeface="Arial"/>
                        <a:buChar char="•"/>
                      </a:pPr>
                      <a:r>
                        <a:rPr lang="en-US" sz="1000" u="none" strike="noStrike" dirty="0">
                          <a:solidFill>
                            <a:srgbClr val="AA6666"/>
                          </a:solidFill>
                          <a:effectLst/>
                          <a:hlinkClick r:id="rId8"/>
                        </a:rPr>
                        <a:t>TI Bluetooth Stack: certified and royalty-free</a:t>
                      </a:r>
                      <a:endParaRPr lang="en-US" sz="1000" dirty="0">
                        <a:effectLst/>
                      </a:endParaRPr>
                    </a:p>
                  </a:txBody>
                  <a:tcPr marL="50288" marR="50288" marT="25144" marB="25144">
                    <a:lnL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AutoShape 2" descr="http://www.bluetooth.com/SiteCollectionImages/LogoBluetoothSmart.jpg"/>
          <p:cNvSpPr>
            <a:spLocks noChangeAspect="1" noChangeArrowheads="1"/>
          </p:cNvSpPr>
          <p:nvPr/>
        </p:nvSpPr>
        <p:spPr bwMode="auto">
          <a:xfrm>
            <a:off x="1743075" y="2267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AutoShape 3" descr="http://www.ti.com/lsds/media/images/wireless_connectivity/21477_WCS_Bluetooth_Smrt_Ready_logo.gif"/>
          <p:cNvSpPr>
            <a:spLocks noChangeAspect="1" noChangeArrowheads="1"/>
          </p:cNvSpPr>
          <p:nvPr/>
        </p:nvSpPr>
        <p:spPr bwMode="auto">
          <a:xfrm>
            <a:off x="1785938" y="2267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4" descr="http://www.ti.com/lsds/media/images/wireless_connectivity/21477_WCS_Bluetooth_logo.gif"/>
          <p:cNvSpPr>
            <a:spLocks noChangeAspect="1" noChangeArrowheads="1"/>
          </p:cNvSpPr>
          <p:nvPr/>
        </p:nvSpPr>
        <p:spPr bwMode="auto">
          <a:xfrm>
            <a:off x="2349500" y="2267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15" y="2276872"/>
            <a:ext cx="2134493" cy="928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283806"/>
            <a:ext cx="2186930" cy="951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208" y="2295418"/>
            <a:ext cx="2160240" cy="939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2670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센서 데이터 취득 및 표시</a:t>
            </a:r>
            <a:r>
              <a:rPr lang="en-US" altLang="ko-KR" dirty="0"/>
              <a:t>, </a:t>
            </a:r>
            <a:r>
              <a:rPr lang="ko-KR" altLang="en-US" dirty="0"/>
              <a:t>구현 사례</a:t>
            </a:r>
            <a:endParaRPr lang="en-US" altLang="ko-KR" dirty="0"/>
          </a:p>
          <a:p>
            <a:pPr lvl="1"/>
            <a:r>
              <a:rPr lang="en-US" altLang="ko-KR" dirty="0"/>
              <a:t>Bluetooth Smart </a:t>
            </a:r>
            <a:r>
              <a:rPr lang="en-US" altLang="ko-KR" dirty="0" err="1"/>
              <a:t>SensorTag</a:t>
            </a:r>
            <a:r>
              <a:rPr lang="en-US" altLang="ko-KR" dirty="0"/>
              <a:t>, How can You design?</a:t>
            </a:r>
          </a:p>
          <a:p>
            <a:pPr lvl="1"/>
            <a:r>
              <a:rPr lang="en-US" altLang="ko-KR" dirty="0">
                <a:hlinkClick r:id="rId2"/>
              </a:rPr>
              <a:t>https://www.youtube.com/watch?v=zPhjnN0HD2E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205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651" y="2780928"/>
            <a:ext cx="6962725" cy="39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9317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39552" y="1369506"/>
            <a:ext cx="8272090" cy="4939814"/>
            <a:chOff x="3857625" y="1214438"/>
            <a:chExt cx="5026025" cy="3380558"/>
          </a:xfrm>
        </p:grpSpPr>
        <p:sp>
          <p:nvSpPr>
            <p:cNvPr id="5" name="TextBox 4"/>
            <p:cNvSpPr txBox="1"/>
            <p:nvPr/>
          </p:nvSpPr>
          <p:spPr>
            <a:xfrm>
              <a:off x="3857625" y="1214438"/>
              <a:ext cx="2214563" cy="338055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>
                  <a:latin typeface="+mn-ea"/>
                  <a:ea typeface="+mn-ea"/>
                </a:rPr>
                <a:t>Dual Mode vs. Single Mode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>
                  <a:latin typeface="+mn-ea"/>
                  <a:ea typeface="+mn-ea"/>
                </a:rPr>
                <a:t>Low Energy</a:t>
              </a:r>
            </a:p>
            <a:p>
              <a:pPr marL="360363" indent="-177800" eaLnBrk="1" hangingPunct="1">
                <a:spcBef>
                  <a:spcPts val="600"/>
                </a:spcBef>
                <a:buFont typeface="맑은 고딕" pitchFamily="50" charset="-127"/>
                <a:buChar char="–"/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+mn-ea"/>
                  <a:ea typeface="+mn-ea"/>
                </a:rPr>
                <a:t>1% to 50% of Bluetooth classic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+mn-ea"/>
                  <a:ea typeface="+mn-ea"/>
                </a:rPr>
                <a:t>For short broadcast</a:t>
              </a:r>
            </a:p>
            <a:p>
              <a:pPr marL="360363" indent="-177800" eaLnBrk="1" hangingPunct="1">
                <a:spcBef>
                  <a:spcPts val="600"/>
                </a:spcBef>
                <a:buFont typeface="맑은 고딕" pitchFamily="50" charset="-127"/>
                <a:buChar char="–"/>
                <a:defRPr/>
              </a:pPr>
              <a:r>
                <a:rPr lang="en-US" altLang="ko-KR" dirty="0">
                  <a:latin typeface="+mn-ea"/>
                  <a:ea typeface="+mn-ea"/>
                </a:rPr>
                <a:t>Your body temperature, Heart rate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 err="1">
                  <a:latin typeface="+mn-ea"/>
                  <a:ea typeface="+mn-ea"/>
                </a:rPr>
                <a:t>Wearables</a:t>
              </a:r>
              <a:r>
                <a:rPr lang="en-US" altLang="ko-KR" dirty="0">
                  <a:latin typeface="+mn-ea"/>
                  <a:ea typeface="+mn-ea"/>
                </a:rPr>
                <a:t>, sensors, automotive, industrial. Not for voice/video, file transfers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+mn-ea"/>
                  <a:ea typeface="+mn-ea"/>
                </a:rPr>
                <a:t>Small messages</a:t>
              </a:r>
            </a:p>
            <a:p>
              <a:pPr marL="360363" indent="-177800" eaLnBrk="1" hangingPunct="1">
                <a:spcBef>
                  <a:spcPts val="600"/>
                </a:spcBef>
                <a:buFont typeface="맑은 고딕" pitchFamily="50" charset="-127"/>
                <a:buChar char="–"/>
                <a:defRPr/>
              </a:pPr>
              <a:r>
                <a:rPr lang="en-US" altLang="ko-KR" dirty="0">
                  <a:latin typeface="+mn-ea"/>
                  <a:ea typeface="+mn-ea"/>
                </a:rPr>
                <a:t>1Mbps data rate but throughput not critical</a:t>
              </a:r>
            </a:p>
            <a:p>
              <a:pPr marL="177800" indent="-177800" eaLnBrk="1" hangingPunct="1">
                <a:spcBef>
                  <a:spcPts val="600"/>
                </a:spcBef>
                <a:buFont typeface="Wingdings" pitchFamily="2" charset="2"/>
                <a:buChar char="l"/>
                <a:defRPr/>
              </a:pPr>
              <a:r>
                <a:rPr lang="en-US" altLang="ko-KR" dirty="0">
                  <a:solidFill>
                    <a:srgbClr val="FF0000"/>
                  </a:solidFill>
                  <a:latin typeface="+mn-ea"/>
                  <a:ea typeface="+mn-ea"/>
                </a:rPr>
                <a:t>Battery life</a:t>
              </a:r>
            </a:p>
            <a:p>
              <a:pPr marL="360363" indent="-177800" eaLnBrk="1" hangingPunct="1">
                <a:spcBef>
                  <a:spcPts val="600"/>
                </a:spcBef>
                <a:buFont typeface="맑은 고딕" pitchFamily="50" charset="-127"/>
                <a:buChar char="–"/>
                <a:defRPr/>
              </a:pPr>
              <a:r>
                <a:rPr lang="en-US" altLang="ko-KR" dirty="0">
                  <a:latin typeface="+mn-ea"/>
                  <a:ea typeface="+mn-ea"/>
                </a:rPr>
                <a:t>In years from coin cells</a:t>
              </a:r>
            </a:p>
          </p:txBody>
        </p:sp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83300" y="1285875"/>
              <a:ext cx="2800350" cy="2071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직사각형 1"/>
          <p:cNvSpPr/>
          <p:nvPr/>
        </p:nvSpPr>
        <p:spPr>
          <a:xfrm>
            <a:off x="4603435" y="4725144"/>
            <a:ext cx="3807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BLE : Dual Mode vs. Single Mode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960440" y="538599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>
                <a:solidFill>
                  <a:srgbClr val="FF0000"/>
                </a:solidFill>
              </a:rPr>
              <a:t>Simple: </a:t>
            </a:r>
            <a:r>
              <a:rPr lang="en-US" altLang="ko-KR" dirty="0"/>
              <a:t>Star topology. No scatter nets, mesh, …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dirty="0">
                <a:solidFill>
                  <a:srgbClr val="FF0000"/>
                </a:solidFill>
              </a:rPr>
              <a:t>Lower cost </a:t>
            </a:r>
            <a:r>
              <a:rPr lang="en-US" altLang="ko-KR" dirty="0"/>
              <a:t>than Bluetooth classic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683568" y="6372036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All new smart phones (iPhone, Android, …) have dual-mode chips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7579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661" y="4256651"/>
            <a:ext cx="7174755" cy="255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그룹 7"/>
          <p:cNvGrpSpPr/>
          <p:nvPr/>
        </p:nvGrpSpPr>
        <p:grpSpPr>
          <a:xfrm>
            <a:off x="611560" y="1487040"/>
            <a:ext cx="7855375" cy="2769611"/>
            <a:chOff x="749073" y="1343025"/>
            <a:chExt cx="5035550" cy="2379476"/>
          </a:xfrm>
        </p:grpSpPr>
        <p:grpSp>
          <p:nvGrpSpPr>
            <p:cNvPr id="9" name="그룹 56"/>
            <p:cNvGrpSpPr>
              <a:grpSpLocks/>
            </p:cNvGrpSpPr>
            <p:nvPr/>
          </p:nvGrpSpPr>
          <p:grpSpPr bwMode="auto">
            <a:xfrm>
              <a:off x="749073" y="1343025"/>
              <a:ext cx="5035550" cy="371475"/>
              <a:chOff x="3779838" y="3777928"/>
              <a:chExt cx="5036032" cy="371475"/>
            </a:xfrm>
          </p:grpSpPr>
          <p:sp>
            <p:nvSpPr>
              <p:cNvPr id="10" name="모서리가 둥근 직사각형 9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2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4272010" y="3789040"/>
                <a:ext cx="4543860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sz="1400" dirty="0"/>
                  <a:t>1 Packet Format, 2 Device Types : ‘</a:t>
                </a:r>
                <a:r>
                  <a:rPr lang="en-US" altLang="ko-KR" sz="1400" dirty="0">
                    <a:solidFill>
                      <a:srgbClr val="C00000"/>
                    </a:solidFill>
                  </a:rPr>
                  <a:t>Peripherals</a:t>
                </a:r>
                <a:r>
                  <a:rPr lang="en-US" altLang="ko-KR" sz="1400" dirty="0"/>
                  <a:t>’ simpler than ‘</a:t>
                </a:r>
                <a:r>
                  <a:rPr lang="en-US" altLang="ko-KR" sz="1400" dirty="0">
                    <a:solidFill>
                      <a:srgbClr val="C00000"/>
                    </a:solidFill>
                  </a:rPr>
                  <a:t>central</a:t>
                </a:r>
                <a:r>
                  <a:rPr lang="en-US" altLang="ko-KR" sz="1400" dirty="0"/>
                  <a:t>’</a:t>
                </a:r>
              </a:p>
            </p:txBody>
          </p:sp>
          <p:pic>
            <p:nvPicPr>
              <p:cNvPr id="12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" name="직사각형 12"/>
            <p:cNvSpPr>
              <a:spLocks noChangeArrowheads="1"/>
            </p:cNvSpPr>
            <p:nvPr/>
          </p:nvSpPr>
          <p:spPr bwMode="auto">
            <a:xfrm>
              <a:off x="1253898" y="2771775"/>
              <a:ext cx="4530725" cy="9507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sz="1400" dirty="0">
                  <a:latin typeface="+mn-ea"/>
                  <a:ea typeface="+mn-ea"/>
                </a:rPr>
                <a:t>To broadcast promiscuously</a:t>
              </a:r>
            </a:p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sz="1400" dirty="0">
                  <a:latin typeface="+mn-ea"/>
                  <a:ea typeface="+mn-ea"/>
                </a:rPr>
                <a:t>To transmit signed data to a previously bonded device</a:t>
              </a:r>
            </a:p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sz="1400" dirty="0">
                  <a:latin typeface="+mn-ea"/>
                  <a:ea typeface="+mn-ea"/>
                </a:rPr>
                <a:t>To advertise their presence to a device wanting to connect</a:t>
              </a:r>
            </a:p>
            <a:p>
              <a:pPr marL="182563" indent="-182563">
                <a:spcBef>
                  <a:spcPts val="600"/>
                </a:spcBef>
                <a:buFont typeface="Wingdings" pitchFamily="2" charset="2"/>
                <a:buChar char="§"/>
                <a:defRPr/>
              </a:pPr>
              <a:r>
                <a:rPr lang="en-US" altLang="ko-KR" sz="1400" dirty="0">
                  <a:latin typeface="+mn-ea"/>
                  <a:ea typeface="+mn-ea"/>
                </a:rPr>
                <a:t>To reconnect asynchronously due to a local event</a:t>
              </a:r>
            </a:p>
          </p:txBody>
        </p:sp>
        <p:grpSp>
          <p:nvGrpSpPr>
            <p:cNvPr id="14" name="그룹 56"/>
            <p:cNvGrpSpPr>
              <a:grpSpLocks/>
            </p:cNvGrpSpPr>
            <p:nvPr/>
          </p:nvGrpSpPr>
          <p:grpSpPr bwMode="auto">
            <a:xfrm>
              <a:off x="749073" y="1843087"/>
              <a:ext cx="5035550" cy="371475"/>
              <a:chOff x="3779838" y="3777928"/>
              <a:chExt cx="5036032" cy="371475"/>
            </a:xfrm>
          </p:grpSpPr>
          <p:sp>
            <p:nvSpPr>
              <p:cNvPr id="15" name="모서리가 둥근 직사각형 14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2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4272010" y="3789041"/>
                <a:ext cx="4543860" cy="360362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sz="1400" dirty="0"/>
                  <a:t>2 PDU Types : Advertising, Data channel</a:t>
                </a:r>
              </a:p>
            </p:txBody>
          </p:sp>
          <p:pic>
            <p:nvPicPr>
              <p:cNvPr id="17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8" name="그룹 56"/>
            <p:cNvGrpSpPr>
              <a:grpSpLocks/>
            </p:cNvGrpSpPr>
            <p:nvPr/>
          </p:nvGrpSpPr>
          <p:grpSpPr bwMode="auto">
            <a:xfrm>
              <a:off x="749073" y="2343150"/>
              <a:ext cx="5035550" cy="371475"/>
              <a:chOff x="3779838" y="3777928"/>
              <a:chExt cx="5036032" cy="371475"/>
            </a:xfrm>
          </p:grpSpPr>
          <p:sp>
            <p:nvSpPr>
              <p:cNvPr id="19" name="모서리가 둥근 직사각형 18"/>
              <p:cNvSpPr/>
              <p:nvPr/>
            </p:nvSpPr>
            <p:spPr>
              <a:xfrm>
                <a:off x="3779838" y="3777928"/>
                <a:ext cx="431841" cy="371475"/>
              </a:xfrm>
              <a:prstGeom prst="roundRect">
                <a:avLst/>
              </a:prstGeom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>
                  <a:spcBef>
                    <a:spcPts val="600"/>
                  </a:spcBef>
                  <a:defRPr/>
                </a:pPr>
                <a:endParaRPr lang="ko-KR" altLang="en-US" sz="3200" b="1" dirty="0">
                  <a:solidFill>
                    <a:schemeClr val="bg1"/>
                  </a:solidFill>
                  <a:latin typeface="돋움" pitchFamily="50" charset="-127"/>
                </a:endParaRPr>
              </a:p>
            </p:txBody>
          </p:sp>
          <p:sp>
            <p:nvSpPr>
              <p:cNvPr id="20" name="직사각형 19"/>
              <p:cNvSpPr/>
              <p:nvPr/>
            </p:nvSpPr>
            <p:spPr>
              <a:xfrm>
                <a:off x="4272010" y="3789040"/>
                <a:ext cx="4543860" cy="360363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>
                  <a:defRPr/>
                </a:pPr>
                <a:r>
                  <a:rPr lang="en-US" altLang="ko-KR" sz="1400" dirty="0"/>
                  <a:t>Devices can advertise for a variety of reasons</a:t>
                </a:r>
              </a:p>
            </p:txBody>
          </p:sp>
          <p:pic>
            <p:nvPicPr>
              <p:cNvPr id="21" name="Picture 36" descr="C:\Documents and Settings\신현아\바탕 화면\icon\1326275478_check.png"/>
              <p:cNvPicPr>
                <a:picLocks noChangeAspect="1" noChangeArrowheads="1"/>
              </p:cNvPicPr>
              <p:nvPr/>
            </p:nvPicPr>
            <p:blipFill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27463" y="3803898"/>
                <a:ext cx="340618" cy="3406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485438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Once a connection is made:</a:t>
            </a:r>
          </a:p>
          <a:p>
            <a:pPr lvl="1"/>
            <a:r>
              <a:rPr lang="en-US" altLang="ko-KR" dirty="0"/>
              <a:t>All subsequent transactions are performed in the 37 data channels</a:t>
            </a:r>
          </a:p>
          <a:p>
            <a:pPr lvl="1"/>
            <a:r>
              <a:rPr lang="en-US" altLang="ko-KR" dirty="0"/>
              <a:t>Transactions can be encrypted</a:t>
            </a:r>
          </a:p>
          <a:p>
            <a:pPr lvl="1"/>
            <a:r>
              <a:rPr lang="en-US" altLang="ko-KR" dirty="0"/>
              <a:t>Both devices can go into deep sleep between transactions</a:t>
            </a:r>
          </a:p>
          <a:p>
            <a:r>
              <a:rPr lang="en-US" altLang="ko-KR" dirty="0"/>
              <a:t>Assume an upper bound of 3ms per minimal transaction</a:t>
            </a:r>
          </a:p>
          <a:p>
            <a:pPr lvl="1"/>
            <a:r>
              <a:rPr lang="en-US" altLang="ko-KR" dirty="0"/>
              <a:t>21.6 M transactions using 180 </a:t>
            </a:r>
            <a:r>
              <a:rPr lang="en-US" altLang="ko-KR" dirty="0" err="1"/>
              <a:t>mAh</a:t>
            </a:r>
            <a:r>
              <a:rPr lang="en-US" altLang="ko-KR" dirty="0"/>
              <a:t> battery</a:t>
            </a:r>
          </a:p>
          <a:p>
            <a:pPr lvl="1"/>
            <a:r>
              <a:rPr lang="en-US" altLang="ko-KR" dirty="0"/>
              <a:t>41.1 years with 1 transaction/minute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196752"/>
            <a:ext cx="79152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4074344" y="609503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2.4GHz, ISM</a:t>
            </a:r>
          </a:p>
          <a:p>
            <a:r>
              <a:rPr lang="en-US" altLang="ko-KR" dirty="0"/>
              <a:t>40Channels on 2MHz spacing</a:t>
            </a:r>
            <a:endParaRPr lang="ko-KR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861048"/>
            <a:ext cx="6480720" cy="230035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20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BLE Protocol Stack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16832"/>
            <a:ext cx="6664318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05606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GAP </a:t>
            </a:r>
          </a:p>
          <a:p>
            <a:pPr lvl="1"/>
            <a:r>
              <a:rPr lang="ko-KR" altLang="en-US" dirty="0"/>
              <a:t>장치가 다른 장치들에게 어떻게 보여지도록 할 것인가</a:t>
            </a:r>
            <a:endParaRPr lang="en-US" altLang="ko-KR" dirty="0"/>
          </a:p>
          <a:p>
            <a:pPr lvl="1"/>
            <a:r>
              <a:rPr lang="ko-KR" altLang="en-US" dirty="0"/>
              <a:t>어떻게 두 장치를 연결할 것인가를 결정</a:t>
            </a:r>
            <a:endParaRPr lang="en-US" altLang="ko-KR" dirty="0"/>
          </a:p>
          <a:p>
            <a:pPr lvl="1"/>
            <a:r>
              <a:rPr lang="en-US" altLang="ko-KR" dirty="0"/>
              <a:t>GAP</a:t>
            </a:r>
            <a:r>
              <a:rPr lang="ko-KR" altLang="en-US" dirty="0"/>
              <a:t>은 장치가 맡을 수 있는 다양한 역할에 대해 정의함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E.g., Central vs. Peripheral</a:t>
            </a:r>
          </a:p>
          <a:p>
            <a:r>
              <a:rPr lang="en-US" altLang="ko-KR" dirty="0"/>
              <a:t>GATT</a:t>
            </a:r>
          </a:p>
          <a:p>
            <a:pPr lvl="1"/>
            <a:r>
              <a:rPr lang="ko-KR" altLang="en-US" dirty="0"/>
              <a:t>두 </a:t>
            </a:r>
            <a:r>
              <a:rPr lang="en-US" altLang="ko-KR" dirty="0"/>
              <a:t>BLE </a:t>
            </a:r>
            <a:r>
              <a:rPr lang="ko-KR" altLang="en-US" dirty="0"/>
              <a:t>장치간에 </a:t>
            </a:r>
            <a:r>
              <a:rPr lang="en-US" altLang="ko-KR" dirty="0"/>
              <a:t>Service, Characteristic</a:t>
            </a:r>
            <a:r>
              <a:rPr lang="ko-KR" altLang="en-US" dirty="0"/>
              <a:t>을 이용하여 데이터를 주고 받는 방법을 정의</a:t>
            </a:r>
            <a:endParaRPr lang="en-US" altLang="ko-KR" dirty="0"/>
          </a:p>
          <a:p>
            <a:pPr lvl="2"/>
            <a:r>
              <a:rPr lang="en-US" altLang="ko-KR" dirty="0"/>
              <a:t>Each attribute has a 16-bit UUID standardized by Bluetooth SIG</a:t>
            </a:r>
          </a:p>
          <a:p>
            <a:pPr lvl="2"/>
            <a:r>
              <a:rPr lang="en-US" altLang="ko-KR" dirty="0"/>
              <a:t>128-bit UUID if assigned by a manufacturer</a:t>
            </a:r>
          </a:p>
          <a:p>
            <a:pPr lvl="2"/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340768"/>
            <a:ext cx="68389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045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077" y="4273113"/>
            <a:ext cx="1743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타원 12"/>
          <p:cNvSpPr/>
          <p:nvPr/>
        </p:nvSpPr>
        <p:spPr>
          <a:xfrm>
            <a:off x="251520" y="4841803"/>
            <a:ext cx="4608512" cy="18002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sz="3200" dirty="0"/>
              <a:t>GATT Server</a:t>
            </a:r>
            <a:endParaRPr lang="ko-KR" altLang="en-US" sz="3200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GATT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71600" y="2033491"/>
            <a:ext cx="2880320" cy="3744416"/>
          </a:xfrm>
          <a:prstGeom prst="rect">
            <a:avLst/>
          </a:prstGeom>
          <a:ln w="3175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/>
              <a:t>Service</a:t>
            </a:r>
          </a:p>
          <a:p>
            <a:pPr algn="ctr"/>
            <a:endParaRPr lang="en-US" altLang="ko-KR" sz="36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115616" y="2681563"/>
            <a:ext cx="2592288" cy="1440160"/>
          </a:xfrm>
          <a:prstGeom prst="rect">
            <a:avLst/>
          </a:prstGeom>
          <a:solidFill>
            <a:schemeClr val="bg1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Characteristic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11660" y="3041603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511660" y="3401643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Descriptor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511660" y="3761683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Descriptor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115616" y="4265739"/>
            <a:ext cx="2592288" cy="1440160"/>
          </a:xfrm>
          <a:prstGeom prst="rect">
            <a:avLst/>
          </a:prstGeom>
          <a:solidFill>
            <a:schemeClr val="bg1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Characteristic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11660" y="4625779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Value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511660" y="4985819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Descriptor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511660" y="5345859"/>
            <a:ext cx="1800200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Descriptor</a:t>
            </a:r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5820351" y="3079570"/>
            <a:ext cx="3144137" cy="136422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GATT Client</a:t>
            </a:r>
            <a:endParaRPr lang="ko-KR" altLang="en-US" sz="3200" dirty="0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3995936" y="3761683"/>
            <a:ext cx="17281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16205" y="5774295"/>
            <a:ext cx="1493653" cy="83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05499"/>
            <a:ext cx="11811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47652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447484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/>
              <a:t>BLE</a:t>
            </a:r>
            <a:r>
              <a:rPr lang="ko-KR" altLang="en-US" dirty="0"/>
              <a:t> </a:t>
            </a:r>
            <a:r>
              <a:rPr lang="en-US" altLang="ko-KR" dirty="0"/>
              <a:t>GATT </a:t>
            </a:r>
          </a:p>
          <a:p>
            <a:pPr lvl="1"/>
            <a:r>
              <a:rPr lang="ko-KR" altLang="en-US" dirty="0"/>
              <a:t>프로파일</a:t>
            </a:r>
            <a:r>
              <a:rPr lang="en-US" altLang="ko-KR" dirty="0"/>
              <a:t>(Profile), </a:t>
            </a:r>
            <a:r>
              <a:rPr lang="ko-KR" altLang="en-US" dirty="0"/>
              <a:t>서비스</a:t>
            </a:r>
            <a:r>
              <a:rPr lang="en-US" altLang="ko-KR" dirty="0"/>
              <a:t>(Service), </a:t>
            </a:r>
            <a:r>
              <a:rPr lang="ko-KR" altLang="en-US" dirty="0"/>
              <a:t>특성</a:t>
            </a:r>
            <a:r>
              <a:rPr lang="en-US" altLang="ko-KR" dirty="0"/>
              <a:t>(Characteristic) </a:t>
            </a:r>
            <a:r>
              <a:rPr lang="ko-KR" altLang="en-US" dirty="0"/>
              <a:t>에 기초</a:t>
            </a:r>
            <a:endParaRPr lang="en-US" altLang="ko-KR" dirty="0"/>
          </a:p>
          <a:p>
            <a:r>
              <a:rPr lang="en-US" altLang="ko-KR" dirty="0"/>
              <a:t>Profile</a:t>
            </a:r>
          </a:p>
          <a:p>
            <a:pPr lvl="1"/>
            <a:r>
              <a:rPr lang="en-US" altLang="ko-KR" dirty="0"/>
              <a:t>Bluetooth SIG</a:t>
            </a:r>
            <a:r>
              <a:rPr lang="ko-KR" altLang="en-US" dirty="0"/>
              <a:t> 또는 </a:t>
            </a:r>
            <a:r>
              <a:rPr lang="en-US" altLang="ko-KR" dirty="0"/>
              <a:t> peripheral </a:t>
            </a:r>
            <a:r>
              <a:rPr lang="ko-KR" altLang="en-US" dirty="0"/>
              <a:t>설계자에 의해서 만들어진</a:t>
            </a:r>
            <a:r>
              <a:rPr lang="en-US" altLang="ko-KR" dirty="0"/>
              <a:t>, </a:t>
            </a:r>
            <a:r>
              <a:rPr lang="ko-KR" altLang="en-US" dirty="0"/>
              <a:t>미리 정의된 서비스의 묶음</a:t>
            </a:r>
            <a:endParaRPr lang="en-US" altLang="ko-KR" dirty="0"/>
          </a:p>
          <a:p>
            <a:r>
              <a:rPr lang="en-US" altLang="ko-KR" dirty="0"/>
              <a:t>E.g., Heart Rate Profile</a:t>
            </a:r>
          </a:p>
          <a:p>
            <a:pPr lvl="1"/>
            <a:r>
              <a:rPr lang="en-US" altLang="ko-KR" dirty="0"/>
              <a:t>Heart Rate Service(</a:t>
            </a:r>
            <a:r>
              <a:rPr lang="ko-KR" altLang="en-US" dirty="0"/>
              <a:t>필수</a:t>
            </a:r>
            <a:r>
              <a:rPr lang="en-US" altLang="ko-KR" dirty="0"/>
              <a:t>) +</a:t>
            </a:r>
            <a:r>
              <a:rPr lang="ko-KR" altLang="en-US" dirty="0"/>
              <a:t> </a:t>
            </a:r>
            <a:r>
              <a:rPr lang="en-US" altLang="ko-KR" dirty="0"/>
              <a:t>Device Information Service(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의 결합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16420376" descr="EMB000016a02c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76553"/>
            <a:ext cx="3819557" cy="46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3493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481328"/>
            <a:ext cx="4690864" cy="4525963"/>
          </a:xfrm>
        </p:spPr>
        <p:txBody>
          <a:bodyPr/>
          <a:lstStyle/>
          <a:p>
            <a:r>
              <a:rPr lang="en-US" altLang="ko-KR" dirty="0"/>
              <a:t>Service</a:t>
            </a:r>
          </a:p>
          <a:p>
            <a:pPr lvl="1"/>
            <a:r>
              <a:rPr lang="ko-KR" altLang="en-US" dirty="0"/>
              <a:t>데이터를 논리적인 단위로 나누는 역할</a:t>
            </a:r>
            <a:endParaRPr lang="en-US" altLang="ko-KR" dirty="0"/>
          </a:p>
          <a:p>
            <a:pPr lvl="1"/>
            <a:r>
              <a:rPr lang="en-US" altLang="ko-KR" dirty="0"/>
              <a:t>Characteristic </a:t>
            </a:r>
            <a:r>
              <a:rPr lang="ko-KR" altLang="en-US" dirty="0"/>
              <a:t>이란 데이터 단위를 하나 이상 포함</a:t>
            </a:r>
            <a:endParaRPr lang="en-US" altLang="ko-KR" dirty="0"/>
          </a:p>
          <a:p>
            <a:pPr lvl="1"/>
            <a:r>
              <a:rPr lang="ko-KR" altLang="en-US" dirty="0"/>
              <a:t>각 서비스는 </a:t>
            </a:r>
            <a:r>
              <a:rPr lang="en-US" altLang="ko-KR" dirty="0"/>
              <a:t>UUID</a:t>
            </a:r>
            <a:r>
              <a:rPr lang="ko-KR" altLang="en-US" dirty="0"/>
              <a:t>라 </a:t>
            </a:r>
            <a:r>
              <a:rPr lang="ko-KR" altLang="en-US" dirty="0" err="1"/>
              <a:t>불리우는</a:t>
            </a:r>
            <a:r>
              <a:rPr lang="ko-KR" altLang="en-US" dirty="0"/>
              <a:t> </a:t>
            </a:r>
            <a:r>
              <a:rPr lang="en-US" altLang="ko-KR" dirty="0"/>
              <a:t>16bit(for officially adopted BLE Services) </a:t>
            </a:r>
            <a:r>
              <a:rPr lang="ko-KR" altLang="en-US" dirty="0"/>
              <a:t>혹은 </a:t>
            </a:r>
            <a:r>
              <a:rPr lang="en-US" altLang="ko-KR" dirty="0"/>
              <a:t>128bit(for custom services) </a:t>
            </a:r>
            <a:r>
              <a:rPr lang="ko-KR" altLang="en-US" dirty="0" err="1"/>
              <a:t>구분자를</a:t>
            </a:r>
            <a:r>
              <a:rPr lang="ko-KR" altLang="en-US" dirty="0"/>
              <a:t> 가짐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_x216420376" descr="EMB000016a02c5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476553"/>
            <a:ext cx="3819557" cy="468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4205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GATT : Heart Rate Measurement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077" y="4273113"/>
            <a:ext cx="17430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타원 4"/>
          <p:cNvSpPr/>
          <p:nvPr/>
        </p:nvSpPr>
        <p:spPr>
          <a:xfrm>
            <a:off x="251520" y="4841803"/>
            <a:ext cx="4608512" cy="18002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sz="3200" dirty="0"/>
              <a:t>GATT Server</a:t>
            </a:r>
            <a:endParaRPr lang="ko-KR" altLang="en-US" sz="3200" dirty="0"/>
          </a:p>
        </p:txBody>
      </p:sp>
      <p:sp>
        <p:nvSpPr>
          <p:cNvPr id="6" name="직사각형 5"/>
          <p:cNvSpPr/>
          <p:nvPr/>
        </p:nvSpPr>
        <p:spPr>
          <a:xfrm>
            <a:off x="971600" y="2033491"/>
            <a:ext cx="2880320" cy="3744416"/>
          </a:xfrm>
          <a:prstGeom prst="rect">
            <a:avLst/>
          </a:prstGeom>
          <a:ln w="3175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/>
              <a:t>Heart Rate Service</a:t>
            </a:r>
          </a:p>
          <a:p>
            <a:pPr algn="ctr"/>
            <a:endParaRPr lang="en-US" altLang="ko-KR" sz="36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en-US" altLang="ko-KR" sz="2000" dirty="0"/>
              <a:t>…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115616" y="2681563"/>
            <a:ext cx="2592288" cy="720080"/>
          </a:xfrm>
          <a:prstGeom prst="rect">
            <a:avLst/>
          </a:prstGeom>
          <a:solidFill>
            <a:schemeClr val="bg1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Heart Rate Measurement</a:t>
            </a:r>
          </a:p>
        </p:txBody>
      </p:sp>
      <p:sp>
        <p:nvSpPr>
          <p:cNvPr id="15" name="타원 14"/>
          <p:cNvSpPr/>
          <p:nvPr/>
        </p:nvSpPr>
        <p:spPr>
          <a:xfrm>
            <a:off x="5820351" y="3079570"/>
            <a:ext cx="3144137" cy="1364226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GATT Client</a:t>
            </a:r>
            <a:endParaRPr lang="ko-KR" altLang="en-US" sz="3200" dirty="0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3995936" y="3761683"/>
            <a:ext cx="172819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16205" y="5774295"/>
            <a:ext cx="1493653" cy="83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05499"/>
            <a:ext cx="11811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직사각형 18"/>
          <p:cNvSpPr/>
          <p:nvPr/>
        </p:nvSpPr>
        <p:spPr>
          <a:xfrm>
            <a:off x="1115616" y="3501008"/>
            <a:ext cx="2592288" cy="720080"/>
          </a:xfrm>
          <a:prstGeom prst="rect">
            <a:avLst/>
          </a:prstGeom>
          <a:solidFill>
            <a:schemeClr val="bg1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Body Sensor Location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115616" y="4869160"/>
            <a:ext cx="2592288" cy="720080"/>
          </a:xfrm>
          <a:prstGeom prst="rect">
            <a:avLst/>
          </a:prstGeom>
          <a:solidFill>
            <a:schemeClr val="bg1"/>
          </a:solidFill>
          <a:ln w="25400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Other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195204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 descr="D:\BLE\Screenshot_2015-02-24-01-12-4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689981"/>
            <a:ext cx="2766486" cy="491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D:\BLE\Screenshot_2015-02-24-01-12-5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132856"/>
            <a:ext cx="2767847" cy="492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그룹 8"/>
          <p:cNvGrpSpPr/>
          <p:nvPr/>
        </p:nvGrpSpPr>
        <p:grpSpPr>
          <a:xfrm>
            <a:off x="4788024" y="1698095"/>
            <a:ext cx="5221269" cy="4423844"/>
            <a:chOff x="3455876" y="2245515"/>
            <a:chExt cx="6984776" cy="5535321"/>
          </a:xfrm>
        </p:grpSpPr>
        <p:pic>
          <p:nvPicPr>
            <p:cNvPr id="6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5876" y="2245515"/>
              <a:ext cx="6984776" cy="5535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직사각형 6"/>
            <p:cNvSpPr/>
            <p:nvPr/>
          </p:nvSpPr>
          <p:spPr>
            <a:xfrm>
              <a:off x="3455876" y="3613667"/>
              <a:ext cx="6480720" cy="288032"/>
            </a:xfrm>
            <a:prstGeom prst="rect">
              <a:avLst/>
            </a:prstGeom>
            <a:noFill/>
            <a:ln w="22225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455876" y="4149080"/>
              <a:ext cx="6480720" cy="576064"/>
            </a:xfrm>
            <a:prstGeom prst="rect">
              <a:avLst/>
            </a:prstGeom>
            <a:noFill/>
            <a:ln w="22225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4651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dirty="0"/>
              <a:t>Bluetooth (Classic) Profiles</a:t>
            </a:r>
          </a:p>
          <a:p>
            <a:pPr lvl="1"/>
            <a:r>
              <a:rPr lang="en-US" altLang="ko-KR" dirty="0"/>
              <a:t>Headset Profile</a:t>
            </a:r>
          </a:p>
          <a:p>
            <a:pPr lvl="1"/>
            <a:r>
              <a:rPr lang="en-US" altLang="ko-KR" dirty="0"/>
              <a:t>Global Navigation Satellite System Profile</a:t>
            </a:r>
          </a:p>
          <a:p>
            <a:pPr lvl="1"/>
            <a:r>
              <a:rPr lang="en-US" altLang="ko-KR" dirty="0"/>
              <a:t>Hands-Free Profile</a:t>
            </a:r>
          </a:p>
          <a:p>
            <a:pPr lvl="1"/>
            <a:r>
              <a:rPr lang="en-US" altLang="ko-KR" dirty="0"/>
              <a:t>Phone Book Access Profile</a:t>
            </a:r>
          </a:p>
          <a:p>
            <a:pPr lvl="1"/>
            <a:r>
              <a:rPr lang="en-US" altLang="ko-KR" dirty="0"/>
              <a:t>SIM Access Profile</a:t>
            </a:r>
          </a:p>
          <a:p>
            <a:pPr lvl="1"/>
            <a:r>
              <a:rPr lang="en-US" altLang="ko-KR" dirty="0"/>
              <a:t>Synchronization Profile</a:t>
            </a:r>
          </a:p>
          <a:p>
            <a:pPr lvl="1"/>
            <a:r>
              <a:rPr lang="en-US" altLang="ko-KR" dirty="0"/>
              <a:t>Video Distribution Profile</a:t>
            </a:r>
          </a:p>
          <a:p>
            <a:pPr lvl="1"/>
            <a:r>
              <a:rPr lang="en-US" altLang="ko-KR" dirty="0"/>
              <a:t>Blood Pressure Profile</a:t>
            </a:r>
          </a:p>
          <a:p>
            <a:pPr lvl="1"/>
            <a:r>
              <a:rPr lang="en-US" altLang="ko-KR" dirty="0"/>
              <a:t>Cycling Power Profile</a:t>
            </a:r>
          </a:p>
          <a:p>
            <a:pPr lvl="1"/>
            <a:r>
              <a:rPr lang="en-US" altLang="ko-KR" dirty="0"/>
              <a:t>Find Me Profile</a:t>
            </a:r>
          </a:p>
          <a:p>
            <a:pPr lvl="1"/>
            <a:r>
              <a:rPr lang="en-US" altLang="ko-KR" dirty="0"/>
              <a:t>Heart Rate Profile</a:t>
            </a:r>
          </a:p>
          <a:p>
            <a:pPr lvl="1"/>
            <a:r>
              <a:rPr lang="en-US" altLang="ko-KR" dirty="0"/>
              <a:t>Basic Printing Profile</a:t>
            </a:r>
          </a:p>
          <a:p>
            <a:pPr lvl="1"/>
            <a:r>
              <a:rPr lang="en-US" altLang="ko-KR" dirty="0"/>
              <a:t>Dial-Up Networking Profile</a:t>
            </a:r>
          </a:p>
          <a:p>
            <a:pPr lvl="1"/>
            <a:r>
              <a:rPr lang="en-US" altLang="ko-KR" dirty="0"/>
              <a:t>File Transfer Profile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3167876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BLE (IEEE 802.15.6) Profile </a:t>
            </a:r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/>
              <a:t>Blood Pressure Monitor(</a:t>
            </a:r>
            <a:r>
              <a:rPr lang="ko-KR" altLang="en-US" dirty="0"/>
              <a:t>혈압 모니터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Health Thermometer(</a:t>
            </a:r>
            <a:r>
              <a:rPr lang="ko-KR" altLang="en-US" dirty="0"/>
              <a:t>체온계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Health Weight Scale(</a:t>
            </a:r>
            <a:r>
              <a:rPr lang="ko-KR" altLang="en-US" dirty="0"/>
              <a:t>체중계</a:t>
            </a:r>
            <a:r>
              <a:rPr lang="en-US" altLang="ko-KR" dirty="0"/>
              <a:t>),</a:t>
            </a:r>
          </a:p>
          <a:p>
            <a:pPr lvl="1"/>
            <a:r>
              <a:rPr lang="en-US" altLang="ko-KR" dirty="0"/>
              <a:t>Pulse Oximeter(</a:t>
            </a:r>
            <a:r>
              <a:rPr lang="ko-KR" altLang="en-US" dirty="0"/>
              <a:t>맥박 산소포화도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Manufacture Information(</a:t>
            </a:r>
            <a:r>
              <a:rPr lang="ko-KR" altLang="en-US" dirty="0"/>
              <a:t>제조사 정보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Alert(</a:t>
            </a:r>
            <a:r>
              <a:rPr lang="ko-KR" altLang="en-US" dirty="0"/>
              <a:t>알림</a:t>
            </a:r>
            <a:r>
              <a:rPr lang="en-US" altLang="ko-KR" dirty="0"/>
              <a:t>),</a:t>
            </a:r>
          </a:p>
          <a:p>
            <a:pPr lvl="1"/>
            <a:r>
              <a:rPr lang="en-US" altLang="ko-KR" dirty="0"/>
              <a:t>Emergency(</a:t>
            </a:r>
            <a:r>
              <a:rPr lang="ko-KR" altLang="en-US" dirty="0"/>
              <a:t>비상경보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Find Me(</a:t>
            </a:r>
            <a:r>
              <a:rPr lang="ko-KR" altLang="en-US" dirty="0"/>
              <a:t>위치 검색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Net Availability(</a:t>
            </a:r>
            <a:r>
              <a:rPr lang="ko-KR" altLang="en-US" dirty="0"/>
              <a:t>네트워크 사용가능성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PUID(</a:t>
            </a:r>
            <a:r>
              <a:rPr lang="ko-KR" altLang="en-US" dirty="0"/>
              <a:t>개인 사용자 인터페이스 디바이스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Proximity(</a:t>
            </a:r>
            <a:r>
              <a:rPr lang="ko-KR" altLang="en-US" dirty="0"/>
              <a:t>근접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Soft Button(</a:t>
            </a:r>
            <a:r>
              <a:rPr lang="ko-KR" altLang="en-US" dirty="0"/>
              <a:t>소프트 버튼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Time(</a:t>
            </a:r>
            <a:r>
              <a:rPr lang="ko-KR" altLang="en-US" dirty="0"/>
              <a:t>시간</a:t>
            </a:r>
            <a:r>
              <a:rPr lang="en-US" altLang="ko-KR" dirty="0"/>
              <a:t>) </a:t>
            </a:r>
            <a:r>
              <a:rPr lang="ko-KR" altLang="en-US" dirty="0"/>
              <a:t>등이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4222110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BLE (IEEE 802.15.6) Profile </a:t>
            </a:r>
            <a:r>
              <a:rPr lang="ko-KR" altLang="en-US" dirty="0"/>
              <a:t>예시</a:t>
            </a:r>
            <a:endParaRPr lang="en-US" altLang="ko-KR" dirty="0"/>
          </a:p>
          <a:p>
            <a:pPr lvl="1"/>
            <a:r>
              <a:rPr lang="en-US" altLang="ko-KR" dirty="0"/>
              <a:t>Simple Remote Control(</a:t>
            </a:r>
            <a:r>
              <a:rPr lang="ko-KR" altLang="en-US" dirty="0"/>
              <a:t>단순 </a:t>
            </a:r>
            <a:r>
              <a:rPr lang="ko-KR" altLang="en-US" dirty="0" err="1"/>
              <a:t>리모트</a:t>
            </a:r>
            <a:r>
              <a:rPr lang="ko-KR" altLang="en-US" dirty="0"/>
              <a:t> 컨트롤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Battery Status(</a:t>
            </a:r>
            <a:r>
              <a:rPr lang="ko-KR" altLang="en-US" dirty="0"/>
              <a:t>배터리 상태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Device Power(</a:t>
            </a:r>
            <a:r>
              <a:rPr lang="ko-KR" altLang="en-US" dirty="0"/>
              <a:t>디바이스 전력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Generic Input/Output(</a:t>
            </a:r>
            <a:r>
              <a:rPr lang="ko-KR" altLang="en-US" dirty="0"/>
              <a:t>일반 입</a:t>
            </a:r>
            <a:r>
              <a:rPr lang="en-US" altLang="ko-KR" dirty="0"/>
              <a:t>/</a:t>
            </a:r>
            <a:r>
              <a:rPr lang="ko-KR" altLang="en-US" dirty="0"/>
              <a:t>출력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Humidity(</a:t>
            </a:r>
            <a:r>
              <a:rPr lang="ko-KR" altLang="en-US" dirty="0"/>
              <a:t>습도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HVAC(</a:t>
            </a:r>
            <a:r>
              <a:rPr lang="ko-KR" altLang="en-US" dirty="0"/>
              <a:t>공조시스템</a:t>
            </a:r>
            <a:r>
              <a:rPr lang="en-US" altLang="ko-KR" dirty="0"/>
              <a:t>),</a:t>
            </a:r>
          </a:p>
          <a:p>
            <a:pPr lvl="1"/>
            <a:r>
              <a:rPr lang="en-US" altLang="ko-KR" dirty="0"/>
              <a:t>Location(</a:t>
            </a:r>
            <a:r>
              <a:rPr lang="ko-KR" altLang="en-US" dirty="0"/>
              <a:t>위치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Temperature(</a:t>
            </a:r>
            <a:r>
              <a:rPr lang="ko-KR" altLang="en-US" dirty="0"/>
              <a:t>온도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Watchdog(</a:t>
            </a:r>
            <a:r>
              <a:rPr lang="ko-KR" altLang="en-US" dirty="0"/>
              <a:t>감시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HID(</a:t>
            </a:r>
            <a:r>
              <a:rPr lang="ko-KR" altLang="en-US" dirty="0"/>
              <a:t>휴먼 인터페이스 디바이스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Heart Rate Monitor(</a:t>
            </a:r>
            <a:r>
              <a:rPr lang="ko-KR" altLang="en-US" dirty="0" err="1"/>
              <a:t>심박모니터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Physical Activity Monitor(</a:t>
            </a:r>
            <a:r>
              <a:rPr lang="ko-KR" altLang="en-US" dirty="0"/>
              <a:t>신체 활동 모니터</a:t>
            </a:r>
            <a:r>
              <a:rPr lang="en-US" altLang="ko-KR" dirty="0"/>
              <a:t>), </a:t>
            </a:r>
          </a:p>
          <a:p>
            <a:pPr lvl="1"/>
            <a:r>
              <a:rPr lang="en-US" altLang="ko-KR" dirty="0"/>
              <a:t>Glucose Meter(</a:t>
            </a:r>
            <a:r>
              <a:rPr lang="ko-KR" altLang="en-US" dirty="0"/>
              <a:t>혈당 측정기</a:t>
            </a:r>
            <a:r>
              <a:rPr lang="en-US" altLang="ko-KR" dirty="0"/>
              <a:t>),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3718518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3610744" cy="4525963"/>
          </a:xfrm>
        </p:spPr>
        <p:txBody>
          <a:bodyPr/>
          <a:lstStyle/>
          <a:p>
            <a:r>
              <a:rPr lang="en-US" altLang="ko-KR" dirty="0"/>
              <a:t>TI CC2541</a:t>
            </a:r>
          </a:p>
          <a:p>
            <a:pPr lvl="1"/>
            <a:r>
              <a:rPr lang="en-US" altLang="ko-KR" dirty="0" err="1"/>
              <a:t>SimpleLink</a:t>
            </a:r>
            <a:r>
              <a:rPr lang="en-US" altLang="ko-KR" dirty="0"/>
              <a:t> Bluetooth Smart and Proprietary Wireless MCU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2050" name="Picture 2" descr="SimpleLink Bluetooth Smart and Proprietary Wireless MCU - CC25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01008"/>
            <a:ext cx="3201014" cy="233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ti.com/ds_dgm/images/fbd_swrs110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764704"/>
            <a:ext cx="3987070" cy="564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46529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en-US" altLang="ko-KR" dirty="0"/>
              <a:t>(Arduino)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09" y="2276872"/>
            <a:ext cx="4772791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https://labitat.dk/w/images/6/63/ArduinoID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631897"/>
            <a:ext cx="4635872" cy="4864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7462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6" descr="http://cal-eng.com/wp-content/uploads/2012/01/Arduino-IDE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4999"/>
            <a:ext cx="40925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150" y="987425"/>
            <a:ext cx="32766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8" descr="http://startingelectronics.com/software/arduino/installing-arduino-software-windows-7/arduino-install-1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808113"/>
            <a:ext cx="4267200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39515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4" descr="http://a248.e.akamai.net/origin-cdn.volusion.com/qckue.anmjc/v/vspfiles/photos/ADA-1105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8" y="1738313"/>
            <a:ext cx="4762500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5192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 err="1"/>
              <a:t>라즈베리파이는</a:t>
            </a:r>
            <a:r>
              <a:rPr lang="ko-KR" altLang="en-US" dirty="0"/>
              <a:t> </a:t>
            </a:r>
            <a:r>
              <a:rPr lang="en-US" altLang="ko-KR" dirty="0"/>
              <a:t>17</a:t>
            </a:r>
            <a:r>
              <a:rPr lang="ko-KR" altLang="en-US" dirty="0"/>
              <a:t>개 </a:t>
            </a:r>
            <a:r>
              <a:rPr lang="en-US" altLang="ko-KR" dirty="0"/>
              <a:t>GPIO </a:t>
            </a:r>
            <a:r>
              <a:rPr lang="ko-KR" altLang="en-US" dirty="0"/>
              <a:t>핀 활용</a:t>
            </a:r>
            <a:endParaRPr lang="en-US" altLang="ko-KR" dirty="0"/>
          </a:p>
          <a:p>
            <a:pPr lvl="1"/>
            <a:r>
              <a:rPr lang="en-US" altLang="ko-KR" dirty="0"/>
              <a:t>UART</a:t>
            </a:r>
            <a:r>
              <a:rPr lang="ko-KR" altLang="en-US" dirty="0"/>
              <a:t>를 위한 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pin</a:t>
            </a:r>
          </a:p>
          <a:p>
            <a:pPr lvl="1"/>
            <a:r>
              <a:rPr lang="en-US" altLang="ko-KR" dirty="0"/>
              <a:t>I2C</a:t>
            </a:r>
            <a:r>
              <a:rPr lang="ko-KR" altLang="en-US" dirty="0"/>
              <a:t>를 위한 </a:t>
            </a:r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pin</a:t>
            </a:r>
          </a:p>
          <a:p>
            <a:pPr lvl="1"/>
            <a:r>
              <a:rPr lang="en-US" altLang="ko-KR" dirty="0"/>
              <a:t>SPI</a:t>
            </a:r>
            <a:r>
              <a:rPr lang="ko-KR" altLang="en-US" dirty="0"/>
              <a:t>를 위한 </a:t>
            </a:r>
            <a:r>
              <a:rPr lang="en-US" altLang="ko-KR" dirty="0"/>
              <a:t>6</a:t>
            </a:r>
            <a:r>
              <a:rPr lang="ko-KR" altLang="en-US" dirty="0"/>
              <a:t>개 </a:t>
            </a:r>
            <a:r>
              <a:rPr lang="en-US" altLang="ko-KR" dirty="0"/>
              <a:t>pin</a:t>
            </a:r>
          </a:p>
          <a:p>
            <a:r>
              <a:rPr lang="ko-KR" altLang="en-US" dirty="0"/>
              <a:t>모든 </a:t>
            </a:r>
            <a:r>
              <a:rPr lang="en-US" altLang="ko-KR" dirty="0"/>
              <a:t>17</a:t>
            </a:r>
            <a:r>
              <a:rPr lang="ko-KR" altLang="en-US" dirty="0"/>
              <a:t>개 </a:t>
            </a:r>
            <a:r>
              <a:rPr lang="en-US" altLang="ko-KR" dirty="0"/>
              <a:t>pin</a:t>
            </a:r>
            <a:r>
              <a:rPr lang="ko-KR" altLang="en-US" dirty="0"/>
              <a:t>은 모두 </a:t>
            </a:r>
            <a:r>
              <a:rPr lang="en-US" altLang="ko-KR" dirty="0"/>
              <a:t>GPIO</a:t>
            </a:r>
            <a:r>
              <a:rPr lang="ko-KR" altLang="en-US" dirty="0"/>
              <a:t>로 사용 가능</a:t>
            </a:r>
            <a:endParaRPr lang="en-US" altLang="ko-KR" dirty="0"/>
          </a:p>
          <a:p>
            <a:pPr lvl="1"/>
            <a:r>
              <a:rPr lang="ko-KR" altLang="en-US" dirty="0"/>
              <a:t>입력 </a:t>
            </a:r>
            <a:r>
              <a:rPr lang="en-US" altLang="ko-KR" dirty="0"/>
              <a:t>or </a:t>
            </a:r>
            <a:r>
              <a:rPr lang="ko-KR" altLang="en-US" dirty="0"/>
              <a:t>출력 가능</a:t>
            </a:r>
            <a:endParaRPr lang="en-US" altLang="ko-KR" dirty="0"/>
          </a:p>
          <a:p>
            <a:pPr lvl="1"/>
            <a:r>
              <a:rPr lang="ko-KR" altLang="en-US" dirty="0"/>
              <a:t>모든 핀은 인터럽트를 지원함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pin</a:t>
            </a:r>
            <a:r>
              <a:rPr lang="ko-KR" altLang="en-US" dirty="0"/>
              <a:t>에 대해서 </a:t>
            </a:r>
            <a:r>
              <a:rPr lang="en-US" altLang="ko-KR" dirty="0"/>
              <a:t>Pull-up </a:t>
            </a:r>
            <a:r>
              <a:rPr lang="ko-KR" altLang="en-US" dirty="0"/>
              <a:t>및 </a:t>
            </a:r>
            <a:r>
              <a:rPr lang="en-US" altLang="ko-KR" dirty="0"/>
              <a:t>pull-down </a:t>
            </a:r>
            <a:r>
              <a:rPr lang="ko-KR" altLang="en-US" dirty="0"/>
              <a:t>저항 지원</a:t>
            </a:r>
            <a:endParaRPr lang="en-US" altLang="ko-KR" dirty="0"/>
          </a:p>
          <a:p>
            <a:r>
              <a:rPr lang="ko-KR" altLang="en-US" dirty="0" err="1"/>
              <a:t>라즈베리에서</a:t>
            </a:r>
            <a:r>
              <a:rPr lang="ko-KR" altLang="en-US" dirty="0"/>
              <a:t> 각 </a:t>
            </a:r>
            <a:r>
              <a:rPr lang="en-US" altLang="ko-KR" dirty="0"/>
              <a:t>Pin</a:t>
            </a:r>
            <a:r>
              <a:rPr lang="ko-KR" altLang="en-US" dirty="0"/>
              <a:t>은 </a:t>
            </a:r>
            <a:r>
              <a:rPr lang="en-US" altLang="ko-KR" dirty="0"/>
              <a:t>3.3V</a:t>
            </a:r>
            <a:r>
              <a:rPr lang="ko-KR" altLang="en-US" dirty="0"/>
              <a:t>로 동작함</a:t>
            </a:r>
            <a:endParaRPr lang="en-US" altLang="ko-KR" dirty="0"/>
          </a:p>
          <a:p>
            <a:pPr lvl="1"/>
            <a:r>
              <a:rPr lang="ko-KR" altLang="en-US" dirty="0" err="1"/>
              <a:t>아두이노에서는</a:t>
            </a:r>
            <a:r>
              <a:rPr lang="ko-KR" altLang="en-US" dirty="0"/>
              <a:t> </a:t>
            </a:r>
            <a:r>
              <a:rPr lang="en-US" altLang="ko-KR" dirty="0"/>
              <a:t>Pin</a:t>
            </a:r>
            <a:r>
              <a:rPr lang="ko-KR" altLang="en-US" dirty="0"/>
              <a:t>은 </a:t>
            </a:r>
            <a:r>
              <a:rPr lang="en-US" altLang="ko-KR" dirty="0"/>
              <a:t>5V</a:t>
            </a:r>
            <a:r>
              <a:rPr lang="ko-KR" altLang="en-US" dirty="0"/>
              <a:t>로 동작</a:t>
            </a:r>
            <a:endParaRPr lang="en-US" altLang="ko-KR" dirty="0"/>
          </a:p>
          <a:p>
            <a:pPr lvl="1"/>
            <a:r>
              <a:rPr lang="ko-KR" altLang="en-US" dirty="0"/>
              <a:t>최대 허용되는 </a:t>
            </a:r>
            <a:r>
              <a:rPr lang="ko-KR" altLang="en-US" dirty="0" err="1"/>
              <a:t>전류량은</a:t>
            </a:r>
            <a:r>
              <a:rPr lang="ko-KR" altLang="en-US" dirty="0"/>
              <a:t> </a:t>
            </a:r>
            <a:r>
              <a:rPr lang="en-US" altLang="ko-KR" dirty="0"/>
              <a:t>50mA</a:t>
            </a:r>
            <a:r>
              <a:rPr lang="ko-KR" altLang="en-US" dirty="0"/>
              <a:t> 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 descr="4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887" y="3789040"/>
            <a:ext cx="4240585" cy="2759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249682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내용 개체 틀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1439632"/>
            <a:ext cx="6192688" cy="537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955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619" y="1844824"/>
            <a:ext cx="2520280" cy="3673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https://projects.drogon.net/wp-content/uploads/2012/06/1led_gpio_bb1-267x3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680052"/>
            <a:ext cx="4060673" cy="4561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6" descr="File:GPIO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698029"/>
            <a:ext cx="2016224" cy="461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23606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GPIO  </a:t>
            </a:r>
            <a:r>
              <a:rPr lang="ko-KR" altLang="en-US" dirty="0"/>
              <a:t>접근방법 </a:t>
            </a:r>
            <a:r>
              <a:rPr lang="en-US" altLang="ko-KR" dirty="0"/>
              <a:t>2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ko-KR" altLang="en-US" dirty="0"/>
              <a:t>파일 시스템을 통한 </a:t>
            </a:r>
            <a:r>
              <a:rPr lang="en-US" altLang="ko-KR" dirty="0"/>
              <a:t>file-type access</a:t>
            </a:r>
            <a:r>
              <a:rPr lang="ko-KR" altLang="en-US" dirty="0"/>
              <a:t> 방식</a:t>
            </a:r>
            <a:endParaRPr lang="en-US" altLang="ko-KR" dirty="0"/>
          </a:p>
          <a:p>
            <a:pPr lvl="1"/>
            <a:r>
              <a:rPr lang="en-US" altLang="ko-KR" dirty="0" err="1"/>
              <a:t>SoC</a:t>
            </a:r>
            <a:r>
              <a:rPr lang="en-US" altLang="ko-KR" dirty="0"/>
              <a:t> </a:t>
            </a:r>
            <a:r>
              <a:rPr lang="ko-KR" altLang="en-US" dirty="0"/>
              <a:t>메모리 레이아웃에 기반한 주변기기 </a:t>
            </a:r>
            <a:r>
              <a:rPr lang="en-US" altLang="ko-KR" dirty="0"/>
              <a:t>GPIO port</a:t>
            </a:r>
            <a:r>
              <a:rPr lang="ko-KR" altLang="en-US" dirty="0"/>
              <a:t>에 데이터를 </a:t>
            </a:r>
            <a:r>
              <a:rPr lang="en-US" altLang="ko-KR" dirty="0"/>
              <a:t>access </a:t>
            </a:r>
            <a:r>
              <a:rPr lang="ko-KR" altLang="en-US" dirty="0"/>
              <a:t>방식</a:t>
            </a:r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113597" y="3140969"/>
            <a:ext cx="4578822" cy="3139321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#!/bin/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sh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echo 17 &gt; /sys/class/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gpio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/export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echo out &gt; /sys/class/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gpio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/gpio17/direction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while true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do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        echo 1 &gt; /sys/class/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gpio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/gpio17/value</a:t>
            </a:r>
          </a:p>
          <a:p>
            <a:pPr>
              <a:buFont typeface="Arial" pitchFamily="34" charset="0"/>
              <a:buNone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       sleep 1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        echo 0 &gt; /sys/class/</a:t>
            </a:r>
            <a:r>
              <a:rPr lang="en-US" altLang="ko-KR" dirty="0" err="1">
                <a:latin typeface="Arial" pitchFamily="34" charset="0"/>
                <a:ea typeface="굴림" pitchFamily="50" charset="-127"/>
                <a:cs typeface="Arial" pitchFamily="34" charset="0"/>
              </a:rPr>
              <a:t>gpio</a:t>
            </a: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/gpio17/value</a:t>
            </a:r>
          </a:p>
          <a:p>
            <a:pPr>
              <a:buFont typeface="Arial" pitchFamily="34" charset="0"/>
              <a:buNone/>
            </a:pP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        sleep 1</a:t>
            </a:r>
            <a:b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</a:br>
            <a:r>
              <a:rPr lang="en-US" altLang="ko-KR" dirty="0">
                <a:latin typeface="Arial" pitchFamily="34" charset="0"/>
                <a:ea typeface="굴림" pitchFamily="50" charset="-127"/>
                <a:cs typeface="Arial" pitchFamily="34" charset="0"/>
              </a:rPr>
              <a:t>done</a:t>
            </a:r>
          </a:p>
          <a:p>
            <a:endParaRPr lang="ko-KR" altLang="en-US" dirty="0">
              <a:ea typeface="굴림" pitchFamily="50" charset="-127"/>
              <a:cs typeface="Arial" pitchFamily="34" charset="0"/>
            </a:endParaRPr>
          </a:p>
        </p:txBody>
      </p:sp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4692419" y="3140968"/>
            <a:ext cx="4128053" cy="336707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#include &lt;</a:t>
            </a:r>
            <a:r>
              <a:rPr lang="en-US" altLang="ko-KR" sz="1400" dirty="0" err="1">
                <a:ea typeface="굴림" pitchFamily="50" charset="-127"/>
              </a:rPr>
              <a:t>stdio.h</a:t>
            </a:r>
            <a:r>
              <a:rPr lang="en-US" altLang="ko-KR" sz="1400" dirty="0">
                <a:ea typeface="굴림" pitchFamily="50" charset="-127"/>
              </a:rPr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#include &lt;</a:t>
            </a:r>
            <a:r>
              <a:rPr lang="en-US" altLang="ko-KR" sz="1400" dirty="0" err="1">
                <a:ea typeface="굴림" pitchFamily="50" charset="-127"/>
              </a:rPr>
              <a:t>wiringPi.h</a:t>
            </a:r>
            <a:r>
              <a:rPr lang="en-US" altLang="ko-KR" sz="1400" dirty="0">
                <a:ea typeface="굴림" pitchFamily="50" charset="-127"/>
              </a:rPr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ko-KR" sz="1400" dirty="0">
              <a:ea typeface="굴림" pitchFamily="50" charset="-127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// LED Pin - </a:t>
            </a:r>
            <a:r>
              <a:rPr lang="en-US" altLang="ko-KR" sz="1400" dirty="0" err="1">
                <a:ea typeface="굴림" pitchFamily="50" charset="-127"/>
              </a:rPr>
              <a:t>wiringPi</a:t>
            </a:r>
            <a:r>
              <a:rPr lang="en-US" altLang="ko-KR" sz="1400" dirty="0">
                <a:ea typeface="굴림" pitchFamily="50" charset="-127"/>
              </a:rPr>
              <a:t> pin 0 is BCM_GPIO 17.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#define LED     0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ko-KR" sz="1400" dirty="0">
              <a:ea typeface="굴림" pitchFamily="50" charset="-127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 err="1">
                <a:ea typeface="굴림" pitchFamily="50" charset="-127"/>
              </a:rPr>
              <a:t>int</a:t>
            </a:r>
            <a:r>
              <a:rPr lang="en-US" altLang="ko-KR" sz="1400" dirty="0">
                <a:ea typeface="굴림" pitchFamily="50" charset="-127"/>
              </a:rPr>
              <a:t> main (void) {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</a:t>
            </a:r>
            <a:r>
              <a:rPr lang="en-US" altLang="ko-KR" sz="1400" dirty="0" err="1">
                <a:ea typeface="굴림" pitchFamily="50" charset="-127"/>
              </a:rPr>
              <a:t>printf</a:t>
            </a:r>
            <a:r>
              <a:rPr lang="en-US" altLang="ko-KR" sz="1400" dirty="0">
                <a:ea typeface="굴림" pitchFamily="50" charset="-127"/>
              </a:rPr>
              <a:t> ("Raspberry Pi blink\n") 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</a:t>
            </a:r>
            <a:r>
              <a:rPr lang="en-US" altLang="ko-KR" sz="1400" dirty="0" err="1">
                <a:ea typeface="굴림" pitchFamily="50" charset="-127"/>
              </a:rPr>
              <a:t>wiringPiSetup</a:t>
            </a:r>
            <a:r>
              <a:rPr lang="en-US" altLang="ko-KR" sz="1400" dirty="0">
                <a:ea typeface="굴림" pitchFamily="50" charset="-127"/>
              </a:rPr>
              <a:t> () ; 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</a:t>
            </a:r>
            <a:r>
              <a:rPr lang="en-US" altLang="ko-KR" sz="1400" dirty="0" err="1">
                <a:ea typeface="굴림" pitchFamily="50" charset="-127"/>
              </a:rPr>
              <a:t>pinMode</a:t>
            </a:r>
            <a:r>
              <a:rPr lang="en-US" altLang="ko-KR" sz="1400" dirty="0">
                <a:ea typeface="굴림" pitchFamily="50" charset="-127"/>
              </a:rPr>
              <a:t> (LED, OUTPUT) 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n-US" altLang="ko-KR" sz="1400" dirty="0">
              <a:ea typeface="굴림" pitchFamily="50" charset="-127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for (;;) {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  </a:t>
            </a:r>
            <a:r>
              <a:rPr lang="en-US" altLang="ko-KR" sz="1400" dirty="0" err="1">
                <a:ea typeface="굴림" pitchFamily="50" charset="-127"/>
              </a:rPr>
              <a:t>digitalWrite</a:t>
            </a:r>
            <a:r>
              <a:rPr lang="en-US" altLang="ko-KR" sz="1400" dirty="0">
                <a:ea typeface="굴림" pitchFamily="50" charset="-127"/>
              </a:rPr>
              <a:t> (LED, HIGH) ;  // On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  delay (500) ;                        // </a:t>
            </a:r>
            <a:r>
              <a:rPr lang="en-US" altLang="ko-KR" sz="1400" dirty="0" err="1">
                <a:ea typeface="굴림" pitchFamily="50" charset="-127"/>
              </a:rPr>
              <a:t>mS</a:t>
            </a:r>
            <a:endParaRPr lang="en-US" altLang="ko-KR" sz="1400" dirty="0">
              <a:ea typeface="굴림" pitchFamily="50" charset="-127"/>
            </a:endParaRP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  </a:t>
            </a:r>
            <a:r>
              <a:rPr lang="en-US" altLang="ko-KR" sz="1400" dirty="0" err="1">
                <a:ea typeface="굴림" pitchFamily="50" charset="-127"/>
              </a:rPr>
              <a:t>digitalWrite</a:t>
            </a:r>
            <a:r>
              <a:rPr lang="en-US" altLang="ko-KR" sz="1400" dirty="0">
                <a:ea typeface="굴림" pitchFamily="50" charset="-127"/>
              </a:rPr>
              <a:t> (LED, LOW) ;   // Off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  delay (500) 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}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  return 0 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ko-KR" sz="1400" dirty="0">
                <a:ea typeface="굴림" pitchFamily="50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39869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4800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343400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88148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://www.icbank.com/icbank_data/image/board/2013/23113183-908B-4898-866A-8FA4F05CE9F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88" y="2708920"/>
            <a:ext cx="5340128" cy="3545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</a:t>
            </a:r>
            <a:r>
              <a:rPr lang="en-US" altLang="ko-KR" dirty="0"/>
              <a:t>Analog </a:t>
            </a:r>
            <a:r>
              <a:rPr lang="ko-KR" altLang="en-US" dirty="0"/>
              <a:t>센서 데이터 읽기</a:t>
            </a:r>
            <a:endParaRPr lang="en-US" altLang="ko-KR" dirty="0"/>
          </a:p>
          <a:p>
            <a:pPr lvl="1"/>
            <a:r>
              <a:rPr lang="ko-KR" altLang="en-US" dirty="0"/>
              <a:t>외부 </a:t>
            </a:r>
            <a:r>
              <a:rPr lang="en-US" altLang="ko-KR" dirty="0"/>
              <a:t>ADC, MCP3208 </a:t>
            </a:r>
            <a:r>
              <a:rPr lang="ko-KR" altLang="en-US" dirty="0"/>
              <a:t>활용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23" y="2359745"/>
            <a:ext cx="2566511" cy="1756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38" y="4348163"/>
            <a:ext cx="3708082" cy="250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05211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SPI (Serial Peripheral Interface)</a:t>
            </a:r>
          </a:p>
          <a:p>
            <a:pPr lvl="1"/>
            <a:r>
              <a:rPr lang="en-US" altLang="ko-KR" dirty="0"/>
              <a:t>Serial data communication, full duplex </a:t>
            </a:r>
          </a:p>
          <a:p>
            <a:pPr lvl="1"/>
            <a:r>
              <a:rPr lang="ko-KR" altLang="en-US" dirty="0" err="1"/>
              <a:t>라즈베리파이가</a:t>
            </a:r>
            <a:r>
              <a:rPr lang="ko-KR" altLang="en-US" dirty="0"/>
              <a:t> 마스터</a:t>
            </a:r>
            <a:r>
              <a:rPr lang="en-US" altLang="ko-KR" dirty="0"/>
              <a:t> MCP3208 </a:t>
            </a:r>
            <a:r>
              <a:rPr lang="ko-KR" altLang="en-US" dirty="0"/>
              <a:t>이 </a:t>
            </a:r>
            <a:r>
              <a:rPr lang="ko-KR" altLang="en-US" dirty="0" err="1"/>
              <a:t>슬레이브임</a:t>
            </a:r>
            <a:endParaRPr lang="en-US" altLang="ko-KR" dirty="0"/>
          </a:p>
          <a:p>
            <a:pPr lvl="1"/>
            <a:r>
              <a:rPr lang="ko-KR" altLang="en-US" dirty="0" err="1"/>
              <a:t>라즈베리파이가</a:t>
            </a:r>
            <a:r>
              <a:rPr lang="ko-KR" altLang="en-US" dirty="0"/>
              <a:t> </a:t>
            </a:r>
            <a:r>
              <a:rPr lang="ko-KR" altLang="en-US" dirty="0" err="1"/>
              <a:t>슬레이브에게</a:t>
            </a:r>
            <a:r>
              <a:rPr lang="ko-KR" altLang="en-US" dirty="0"/>
              <a:t> 명령을 날려주면 그에 해당되는 값을 반환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 descr="C:\Users\chh\Desktop\t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429719"/>
            <a:ext cx="825182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93892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2031082"/>
            <a:ext cx="8039100" cy="348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71401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Timing diagram for SPI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 descr="http://www.icbank.com/icbank_data/image/board/2013/8CB9ECFE-504B-4CD9-80DC-C3953575A8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027584"/>
            <a:ext cx="7051675" cy="384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22918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Raspberry Pi </a:t>
            </a:r>
            <a:r>
              <a:rPr lang="ko-KR" altLang="en-US" dirty="0"/>
              <a:t>에 </a:t>
            </a:r>
            <a:r>
              <a:rPr lang="ko-KR" altLang="en-US" dirty="0" err="1"/>
              <a:t>웹서버</a:t>
            </a:r>
            <a:r>
              <a:rPr lang="en-US" altLang="ko-KR" dirty="0"/>
              <a:t>/DB</a:t>
            </a:r>
            <a:r>
              <a:rPr lang="ko-KR" altLang="en-US" dirty="0"/>
              <a:t>서버</a:t>
            </a:r>
            <a:r>
              <a:rPr lang="en-US" altLang="ko-KR" dirty="0"/>
              <a:t>/PHP </a:t>
            </a:r>
            <a:r>
              <a:rPr lang="ko-KR" altLang="en-US" dirty="0"/>
              <a:t>등 설치</a:t>
            </a:r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apt-get update –fix-missing</a:t>
            </a:r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apt-get install apache2 php5 php5-mysql </a:t>
            </a:r>
            <a:r>
              <a:rPr lang="en-US" altLang="ko-KR" dirty="0" err="1"/>
              <a:t>mysql</a:t>
            </a:r>
            <a:r>
              <a:rPr lang="en-US" altLang="ko-KR" dirty="0"/>
              <a:t>-server</a:t>
            </a:r>
          </a:p>
          <a:p>
            <a:pPr lvl="1"/>
            <a:r>
              <a:rPr lang="en-US" altLang="ko-KR" dirty="0"/>
              <a:t>$</a:t>
            </a:r>
            <a:r>
              <a:rPr lang="ko-KR" altLang="en-US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apachectl</a:t>
            </a:r>
            <a:r>
              <a:rPr lang="en-US" altLang="ko-KR" dirty="0"/>
              <a:t> start</a:t>
            </a:r>
          </a:p>
          <a:p>
            <a:r>
              <a:rPr lang="ko-KR" altLang="en-US" dirty="0"/>
              <a:t>설치 후 웹 브라우저를 통한 접속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http://192.168.1.</a:t>
            </a:r>
            <a:r>
              <a:rPr lang="en-US" altLang="ko-KR" dirty="0"/>
              <a:t>x </a:t>
            </a:r>
            <a:r>
              <a:rPr lang="ko-KR" altLang="en-US" dirty="0"/>
              <a:t>또는 </a:t>
            </a:r>
            <a:r>
              <a:rPr lang="en-US" altLang="ko-KR" dirty="0"/>
              <a:t>http://localhost/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365104"/>
            <a:ext cx="5469607" cy="246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6006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PHP </a:t>
            </a:r>
            <a:r>
              <a:rPr lang="ko-KR" altLang="en-US" dirty="0"/>
              <a:t>테스트</a:t>
            </a:r>
            <a:endParaRPr lang="en-US" altLang="ko-KR" dirty="0"/>
          </a:p>
          <a:p>
            <a:pPr lvl="1"/>
            <a:r>
              <a:rPr lang="en-US" altLang="ko-KR" dirty="0"/>
              <a:t>$ cd /</a:t>
            </a:r>
            <a:r>
              <a:rPr lang="en-US" altLang="ko-KR" dirty="0" err="1"/>
              <a:t>var</a:t>
            </a:r>
            <a:r>
              <a:rPr lang="en-US" altLang="ko-KR" dirty="0"/>
              <a:t>/www</a:t>
            </a:r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vi </a:t>
            </a:r>
            <a:r>
              <a:rPr lang="en-US" altLang="ko-KR" dirty="0" err="1"/>
              <a:t>phptest.php</a:t>
            </a:r>
            <a:r>
              <a:rPr lang="en-US" altLang="ko-KR" dirty="0"/>
              <a:t>’</a:t>
            </a:r>
          </a:p>
          <a:p>
            <a:pPr lvl="1"/>
            <a:r>
              <a:rPr lang="en-US" altLang="ko-KR" dirty="0"/>
              <a:t>&lt;?</a:t>
            </a:r>
            <a:r>
              <a:rPr lang="en-US" altLang="ko-KR" dirty="0" err="1"/>
              <a:t>php</a:t>
            </a:r>
            <a:r>
              <a:rPr lang="en-US" altLang="ko-KR" dirty="0"/>
              <a:t> </a:t>
            </a:r>
            <a:r>
              <a:rPr lang="en-US" altLang="ko-KR" dirty="0" err="1"/>
              <a:t>phpinfo</a:t>
            </a:r>
            <a:r>
              <a:rPr lang="en-US" altLang="ko-KR" dirty="0"/>
              <a:t>(); ?&gt;</a:t>
            </a:r>
          </a:p>
          <a:p>
            <a:r>
              <a:rPr lang="ko-KR" altLang="en-US" dirty="0"/>
              <a:t>저장 후 </a:t>
            </a:r>
            <a:r>
              <a:rPr lang="en-US" altLang="ko-KR" dirty="0">
                <a:hlinkClick r:id="rId2"/>
              </a:rPr>
              <a:t>http://192.168.0.x/phptest.php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http://localhost/phptest.php</a:t>
            </a:r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005064"/>
            <a:ext cx="4064298" cy="2802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23723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ko-KR" dirty="0" err="1"/>
              <a:t>Wordpress</a:t>
            </a:r>
            <a:r>
              <a:rPr lang="en-US" altLang="ko-KR" dirty="0"/>
              <a:t> (CMS)</a:t>
            </a:r>
            <a:r>
              <a:rPr lang="ko-KR" altLang="en-US" dirty="0"/>
              <a:t> 설치</a:t>
            </a:r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wordpress</a:t>
            </a:r>
            <a:endParaRPr lang="en-US" altLang="ko-KR" dirty="0"/>
          </a:p>
          <a:p>
            <a:r>
              <a:rPr lang="ko-KR" altLang="en-US" dirty="0"/>
              <a:t>기본 설치 디렉터리 </a:t>
            </a:r>
            <a:r>
              <a:rPr lang="en-US" altLang="ko-KR" dirty="0"/>
              <a:t>/</a:t>
            </a:r>
            <a:r>
              <a:rPr lang="en-US" altLang="ko-KR" dirty="0" err="1"/>
              <a:t>usr</a:t>
            </a:r>
            <a:r>
              <a:rPr lang="en-US" altLang="ko-KR" dirty="0"/>
              <a:t>/share/</a:t>
            </a:r>
            <a:r>
              <a:rPr lang="en-US" altLang="ko-KR" dirty="0" err="1"/>
              <a:t>wordpress</a:t>
            </a:r>
            <a:endParaRPr lang="en-US" altLang="ko-KR" dirty="0"/>
          </a:p>
          <a:p>
            <a:r>
              <a:rPr lang="en-US" altLang="ko-KR" dirty="0"/>
              <a:t>/</a:t>
            </a:r>
            <a:r>
              <a:rPr lang="en-US" altLang="ko-KR" dirty="0" err="1"/>
              <a:t>var</a:t>
            </a:r>
            <a:r>
              <a:rPr lang="en-US" altLang="ko-KR" dirty="0"/>
              <a:t>/www </a:t>
            </a:r>
            <a:r>
              <a:rPr lang="ko-KR" altLang="en-US" dirty="0" err="1"/>
              <a:t>디렉토리에</a:t>
            </a:r>
            <a:r>
              <a:rPr lang="ko-KR" altLang="en-US" dirty="0"/>
              <a:t> </a:t>
            </a:r>
            <a:r>
              <a:rPr lang="en-US" altLang="ko-KR" dirty="0"/>
              <a:t>link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ln –s /</a:t>
            </a:r>
            <a:r>
              <a:rPr lang="en-US" altLang="ko-KR" dirty="0" err="1"/>
              <a:t>usr</a:t>
            </a:r>
            <a:r>
              <a:rPr lang="en-US" altLang="ko-KR" dirty="0"/>
              <a:t>/share/</a:t>
            </a:r>
            <a:r>
              <a:rPr lang="en-US" altLang="ko-KR" dirty="0" err="1"/>
              <a:t>wordpress</a:t>
            </a:r>
            <a:r>
              <a:rPr lang="en-US" altLang="ko-KR" dirty="0"/>
              <a:t> </a:t>
            </a:r>
            <a:r>
              <a:rPr lang="en-US" altLang="ko-KR" dirty="0" err="1"/>
              <a:t>var</a:t>
            </a:r>
            <a:r>
              <a:rPr lang="en-US" altLang="ko-KR" dirty="0"/>
              <a:t>/www/</a:t>
            </a:r>
            <a:r>
              <a:rPr lang="en-US" altLang="ko-KR" dirty="0" err="1"/>
              <a:t>wordpress</a:t>
            </a:r>
            <a:endParaRPr lang="en-US" altLang="ko-KR" dirty="0"/>
          </a:p>
          <a:p>
            <a:r>
              <a:rPr lang="en-US" altLang="ko-KR" dirty="0" err="1"/>
              <a:t>Wordpress</a:t>
            </a:r>
            <a:r>
              <a:rPr lang="ko-KR" altLang="en-US" dirty="0"/>
              <a:t>에서 사용하는 </a:t>
            </a:r>
            <a:r>
              <a:rPr lang="en-US" altLang="ko-KR" dirty="0"/>
              <a:t>DB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gunzip</a:t>
            </a:r>
            <a:r>
              <a:rPr lang="en-US" altLang="ko-KR" dirty="0"/>
              <a:t> /</a:t>
            </a:r>
            <a:r>
              <a:rPr lang="en-US" altLang="ko-KR" dirty="0" err="1"/>
              <a:t>usr</a:t>
            </a:r>
            <a:r>
              <a:rPr lang="en-US" altLang="ko-KR" dirty="0"/>
              <a:t>/share/doc/</a:t>
            </a:r>
            <a:r>
              <a:rPr lang="en-US" altLang="ko-KR" dirty="0" err="1"/>
              <a:t>wordpress</a:t>
            </a:r>
            <a:r>
              <a:rPr lang="en-US" altLang="ko-KR" dirty="0"/>
              <a:t>/examples/setup-mysql.gz</a:t>
            </a:r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bash /</a:t>
            </a:r>
            <a:r>
              <a:rPr lang="en-US" altLang="ko-KR" dirty="0" err="1"/>
              <a:t>usr</a:t>
            </a:r>
            <a:r>
              <a:rPr lang="en-US" altLang="ko-KR" dirty="0"/>
              <a:t>/share/doc/</a:t>
            </a:r>
            <a:r>
              <a:rPr lang="en-US" altLang="ko-KR" dirty="0" err="1"/>
              <a:t>wordpress</a:t>
            </a:r>
            <a:r>
              <a:rPr lang="en-US" altLang="ko-KR" dirty="0"/>
              <a:t>/examples/setup-</a:t>
            </a:r>
            <a:r>
              <a:rPr lang="en-US" altLang="ko-KR" dirty="0" err="1"/>
              <a:t>mysql</a:t>
            </a:r>
            <a:r>
              <a:rPr lang="en-US" altLang="ko-KR" dirty="0"/>
              <a:t> –n </a:t>
            </a:r>
            <a:r>
              <a:rPr lang="en-US" altLang="ko-KR" dirty="0" err="1"/>
              <a:t>wordpress</a:t>
            </a:r>
            <a:r>
              <a:rPr lang="en-US" altLang="ko-KR" dirty="0"/>
              <a:t> localhost</a:t>
            </a:r>
          </a:p>
          <a:p>
            <a:pPr lvl="1"/>
            <a:r>
              <a:rPr lang="en-US" altLang="ko-KR" dirty="0"/>
              <a:t>$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chown</a:t>
            </a:r>
            <a:r>
              <a:rPr lang="en-US" altLang="ko-KR" dirty="0"/>
              <a:t> –R www-data /</a:t>
            </a:r>
            <a:r>
              <a:rPr lang="en-US" altLang="ko-KR" dirty="0" err="1"/>
              <a:t>usr</a:t>
            </a:r>
            <a:r>
              <a:rPr lang="en-US" altLang="ko-KR" dirty="0"/>
              <a:t>/share/</a:t>
            </a:r>
            <a:r>
              <a:rPr lang="en-US" altLang="ko-KR" dirty="0" err="1"/>
              <a:t>wordpress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</p:spTree>
    <p:extLst>
      <p:ext uri="{BB962C8B-B14F-4D97-AF65-F5344CB8AC3E}">
        <p14:creationId xmlns:p14="http://schemas.microsoft.com/office/powerpoint/2010/main" val="41039578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기술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94" y="1426270"/>
            <a:ext cx="5433724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314" y="3247058"/>
            <a:ext cx="4629150" cy="336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55099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Bluetooth Smart </a:t>
            </a:r>
            <a:r>
              <a:rPr lang="en-US" altLang="ko-KR" dirty="0" err="1"/>
              <a:t>SensorTag</a:t>
            </a:r>
            <a:r>
              <a:rPr lang="en-US" altLang="ko-KR" dirty="0"/>
              <a:t> with </a:t>
            </a:r>
            <a:r>
              <a:rPr lang="en-US" altLang="ko-KR" dirty="0" err="1"/>
              <a:t>iBeacon</a:t>
            </a:r>
            <a:r>
              <a:rPr lang="en-US" altLang="ko-KR" dirty="0"/>
              <a:t> technology</a:t>
            </a:r>
          </a:p>
          <a:p>
            <a:pPr lvl="1"/>
            <a:r>
              <a:rPr lang="en-US" altLang="ko-KR" dirty="0">
                <a:hlinkClick r:id="rId2"/>
              </a:rPr>
              <a:t>https://www.youtube.com/watch?v=TvtrU9lCKmQ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717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775" y="2924944"/>
            <a:ext cx="58864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88860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Commodity BLE devices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006156"/>
            <a:ext cx="7416824" cy="451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47366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2050" name="Picture 2" descr="SensorTag Fro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84784"/>
            <a:ext cx="4416489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ensorTag Rea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488" y="3299322"/>
            <a:ext cx="4727512" cy="354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90431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http://www.ti.com/tool/gassensorevm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3074" name="Picture 2" descr="http://www.ti.com/diagrams/med_gassensorevm_sensor_dim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2563400"/>
            <a:ext cx="5496610" cy="353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53968" y="1691516"/>
            <a:ext cx="3441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Gas Sensor Platform with BLE</a:t>
            </a:r>
            <a:endParaRPr lang="ko-KR" altLang="en-US" dirty="0"/>
          </a:p>
        </p:txBody>
      </p:sp>
      <p:pic>
        <p:nvPicPr>
          <p:cNvPr id="3076" name="Picture 4" descr="http://www.ti.com/diagrams/med_gassensorevm_sensor_phone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796" y="2825284"/>
            <a:ext cx="5976664" cy="384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1726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Automotive Door Control Switch 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5122" name="Picture 2" descr="http://www.ti.com/diagrams/med_tida-00356_tida-00356_board_photo1_resiz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4032448" cy="2592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://www.ti.com/diagrams/rd/schematic_tida-00356_2015013008371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861349"/>
            <a:ext cx="6567686" cy="324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7794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사물인터넷플랫폼적용서비스예시</a:t>
            </a:r>
            <a:endParaRPr lang="en-US" altLang="ko-KR" dirty="0"/>
          </a:p>
          <a:p>
            <a:pPr lvl="1"/>
            <a:r>
              <a:rPr lang="ko-KR" altLang="en-US" dirty="0"/>
              <a:t>사물 음성 제어 </a:t>
            </a:r>
            <a:r>
              <a:rPr lang="en-US" altLang="ko-KR" dirty="0"/>
              <a:t>: </a:t>
            </a:r>
            <a:r>
              <a:rPr lang="en-US" altLang="ko-KR" dirty="0" err="1"/>
              <a:t>iThing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https://www.youtube.com/watch?v=xdMzjYU1xyM&amp;feature=youtu.be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적용 사례</a:t>
            </a:r>
          </a:p>
        </p:txBody>
      </p:sp>
      <p:pic>
        <p:nvPicPr>
          <p:cNvPr id="6146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182" y="3140968"/>
            <a:ext cx="59245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66298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ko-KR" dirty="0" err="1"/>
              <a:t>IoT</a:t>
            </a:r>
            <a:r>
              <a:rPr lang="en-US" altLang="ko-KR" dirty="0"/>
              <a:t>/</a:t>
            </a:r>
            <a:r>
              <a:rPr lang="en-US" altLang="ko-KR" dirty="0" err="1"/>
              <a:t>WoT</a:t>
            </a:r>
            <a:r>
              <a:rPr lang="en-US" altLang="ko-KR" dirty="0"/>
              <a:t> </a:t>
            </a:r>
            <a:r>
              <a:rPr lang="ko-KR" altLang="en-US" dirty="0"/>
              <a:t>플랫폼 기술 동향 및 활용 사례</a:t>
            </a:r>
            <a:r>
              <a:rPr lang="en-US" altLang="ko-KR" dirty="0"/>
              <a:t>, </a:t>
            </a:r>
            <a:r>
              <a:rPr lang="ko-KR" altLang="en-US" dirty="0"/>
              <a:t>이순호</a:t>
            </a:r>
            <a:r>
              <a:rPr lang="en-US" altLang="ko-KR" dirty="0"/>
              <a:t>/</a:t>
            </a:r>
            <a:r>
              <a:rPr lang="ko-KR" altLang="en-US" dirty="0"/>
              <a:t>대표이사</a:t>
            </a:r>
            <a:r>
              <a:rPr lang="en-US" altLang="ko-KR" dirty="0"/>
              <a:t>, </a:t>
            </a:r>
            <a:r>
              <a:rPr lang="ko-KR" altLang="en-US" dirty="0" err="1"/>
              <a:t>달리웍스</a:t>
            </a:r>
            <a:r>
              <a:rPr lang="ko-KR" altLang="en-US" dirty="0"/>
              <a:t>㈜</a:t>
            </a:r>
            <a:endParaRPr lang="en-US" altLang="ko-KR" dirty="0"/>
          </a:p>
          <a:p>
            <a:r>
              <a:rPr lang="en-US" altLang="ko-KR" dirty="0"/>
              <a:t>An Overview of IEEE 802.15.6 Standard, Invited Paper, ISABEL </a:t>
            </a:r>
          </a:p>
          <a:p>
            <a:r>
              <a:rPr lang="en-US" altLang="ko-KR" dirty="0"/>
              <a:t>Bluetooth and Bluetooth Smart, Prof. Raj Jain, Washington University</a:t>
            </a:r>
          </a:p>
          <a:p>
            <a:r>
              <a:rPr lang="en-US" altLang="ko-KR" dirty="0"/>
              <a:t>Bluetooth 4.0 : Low Energy, Joe </a:t>
            </a:r>
            <a:r>
              <a:rPr lang="en-US" altLang="ko-KR" dirty="0" err="1"/>
              <a:t>Decuir</a:t>
            </a:r>
            <a:r>
              <a:rPr lang="en-US" altLang="ko-KR" dirty="0"/>
              <a:t>, IEEE Region 6 NW Area Chair</a:t>
            </a:r>
          </a:p>
          <a:p>
            <a:r>
              <a:rPr lang="en-US" altLang="ko-KR" dirty="0"/>
              <a:t>CC2541 Data Sheet, Texas Instruments</a:t>
            </a:r>
          </a:p>
          <a:p>
            <a:r>
              <a:rPr lang="en-US" altLang="ko-KR" dirty="0"/>
              <a:t>TI CC2541 BLE Sample Application Guide v1.3.1</a:t>
            </a:r>
          </a:p>
          <a:p>
            <a:r>
              <a:rPr lang="en-US" altLang="ko-KR" dirty="0"/>
              <a:t>Cisco,</a:t>
            </a:r>
            <a:r>
              <a:rPr lang="ko-KR" altLang="en-US" dirty="0"/>
              <a:t> </a:t>
            </a:r>
            <a:r>
              <a:rPr lang="en-US" altLang="ko-KR" dirty="0"/>
              <a:t>Cisco</a:t>
            </a:r>
            <a:r>
              <a:rPr lang="ko-KR" altLang="en-US" dirty="0"/>
              <a:t> </a:t>
            </a:r>
            <a:r>
              <a:rPr lang="en-US" altLang="ko-KR" dirty="0"/>
              <a:t>Visual</a:t>
            </a:r>
            <a:r>
              <a:rPr lang="ko-KR" altLang="en-US" dirty="0"/>
              <a:t> </a:t>
            </a:r>
            <a:r>
              <a:rPr lang="en-US" altLang="ko-KR" dirty="0"/>
              <a:t>Networking</a:t>
            </a:r>
            <a:r>
              <a:rPr lang="ko-KR" altLang="en-US" dirty="0"/>
              <a:t> </a:t>
            </a:r>
            <a:r>
              <a:rPr lang="en-US" altLang="ko-KR" dirty="0"/>
              <a:t>Index:</a:t>
            </a:r>
            <a:r>
              <a:rPr lang="ko-KR" altLang="en-US" dirty="0"/>
              <a:t> </a:t>
            </a:r>
            <a:r>
              <a:rPr lang="en-US" altLang="ko-KR" dirty="0"/>
              <a:t>Global</a:t>
            </a:r>
            <a:r>
              <a:rPr lang="ko-KR" altLang="en-US" dirty="0"/>
              <a:t> </a:t>
            </a:r>
            <a:r>
              <a:rPr lang="en-US" altLang="ko-KR" dirty="0"/>
              <a:t>Mobile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Traffic</a:t>
            </a:r>
            <a:r>
              <a:rPr lang="ko-KR" altLang="en-US" dirty="0"/>
              <a:t> </a:t>
            </a:r>
            <a:r>
              <a:rPr lang="en-US" altLang="ko-KR" dirty="0"/>
              <a:t>Forecast, 2014.2.</a:t>
            </a:r>
          </a:p>
          <a:p>
            <a:r>
              <a:rPr lang="en-US" altLang="ko-KR" dirty="0"/>
              <a:t>Gartner,</a:t>
            </a:r>
            <a:r>
              <a:rPr lang="ko-KR" altLang="en-US" dirty="0"/>
              <a:t> </a:t>
            </a:r>
            <a:r>
              <a:rPr lang="en-US" altLang="ko-KR" dirty="0"/>
              <a:t>Key technologies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the internet of</a:t>
            </a:r>
            <a:r>
              <a:rPr lang="ko-KR" altLang="en-US" dirty="0"/>
              <a:t> </a:t>
            </a:r>
            <a:r>
              <a:rPr lang="en-US" altLang="ko-KR" dirty="0"/>
              <a:t>things,</a:t>
            </a:r>
            <a:r>
              <a:rPr lang="ko-KR" altLang="en-US" dirty="0"/>
              <a:t> </a:t>
            </a:r>
            <a:r>
              <a:rPr lang="en-US" altLang="ko-KR" dirty="0"/>
              <a:t>2011.</a:t>
            </a:r>
          </a:p>
          <a:p>
            <a:r>
              <a:rPr lang="ko-KR" altLang="en-US" dirty="0"/>
              <a:t>송성학</a:t>
            </a:r>
            <a:r>
              <a:rPr lang="en-US" altLang="ko-KR" dirty="0"/>
              <a:t>,</a:t>
            </a:r>
            <a:r>
              <a:rPr lang="ko-KR" altLang="en-US" dirty="0"/>
              <a:t> “</a:t>
            </a:r>
            <a:r>
              <a:rPr lang="en-US" altLang="ko-KR" dirty="0" err="1"/>
              <a:t>CoAP</a:t>
            </a:r>
            <a:r>
              <a:rPr lang="en-US" altLang="ko-KR" dirty="0"/>
              <a:t>(Constrained</a:t>
            </a:r>
            <a:r>
              <a:rPr lang="ko-KR" altLang="en-US" dirty="0"/>
              <a:t> </a:t>
            </a:r>
            <a:r>
              <a:rPr lang="en-US" altLang="ko-KR" dirty="0"/>
              <a:t>Application</a:t>
            </a:r>
            <a:r>
              <a:rPr lang="ko-KR" altLang="en-US" dirty="0"/>
              <a:t> </a:t>
            </a:r>
            <a:r>
              <a:rPr lang="en-US" altLang="ko-KR" dirty="0"/>
              <a:t>Protocol) </a:t>
            </a:r>
            <a:r>
              <a:rPr lang="ko-KR" altLang="en-US" dirty="0"/>
              <a:t>표준화 동향”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ICT</a:t>
            </a:r>
            <a:r>
              <a:rPr lang="ko-KR" altLang="en-US" dirty="0"/>
              <a:t> </a:t>
            </a:r>
            <a:r>
              <a:rPr lang="en-US" altLang="ko-KR" dirty="0"/>
              <a:t>Standard</a:t>
            </a:r>
            <a:r>
              <a:rPr lang="ko-KR" altLang="en-US" dirty="0"/>
              <a:t> </a:t>
            </a:r>
            <a:r>
              <a:rPr lang="en-US" altLang="ko-KR" dirty="0"/>
              <a:t>Weekly,</a:t>
            </a:r>
            <a:r>
              <a:rPr lang="ko-KR" altLang="en-US" dirty="0"/>
              <a:t> </a:t>
            </a:r>
            <a:r>
              <a:rPr lang="en-US" altLang="ko-KR" dirty="0"/>
              <a:t>2010.</a:t>
            </a:r>
          </a:p>
          <a:p>
            <a:r>
              <a:rPr lang="ko-KR" altLang="en-US" dirty="0" err="1"/>
              <a:t>고석갑</a:t>
            </a:r>
            <a:r>
              <a:rPr lang="ko-KR" altLang="en-US" dirty="0"/>
              <a:t> 외</a:t>
            </a:r>
            <a:r>
              <a:rPr lang="en-US" altLang="ko-KR" dirty="0"/>
              <a:t>,</a:t>
            </a:r>
            <a:r>
              <a:rPr lang="ko-KR" altLang="en-US" dirty="0"/>
              <a:t> “</a:t>
            </a:r>
            <a:r>
              <a:rPr lang="en-US" altLang="ko-KR" dirty="0"/>
              <a:t>IETF</a:t>
            </a:r>
            <a:r>
              <a:rPr lang="ko-KR" altLang="en-US" dirty="0"/>
              <a:t> </a:t>
            </a:r>
            <a:r>
              <a:rPr lang="en-US" altLang="ko-KR" dirty="0" err="1"/>
              <a:t>CoAP</a:t>
            </a:r>
            <a:r>
              <a:rPr lang="en-US" altLang="ko-KR" dirty="0"/>
              <a:t> </a:t>
            </a:r>
            <a:r>
              <a:rPr lang="ko-KR" altLang="en-US" dirty="0"/>
              <a:t>기반 센서 접속 프로토콜 기술 동향”</a:t>
            </a:r>
            <a:r>
              <a:rPr lang="en-US" altLang="ko-KR" dirty="0"/>
              <a:t>,</a:t>
            </a:r>
            <a:r>
              <a:rPr lang="ko-KR" altLang="en-US" dirty="0"/>
              <a:t> 전자통신동향</a:t>
            </a:r>
          </a:p>
          <a:p>
            <a:r>
              <a:rPr lang="ko-KR" altLang="en-US" dirty="0"/>
              <a:t>분석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28(6),</a:t>
            </a:r>
            <a:r>
              <a:rPr lang="ko-KR" altLang="en-US" dirty="0"/>
              <a:t> </a:t>
            </a:r>
            <a:r>
              <a:rPr lang="en-US" altLang="ko-KR" dirty="0"/>
              <a:t>2013.12.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References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1300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기존의 </a:t>
            </a:r>
            <a:r>
              <a:rPr lang="en-US" altLang="ko-KR" dirty="0"/>
              <a:t>USN </a:t>
            </a:r>
            <a:r>
              <a:rPr lang="ko-KR" altLang="en-US" dirty="0"/>
              <a:t>및 </a:t>
            </a:r>
            <a:r>
              <a:rPr lang="en-US" altLang="ko-KR" dirty="0"/>
              <a:t>M2M </a:t>
            </a:r>
            <a:r>
              <a:rPr lang="ko-KR" altLang="en-US" dirty="0"/>
              <a:t>은 사물인터넷을 실현하기 위한 중요한 요소 기술로 정의할 수 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사물인터넷은 기존의 </a:t>
            </a:r>
            <a:r>
              <a:rPr lang="en-US" altLang="ko-KR" dirty="0"/>
              <a:t>USN </a:t>
            </a:r>
            <a:r>
              <a:rPr lang="ko-KR" altLang="en-US" dirty="0"/>
              <a:t>이나 </a:t>
            </a:r>
            <a:r>
              <a:rPr lang="en-US" altLang="ko-KR" dirty="0"/>
              <a:t>M2M </a:t>
            </a:r>
            <a:r>
              <a:rPr lang="ko-KR" altLang="en-US" dirty="0"/>
              <a:t>을 모두 포괄하는 광의의 개념으로 볼 수 있다</a:t>
            </a:r>
            <a:r>
              <a:rPr lang="en-US" altLang="ko-KR" dirty="0"/>
              <a:t>.</a:t>
            </a:r>
          </a:p>
          <a:p>
            <a:r>
              <a:rPr lang="en-US" altLang="ko-KR" sz="2800" dirty="0"/>
              <a:t>ITU-T </a:t>
            </a:r>
            <a:r>
              <a:rPr lang="ko-KR" altLang="en-US" sz="2800" dirty="0"/>
              <a:t>에서는 </a:t>
            </a:r>
            <a:r>
              <a:rPr lang="en-US" altLang="ko-KR" sz="2800" dirty="0"/>
              <a:t>M2M </a:t>
            </a:r>
            <a:r>
              <a:rPr lang="ko-KR" altLang="en-US" sz="2800" dirty="0"/>
              <a:t>을 사물인터넷을 실현하기 위한 요소 기술로 정의하고 있으며</a:t>
            </a:r>
            <a:r>
              <a:rPr lang="en-US" altLang="ko-KR" sz="2800" dirty="0"/>
              <a:t>, ITU-T Y.2060[1]</a:t>
            </a:r>
            <a:r>
              <a:rPr lang="ko-KR" altLang="en-US" sz="2800" dirty="0"/>
              <a:t>에서 정의한 사물인터넷 참조 모델을 사용하여 다음 그림과 같이 </a:t>
            </a:r>
            <a:r>
              <a:rPr lang="en-US" altLang="ko-KR" sz="2800" dirty="0"/>
              <a:t>ETSI </a:t>
            </a:r>
            <a:r>
              <a:rPr lang="ko-KR" altLang="en-US" sz="2800" dirty="0"/>
              <a:t>의 </a:t>
            </a:r>
            <a:r>
              <a:rPr lang="en-US" altLang="ko-KR" sz="2800" dirty="0"/>
              <a:t>M2M </a:t>
            </a:r>
            <a:r>
              <a:rPr lang="ko-KR" altLang="en-US" sz="2800" dirty="0"/>
              <a:t>서비스 기능 계층</a:t>
            </a:r>
            <a:r>
              <a:rPr lang="en-US" altLang="ko-KR" sz="2800" dirty="0"/>
              <a:t>(SCL, Service Capabilities Layer)</a:t>
            </a:r>
            <a:r>
              <a:rPr lang="ko-KR" altLang="en-US" sz="2800" dirty="0"/>
              <a:t>을 표현할 </a:t>
            </a:r>
            <a:r>
              <a:rPr lang="ko-KR" altLang="en-US" sz="2800" dirty="0" err="1"/>
              <a:t>수있음을</a:t>
            </a:r>
            <a:r>
              <a:rPr lang="ko-KR" altLang="en-US" sz="2800" dirty="0"/>
              <a:t> 설명</a:t>
            </a:r>
            <a:r>
              <a:rPr lang="en-US" altLang="ko-KR" sz="2800" dirty="0"/>
              <a:t>.</a:t>
            </a:r>
            <a:endParaRPr lang="ko-KR" altLang="en-US" sz="2800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기존기술</a:t>
            </a:r>
            <a:r>
              <a:rPr lang="en-US" altLang="ko-KR" dirty="0"/>
              <a:t>(USN/M2M)</a:t>
            </a:r>
            <a:r>
              <a:rPr lang="ko-KR" altLang="en-US" dirty="0"/>
              <a:t>과의 관계</a:t>
            </a:r>
          </a:p>
        </p:txBody>
      </p:sp>
    </p:spTree>
    <p:extLst>
      <p:ext uri="{BB962C8B-B14F-4D97-AF65-F5344CB8AC3E}">
        <p14:creationId xmlns:p14="http://schemas.microsoft.com/office/powerpoint/2010/main" val="359291603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ko-KR" altLang="en-US" sz="24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기존기술</a:t>
            </a:r>
            <a:r>
              <a:rPr lang="en-US" altLang="ko-KR" dirty="0"/>
              <a:t>(USN/M2M)</a:t>
            </a:r>
            <a:r>
              <a:rPr lang="ko-KR" altLang="en-US" dirty="0"/>
              <a:t>과의 관계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46592"/>
            <a:ext cx="7056784" cy="4363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9041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2023</TotalTime>
  <Words>3349</Words>
  <Application>Microsoft Office PowerPoint</Application>
  <PresentationFormat>화면 슬라이드 쇼(4:3)</PresentationFormat>
  <Paragraphs>615</Paragraphs>
  <Slides>81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81</vt:i4>
      </vt:variant>
    </vt:vector>
  </HeadingPairs>
  <TitlesOfParts>
    <vt:vector size="93" baseType="lpstr">
      <vt:lpstr>굴림</vt:lpstr>
      <vt:lpstr>돋움</vt:lpstr>
      <vt:lpstr>맑은 고딕</vt:lpstr>
      <vt:lpstr>휴먼엑스포</vt:lpstr>
      <vt:lpstr>Arial</vt:lpstr>
      <vt:lpstr>Lucida Sans Unicode</vt:lpstr>
      <vt:lpstr>Verdana</vt:lpstr>
      <vt:lpstr>Wingdings</vt:lpstr>
      <vt:lpstr>Wingdings 2</vt:lpstr>
      <vt:lpstr>Wingdings 3</vt:lpstr>
      <vt:lpstr>광장</vt:lpstr>
      <vt:lpstr>Microsoft Excel 97-2003 Worksheet</vt:lpstr>
      <vt:lpstr>임베디드 기술동향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업계 동향</vt:lpstr>
      <vt:lpstr>업계 동향 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</vt:lpstr>
      <vt:lpstr>업계 동향 </vt:lpstr>
      <vt:lpstr>업계 동향</vt:lpstr>
      <vt:lpstr>업계 동향 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구현 기술</vt:lpstr>
      <vt:lpstr>적용 사례</vt:lpstr>
      <vt:lpstr>적용 사례</vt:lpstr>
      <vt:lpstr>적용 사례</vt:lpstr>
      <vt:lpstr>적용 사례</vt:lpstr>
      <vt:lpstr>적용 사례</vt:lpstr>
      <vt:lpstr>적용 사례</vt:lpstr>
      <vt:lpstr>References</vt:lpstr>
      <vt:lpstr>기존기술(USN/M2M)과의 관계</vt:lpstr>
      <vt:lpstr>기존기술(USN/M2M)과의 관계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mchoi</dc:creator>
  <cp:lastModifiedBy>Min Choi</cp:lastModifiedBy>
  <cp:revision>439</cp:revision>
  <cp:lastPrinted>2015-10-13T16:53:14Z</cp:lastPrinted>
  <dcterms:created xsi:type="dcterms:W3CDTF">2015-02-21T12:04:18Z</dcterms:created>
  <dcterms:modified xsi:type="dcterms:W3CDTF">2026-09-09T17:12:43Z</dcterms:modified>
</cp:coreProperties>
</file>