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1" r:id="rId13"/>
    <p:sldId id="292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9" r:id="rId31"/>
    <p:sldId id="290" r:id="rId32"/>
    <p:sldId id="283" r:id="rId33"/>
    <p:sldId id="284" r:id="rId34"/>
    <p:sldId id="285" r:id="rId35"/>
    <p:sldId id="286" r:id="rId36"/>
    <p:sldId id="287" r:id="rId37"/>
    <p:sldId id="294" r:id="rId38"/>
    <p:sldId id="295" r:id="rId39"/>
    <p:sldId id="293" r:id="rId40"/>
    <p:sldId id="288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78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58D64DE-2526-8561-D83E-E23CF31CC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746" y="3338564"/>
            <a:ext cx="3343309" cy="2109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427746-F2E1-679C-AD2E-89098BAED30C}"/>
              </a:ext>
            </a:extLst>
          </p:cNvPr>
          <p:cNvSpPr txBox="1"/>
          <p:nvPr/>
        </p:nvSpPr>
        <p:spPr>
          <a:xfrm>
            <a:off x="1248628" y="5463001"/>
            <a:ext cx="102223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400" dirty="0">
                <a:ea typeface="굴림" panose="020B0600000101010101" pitchFamily="50" charset="-127"/>
              </a:rPr>
              <a:t>Linux, Apple </a:t>
            </a:r>
            <a:r>
              <a:rPr lang="en-US" altLang="ko-KR" sz="1400" dirty="0" err="1">
                <a:ea typeface="굴림" panose="020B0600000101010101" pitchFamily="50" charset="-127"/>
              </a:rPr>
              <a:t>Iphone</a:t>
            </a:r>
            <a:r>
              <a:rPr lang="en-US" altLang="ko-KR" sz="1400" dirty="0">
                <a:ea typeface="굴림" panose="020B0600000101010101" pitchFamily="50" charset="-127"/>
              </a:rPr>
              <a:t>/</a:t>
            </a:r>
            <a:r>
              <a:rPr lang="en-US" altLang="ko-KR" sz="1400" dirty="0" err="1">
                <a:ea typeface="굴림" panose="020B0600000101010101" pitchFamily="50" charset="-127"/>
              </a:rPr>
              <a:t>IPad</a:t>
            </a:r>
            <a:r>
              <a:rPr lang="en-US" altLang="ko-KR" sz="1400" dirty="0">
                <a:ea typeface="굴림" panose="020B0600000101010101" pitchFamily="50" charset="-127"/>
              </a:rPr>
              <a:t>, Google Android, Nokia Symbian, </a:t>
            </a:r>
            <a:r>
              <a:rPr lang="ko-KR" altLang="en-US" sz="1400" dirty="0" err="1">
                <a:ea typeface="굴림" panose="020B0600000101010101" pitchFamily="50" charset="-127"/>
              </a:rPr>
              <a:t>퀄컴</a:t>
            </a:r>
            <a:r>
              <a:rPr lang="en-US" altLang="ko-KR" sz="1400" dirty="0">
                <a:ea typeface="굴림" panose="020B0600000101010101" pitchFamily="50" charset="-127"/>
              </a:rPr>
              <a:t>, </a:t>
            </a:r>
            <a:r>
              <a:rPr lang="ko-KR" altLang="en-US" sz="1400" dirty="0">
                <a:ea typeface="굴림" panose="020B0600000101010101" pitchFamily="50" charset="-127"/>
              </a:rPr>
              <a:t>삼성</a:t>
            </a:r>
            <a:r>
              <a:rPr lang="en-US" altLang="ko-KR" sz="1400" dirty="0">
                <a:ea typeface="굴림" panose="020B0600000101010101" pitchFamily="50" charset="-127"/>
              </a:rPr>
              <a:t>, LG, </a:t>
            </a:r>
            <a:r>
              <a:rPr lang="ko-KR" altLang="en-US" sz="1400" dirty="0">
                <a:ea typeface="굴림" panose="020B0600000101010101" pitchFamily="50" charset="-127"/>
              </a:rPr>
              <a:t>엔비디아</a:t>
            </a:r>
            <a:r>
              <a:rPr lang="en-US" altLang="ko-KR" sz="1400" dirty="0">
                <a:ea typeface="굴림" panose="020B0600000101010101" pitchFamily="50" charset="-127"/>
              </a:rPr>
              <a:t>, HP, </a:t>
            </a:r>
            <a:r>
              <a:rPr lang="ko-KR" altLang="en-US" sz="1400" dirty="0">
                <a:ea typeface="굴림" panose="020B0600000101010101" pitchFamily="50" charset="-127"/>
              </a:rPr>
              <a:t>델</a:t>
            </a:r>
            <a:r>
              <a:rPr lang="en-US" altLang="ko-KR" sz="1400" dirty="0">
                <a:ea typeface="굴림" panose="020B0600000101010101" pitchFamily="50" charset="-127"/>
              </a:rPr>
              <a:t>, </a:t>
            </a:r>
            <a:r>
              <a:rPr lang="ko-KR" altLang="en-US" sz="1400" dirty="0" err="1">
                <a:ea typeface="굴림" panose="020B0600000101010101" pitchFamily="50" charset="-127"/>
              </a:rPr>
              <a:t>에이서</a:t>
            </a:r>
            <a:r>
              <a:rPr lang="en-US" altLang="ko-KR" sz="1400" dirty="0">
                <a:ea typeface="굴림" panose="020B0600000101010101" pitchFamily="50" charset="-127"/>
              </a:rPr>
              <a:t>, </a:t>
            </a:r>
            <a:r>
              <a:rPr lang="ko-KR" altLang="en-US" sz="1400" dirty="0" err="1">
                <a:ea typeface="굴림" panose="020B0600000101010101" pitchFamily="50" charset="-127"/>
              </a:rPr>
              <a:t>레노보</a:t>
            </a:r>
            <a:r>
              <a:rPr lang="en-US" altLang="ko-KR" sz="1400" dirty="0">
                <a:ea typeface="굴림" panose="020B0600000101010101" pitchFamily="50" charset="-127"/>
              </a:rPr>
              <a:t>, Analog Devices, Atmel, Cirrus, Fujitsu, IBM, Infineon, Mitsubishi, Motorola, National Semiconductor, NEC, Philips, Sharp, ST Microelectronics, Texas Instruments, Toshiba , NEC, Philips, Sharp, ST Microelectronics, Texas Instruments, Toshiba </a:t>
            </a:r>
            <a:r>
              <a:rPr lang="ko-KR" altLang="en-US" sz="1400" dirty="0">
                <a:ea typeface="굴림" panose="020B0600000101010101" pitchFamily="50" charset="-127"/>
              </a:rPr>
              <a:t>등 </a:t>
            </a:r>
            <a:r>
              <a:rPr lang="en-US" altLang="ko-KR" sz="1400" dirty="0">
                <a:ea typeface="굴림" panose="020B0600000101010101" pitchFamily="50" charset="-127"/>
              </a:rPr>
              <a:t>660</a:t>
            </a:r>
            <a:r>
              <a:rPr lang="ko-KR" altLang="en-US" sz="1400" dirty="0">
                <a:ea typeface="굴림" panose="020B0600000101010101" pitchFamily="50" charset="-127"/>
              </a:rPr>
              <a:t>개 협력업체</a:t>
            </a:r>
            <a:endParaRPr lang="en-US" altLang="ko-KR" sz="1400" dirty="0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67C8D48-9A83-0950-715A-347E295FC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529" y="3481026"/>
            <a:ext cx="3511757" cy="21624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1E84C9-720D-B031-B293-44DE899C1528}"/>
              </a:ext>
            </a:extLst>
          </p:cNvPr>
          <p:cNvSpPr txBox="1"/>
          <p:nvPr/>
        </p:nvSpPr>
        <p:spPr>
          <a:xfrm>
            <a:off x="2617076" y="3301228"/>
            <a:ext cx="895481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ea typeface="굴림" panose="020B0600000101010101" pitchFamily="50" charset="-127"/>
              </a:rPr>
              <a:t>장점</a:t>
            </a:r>
            <a:endParaRPr lang="en-US" altLang="ko-KR" sz="1400" b="1" dirty="0">
              <a:ea typeface="굴림" panose="020B0600000101010101" pitchFamily="50" charset="-127"/>
            </a:endParaRPr>
          </a:p>
          <a:p>
            <a:pPr lvl="1"/>
            <a:r>
              <a:rPr lang="ko-KR" altLang="en-US" sz="1200" b="1" dirty="0">
                <a:ea typeface="굴림" panose="020B0600000101010101" pitchFamily="50" charset="-127"/>
              </a:rPr>
              <a:t>손쉽게 성능 최적화 가능</a:t>
            </a:r>
            <a:endParaRPr lang="en-US" altLang="ko-KR" sz="1200" b="1" dirty="0">
              <a:ea typeface="굴림" panose="020B0600000101010101" pitchFamily="50" charset="-127"/>
            </a:endParaRPr>
          </a:p>
          <a:p>
            <a:pPr lvl="1"/>
            <a:r>
              <a:rPr lang="ko-KR" altLang="en-US" sz="1200" b="1" dirty="0">
                <a:ea typeface="굴림" panose="020B0600000101010101" pitchFamily="50" charset="-127"/>
              </a:rPr>
              <a:t>고정 길이의 명령 세트는 더욱 빠른 실행을 허용</a:t>
            </a:r>
            <a:endParaRPr lang="en-US" altLang="ko-KR" sz="1200" b="1" dirty="0">
              <a:ea typeface="굴림" panose="020B0600000101010101" pitchFamily="50" charset="-127"/>
            </a:endParaRPr>
          </a:p>
          <a:p>
            <a:pPr lvl="1"/>
            <a:r>
              <a:rPr lang="ko-KR" altLang="en-US" sz="1200" b="1" dirty="0">
                <a:ea typeface="굴림" panose="020B0600000101010101" pitchFamily="50" charset="-127"/>
              </a:rPr>
              <a:t>파이프라인을 더욱 효율적으로 사용</a:t>
            </a:r>
            <a:endParaRPr lang="en-US" altLang="ko-KR" sz="1200" b="1" dirty="0">
              <a:ea typeface="굴림" panose="020B0600000101010101" pitchFamily="50" charset="-127"/>
            </a:endParaRPr>
          </a:p>
          <a:p>
            <a:pPr lvl="1"/>
            <a:r>
              <a:rPr lang="ko-KR" altLang="en-US" sz="1200" b="1" dirty="0">
                <a:ea typeface="굴림" panose="020B0600000101010101" pitchFamily="50" charset="-127"/>
              </a:rPr>
              <a:t>더 빠른 클럭 속도를 허용하며</a:t>
            </a:r>
            <a:r>
              <a:rPr lang="en-US" altLang="ko-KR" sz="1200" b="1" dirty="0">
                <a:ea typeface="굴림" panose="020B0600000101010101" pitchFamily="50" charset="-127"/>
              </a:rPr>
              <a:t>, </a:t>
            </a:r>
            <a:r>
              <a:rPr lang="ko-KR" altLang="en-US" sz="1200" b="1" dirty="0">
                <a:ea typeface="굴림" panose="020B0600000101010101" pitchFamily="50" charset="-127"/>
              </a:rPr>
              <a:t>축소 명령 세트로 인해 칩 다이 크기가 더욱 </a:t>
            </a:r>
            <a:r>
              <a:rPr lang="ko-KR" altLang="en-US" sz="1200" b="1" dirty="0" err="1">
                <a:ea typeface="굴림" panose="020B0600000101010101" pitchFamily="50" charset="-127"/>
              </a:rPr>
              <a:t>작아짐</a:t>
            </a:r>
            <a:endParaRPr lang="en-US" altLang="ko-KR" sz="1200" b="1" dirty="0">
              <a:ea typeface="굴림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ea typeface="굴림" panose="020B0600000101010101" pitchFamily="50" charset="-127"/>
              </a:rPr>
              <a:t>단점</a:t>
            </a:r>
            <a:endParaRPr lang="en-US" altLang="ko-KR" sz="1400" b="1" dirty="0">
              <a:ea typeface="굴림" panose="020B0600000101010101" pitchFamily="50" charset="-127"/>
            </a:endParaRPr>
          </a:p>
          <a:p>
            <a:pPr lvl="1"/>
            <a:r>
              <a:rPr lang="ko-KR" altLang="en-US" sz="1200" b="1" dirty="0">
                <a:ea typeface="굴림" panose="020B0600000101010101" pitchFamily="50" charset="-127"/>
              </a:rPr>
              <a:t>코드 크기</a:t>
            </a:r>
            <a:r>
              <a:rPr lang="en-US" altLang="ko-KR" sz="1200" b="1" dirty="0">
                <a:ea typeface="굴림" panose="020B0600000101010101" pitchFamily="50" charset="-127"/>
              </a:rPr>
              <a:t>(size)</a:t>
            </a:r>
            <a:r>
              <a:rPr lang="ko-KR" altLang="en-US" sz="1200" b="1" dirty="0">
                <a:ea typeface="굴림" panose="020B0600000101010101" pitchFamily="50" charset="-127"/>
              </a:rPr>
              <a:t>가 커지는 현상</a:t>
            </a:r>
            <a:endParaRPr lang="en-US" altLang="ko-KR" sz="1200" b="1" dirty="0">
              <a:ea typeface="굴림" panose="020B0600000101010101" pitchFamily="50" charset="-127"/>
            </a:endParaRPr>
          </a:p>
          <a:p>
            <a:pPr lvl="1"/>
            <a:r>
              <a:rPr lang="en-US" altLang="ko-KR" sz="1200" b="1" dirty="0">
                <a:ea typeface="굴림" panose="020B0600000101010101" pitchFamily="50" charset="-127"/>
              </a:rPr>
              <a:t>32-bit RISC </a:t>
            </a:r>
            <a:r>
              <a:rPr lang="ko-KR" altLang="en-US" sz="1200" b="1" dirty="0">
                <a:ea typeface="굴림" panose="020B0600000101010101" pitchFamily="50" charset="-127"/>
              </a:rPr>
              <a:t>기계에서</a:t>
            </a:r>
            <a:r>
              <a:rPr lang="en-US" altLang="ko-KR" sz="1200" b="1" dirty="0">
                <a:ea typeface="굴림" panose="020B0600000101010101" pitchFamily="50" charset="-127"/>
              </a:rPr>
              <a:t>, </a:t>
            </a:r>
            <a:r>
              <a:rPr lang="ko-KR" altLang="en-US" sz="1200" b="1" dirty="0">
                <a:ea typeface="굴림" panose="020B0600000101010101" pitchFamily="50" charset="-127"/>
              </a:rPr>
              <a:t>모든 단일 명령어는 코드 공간의 </a:t>
            </a:r>
            <a:r>
              <a:rPr lang="en-US" altLang="ko-KR" sz="1200" b="1" dirty="0">
                <a:ea typeface="굴림" panose="020B0600000101010101" pitchFamily="50" charset="-127"/>
              </a:rPr>
              <a:t>4 bytes</a:t>
            </a:r>
            <a:r>
              <a:rPr lang="ko-KR" altLang="en-US" sz="1200" b="1" dirty="0">
                <a:ea typeface="굴림" panose="020B0600000101010101" pitchFamily="50" charset="-127"/>
              </a:rPr>
              <a:t>를 필요로 함</a:t>
            </a:r>
            <a:endParaRPr lang="en-US" altLang="ko-KR" sz="1200" b="1" dirty="0">
              <a:ea typeface="굴림" panose="020B0600000101010101" pitchFamily="50" charset="-127"/>
            </a:endParaRPr>
          </a:p>
          <a:p>
            <a:pPr lvl="1"/>
            <a:r>
              <a:rPr lang="en-US" altLang="ko-KR" sz="1200" b="1" dirty="0">
                <a:ea typeface="굴림" panose="020B0600000101010101" pitchFamily="50" charset="-127"/>
              </a:rPr>
              <a:t>ARM </a:t>
            </a:r>
            <a:r>
              <a:rPr lang="ko-KR" altLang="en-US" sz="1200" b="1" dirty="0">
                <a:ea typeface="굴림" panose="020B0600000101010101" pitchFamily="50" charset="-127"/>
              </a:rPr>
              <a:t>“</a:t>
            </a:r>
            <a:r>
              <a:rPr lang="en-US" altLang="ko-KR" sz="1200" b="1" dirty="0">
                <a:ea typeface="굴림" panose="020B0600000101010101" pitchFamily="50" charset="-127"/>
              </a:rPr>
              <a:t>Thumb” </a:t>
            </a:r>
            <a:r>
              <a:rPr lang="ko-KR" altLang="en-US" sz="1200" b="1" dirty="0">
                <a:ea typeface="굴림" panose="020B0600000101010101" pitchFamily="50" charset="-127"/>
              </a:rPr>
              <a:t>기술은 이에 대한 </a:t>
            </a:r>
            <a:r>
              <a:rPr lang="en-US" altLang="ko-KR" sz="1200" b="1" dirty="0">
                <a:ea typeface="굴림" panose="020B0600000101010101" pitchFamily="50" charset="-127"/>
              </a:rPr>
              <a:t>solution</a:t>
            </a:r>
            <a:r>
              <a:rPr lang="ko-KR" altLang="en-US" sz="1200" b="1" dirty="0">
                <a:ea typeface="굴림" panose="020B0600000101010101" pitchFamily="50" charset="-127"/>
              </a:rPr>
              <a:t>을 제공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CA0AD7-8187-7F3A-18C6-CC9F0356FEE2}"/>
              </a:ext>
            </a:extLst>
          </p:cNvPr>
          <p:cNvSpPr txBox="1"/>
          <p:nvPr/>
        </p:nvSpPr>
        <p:spPr>
          <a:xfrm>
            <a:off x="474542" y="2390637"/>
            <a:ext cx="609494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800" b="0" i="0" u="none" strike="noStrike" baseline="0">
                <a:solidFill>
                  <a:srgbClr val="00234A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울트라 모바일 디바이스</a:t>
            </a:r>
            <a:r>
              <a:rPr lang="en-US" altLang="ko-KR" sz="1800" b="1" i="0" u="none" strike="noStrike" baseline="0">
                <a:solidFill>
                  <a:srgbClr val="00234A"/>
                </a:solidFill>
                <a:latin typeface="CourierNewPS-BoldMT"/>
                <a:ea typeface="굴림" panose="020B0600000101010101" pitchFamily="50" charset="-127"/>
              </a:rPr>
              <a:t>(UMD)</a:t>
            </a:r>
          </a:p>
          <a:p>
            <a:pPr algn="l"/>
            <a:r>
              <a:rPr lang="ko-KR" altLang="en-US" sz="1800" b="0" i="0" u="none" strike="noStrike" baseline="0">
                <a:solidFill>
                  <a:srgbClr val="00234A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로우엔드 랩탑</a:t>
            </a:r>
            <a:r>
              <a:rPr lang="en-US" altLang="ko-KR" sz="1800" b="1" i="0" u="none" strike="noStrike" baseline="0">
                <a:solidFill>
                  <a:srgbClr val="00234A"/>
                </a:solidFill>
                <a:latin typeface="CourierNewPS-BoldMT"/>
                <a:ea typeface="굴림" panose="020B0600000101010101" pitchFamily="50" charset="-127"/>
              </a:rPr>
              <a:t>(low-end</a:t>
            </a:r>
          </a:p>
          <a:p>
            <a:pPr algn="l"/>
            <a:r>
              <a:rPr lang="en-US" altLang="ko-KR" sz="1800" b="1" i="0" u="none" strike="noStrike" baseline="0">
                <a:solidFill>
                  <a:srgbClr val="00234A"/>
                </a:solidFill>
                <a:latin typeface="CourierNewPS-BoldMT"/>
                <a:ea typeface="굴림" panose="020B0600000101010101" pitchFamily="50" charset="-127"/>
              </a:rPr>
              <a:t>laptop)</a:t>
            </a:r>
          </a:p>
          <a:p>
            <a:pPr algn="l"/>
            <a:r>
              <a:rPr lang="ko-KR" altLang="en-US" sz="1800" b="0" i="0" u="none" strike="noStrike" baseline="0">
                <a:solidFill>
                  <a:srgbClr val="00234A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넷북</a:t>
            </a:r>
            <a:r>
              <a:rPr lang="en-US" altLang="ko-KR" sz="1800" b="1" i="0" u="none" strike="noStrike" baseline="0">
                <a:solidFill>
                  <a:srgbClr val="00234A"/>
                </a:solidFill>
                <a:latin typeface="CourierNewPS-BoldMT"/>
                <a:ea typeface="굴림" panose="020B0600000101010101" pitchFamily="50" charset="-127"/>
              </a:rPr>
              <a:t>, MID, </a:t>
            </a:r>
            <a:r>
              <a:rPr lang="ko-KR" altLang="en-US" sz="1800" b="0" i="0" u="none" strike="noStrike" baseline="0">
                <a:solidFill>
                  <a:srgbClr val="00234A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스마트북</a:t>
            </a:r>
            <a:r>
              <a:rPr lang="en-US" altLang="ko-KR" sz="1800" b="1" i="0" u="none" strike="noStrike" baseline="0">
                <a:solidFill>
                  <a:srgbClr val="00234A"/>
                </a:solidFill>
                <a:latin typeface="CourierNewPS-BoldMT"/>
                <a:ea typeface="굴림" panose="020B0600000101010101" pitchFamily="50" charset="-127"/>
              </a:rPr>
              <a:t>, UMPC</a:t>
            </a:r>
          </a:p>
          <a:p>
            <a:pPr algn="l"/>
            <a:r>
              <a:rPr lang="ko-KR" altLang="en-US" sz="1800" b="0" i="0" u="none" strike="noStrike" baseline="0">
                <a:solidFill>
                  <a:srgbClr val="00234A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시장 격돌</a:t>
            </a:r>
          </a:p>
          <a:p>
            <a:pPr algn="l"/>
            <a:r>
              <a:rPr lang="en-US" altLang="ko-KR" sz="1800" b="1" i="0" u="none" strike="noStrike" baseline="0">
                <a:solidFill>
                  <a:srgbClr val="00234A"/>
                </a:solidFill>
                <a:latin typeface="CourierNewPS-BoldMT"/>
                <a:ea typeface="굴림" panose="020B0600000101010101" pitchFamily="50" charset="-127"/>
              </a:rPr>
              <a:t>Intel Atom </a:t>
            </a:r>
            <a:r>
              <a:rPr lang="ko-KR" altLang="en-US" sz="1800" b="0" i="0" u="none" strike="noStrike" baseline="0">
                <a:solidFill>
                  <a:srgbClr val="00234A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아키텍쳐</a:t>
            </a:r>
          </a:p>
          <a:p>
            <a:pPr algn="l"/>
            <a:r>
              <a:rPr lang="ko-KR" altLang="en-US" sz="1800" b="0" i="0" u="none" strike="noStrike" baseline="0">
                <a:solidFill>
                  <a:srgbClr val="00234A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인텔은 </a:t>
            </a:r>
            <a:r>
              <a:rPr lang="en-US" altLang="ko-KR" sz="1800" b="1" i="0" u="none" strike="noStrike" baseline="0">
                <a:solidFill>
                  <a:srgbClr val="00234A"/>
                </a:solidFill>
                <a:latin typeface="CourierNewPS-BoldMT"/>
                <a:ea typeface="굴림" panose="020B0600000101010101" pitchFamily="50" charset="-127"/>
              </a:rPr>
              <a:t>2000</a:t>
            </a:r>
            <a:r>
              <a:rPr lang="ko-KR" altLang="en-US" sz="1800" b="0" i="0" u="none" strike="noStrike" baseline="0">
                <a:solidFill>
                  <a:srgbClr val="00234A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년대 중반 </a:t>
            </a:r>
            <a:r>
              <a:rPr lang="en-US" altLang="ko-KR" sz="1800" b="1" i="0" u="none" strike="noStrike" baseline="0">
                <a:solidFill>
                  <a:srgbClr val="00234A"/>
                </a:solidFill>
                <a:latin typeface="CourierNewPS-BoldMT"/>
                <a:ea typeface="굴림" panose="020B0600000101010101" pitchFamily="50" charset="-127"/>
              </a:rPr>
              <a:t>ARM</a:t>
            </a:r>
            <a:r>
              <a:rPr lang="ko-KR" altLang="en-US" sz="1800" b="0" i="0" u="none" strike="noStrike" baseline="0">
                <a:solidFill>
                  <a:srgbClr val="00234A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과</a:t>
            </a:r>
          </a:p>
          <a:p>
            <a:pPr algn="l"/>
            <a:r>
              <a:rPr lang="ko-KR" altLang="en-US" sz="1800" b="0" i="0" u="none" strike="noStrike" baseline="0">
                <a:solidFill>
                  <a:srgbClr val="00234A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결별</a:t>
            </a:r>
          </a:p>
          <a:p>
            <a:pPr algn="l"/>
            <a:r>
              <a:rPr lang="en-US" altLang="ko-KR" sz="1800" b="1" i="0" u="none" strike="noStrike" baseline="0">
                <a:solidFill>
                  <a:srgbClr val="00234A"/>
                </a:solidFill>
                <a:latin typeface="CourierNewPS-BoldMT"/>
                <a:ea typeface="굴림" panose="020B0600000101010101" pitchFamily="50" charset="-127"/>
              </a:rPr>
              <a:t>PXA family</a:t>
            </a:r>
            <a:r>
              <a:rPr lang="ko-KR" altLang="en-US" sz="1800" b="0" i="0" u="none" strike="noStrike" baseline="0">
                <a:solidFill>
                  <a:srgbClr val="00234A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를 </a:t>
            </a:r>
            <a:r>
              <a:rPr lang="en-US" altLang="ko-KR" sz="1800" b="1" i="0" u="none" strike="noStrike" baseline="0">
                <a:solidFill>
                  <a:srgbClr val="00234A"/>
                </a:solidFill>
                <a:latin typeface="CourierNewPS-BoldMT"/>
                <a:ea typeface="굴림" panose="020B0600000101010101" pitchFamily="50" charset="-127"/>
              </a:rPr>
              <a:t>Mavell</a:t>
            </a:r>
            <a:r>
              <a:rPr lang="ko-KR" altLang="en-US" sz="1800" b="0" i="0" u="none" strike="noStrike" baseline="0">
                <a:solidFill>
                  <a:srgbClr val="00234A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</a:t>
            </a:r>
          </a:p>
          <a:p>
            <a:pPr algn="l"/>
            <a:r>
              <a:rPr lang="ko-KR" altLang="en-US" sz="1800" b="0" i="0" u="none" strike="noStrike" baseline="0">
                <a:solidFill>
                  <a:srgbClr val="00234A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넘김</a:t>
            </a:r>
          </a:p>
          <a:p>
            <a:pPr algn="l"/>
            <a:r>
              <a:rPr lang="en-US" altLang="ko-KR" sz="1800" b="1" i="0" u="none" strike="noStrike" baseline="0">
                <a:solidFill>
                  <a:srgbClr val="00234A"/>
                </a:solidFill>
                <a:latin typeface="CourierNewPS-BoldMT"/>
                <a:ea typeface="굴림" panose="020B0600000101010101" pitchFamily="50" charset="-127"/>
              </a:rPr>
              <a:t>ARM Cortex </a:t>
            </a:r>
            <a:r>
              <a:rPr lang="ko-KR" altLang="en-US" sz="1800" b="0" i="0" u="none" strike="noStrike" baseline="0">
                <a:solidFill>
                  <a:srgbClr val="00234A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아키텍쳐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C9E0D5-5B39-58CE-FBF1-F2FB250B6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611" y="-28020"/>
            <a:ext cx="2341349" cy="20953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63229D8-CB7A-80EE-3EDF-870B10A8B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245" y="2067319"/>
            <a:ext cx="7108755" cy="47906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A2776E-F2A2-0BCC-846B-DF9498E0C495}"/>
              </a:ext>
            </a:extLst>
          </p:cNvPr>
          <p:cNvSpPr txBox="1"/>
          <p:nvPr/>
        </p:nvSpPr>
        <p:spPr>
          <a:xfrm>
            <a:off x="159232" y="1035654"/>
            <a:ext cx="60949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i="0" u="none" strike="noStrike" baseline="0" dirty="0">
                <a:latin typeface="Arial" panose="020B0604020202020204" pitchFamily="34" charset="0"/>
              </a:rPr>
              <a:t>ARM Powered Products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6353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319BE6-D16F-0C3B-A6E9-85D7D26D2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81288" cy="3429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8FE3BE-40A6-10B2-4388-5A830226DF7C}"/>
              </a:ext>
            </a:extLst>
          </p:cNvPr>
          <p:cNvSpPr txBox="1"/>
          <p:nvPr/>
        </p:nvSpPr>
        <p:spPr>
          <a:xfrm>
            <a:off x="215988" y="3483760"/>
            <a:ext cx="60949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i="0" u="none" strike="noStrike" baseline="0" dirty="0">
                <a:solidFill>
                  <a:srgbClr val="00234A"/>
                </a:solidFill>
                <a:latin typeface="CourierNewPS-BoldMT"/>
              </a:rPr>
              <a:t>(Laptop market) Arm CPUs forecast to</a:t>
            </a:r>
          </a:p>
          <a:p>
            <a:pPr algn="l"/>
            <a:r>
              <a:rPr lang="en-US" altLang="ko-KR" b="1" i="0" u="none" strike="noStrike" baseline="0" dirty="0">
                <a:solidFill>
                  <a:srgbClr val="00234A"/>
                </a:solidFill>
                <a:latin typeface="CourierNewPS-BoldMT"/>
              </a:rPr>
              <a:t>capture a quarter of laptop market by</a:t>
            </a:r>
          </a:p>
          <a:p>
            <a:pPr algn="l"/>
            <a:r>
              <a:rPr lang="en-US" altLang="ko-KR" b="1" i="0" u="none" strike="noStrike" baseline="0" dirty="0">
                <a:solidFill>
                  <a:srgbClr val="00234A"/>
                </a:solidFill>
                <a:latin typeface="CourierNewPS-BoldMT"/>
              </a:rPr>
              <a:t>2027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3592C2E-5CE9-F546-5A78-FC22B31F4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112" y="2803301"/>
            <a:ext cx="5994184" cy="40074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616794-503B-5D9D-6998-211DF4EE4AD0}"/>
              </a:ext>
            </a:extLst>
          </p:cNvPr>
          <p:cNvSpPr txBox="1"/>
          <p:nvPr/>
        </p:nvSpPr>
        <p:spPr>
          <a:xfrm>
            <a:off x="-276836" y="4585045"/>
            <a:ext cx="60949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>
                <a:ea typeface="굴림" panose="020B0600000101010101" pitchFamily="50" charset="-127"/>
              </a:rPr>
              <a:t>2009</a:t>
            </a:r>
            <a:r>
              <a:rPr lang="ko-KR" altLang="en-US" dirty="0">
                <a:ea typeface="굴림" panose="020B0600000101010101" pitchFamily="50" charset="-127"/>
              </a:rPr>
              <a:t>년 기준 인텔 매출</a:t>
            </a:r>
            <a:r>
              <a:rPr lang="en-US" altLang="ko-KR" dirty="0">
                <a:ea typeface="굴림" panose="020B0600000101010101" pitchFamily="50" charset="-127"/>
              </a:rPr>
              <a:t>:</a:t>
            </a:r>
            <a:r>
              <a:rPr lang="ko-KR" altLang="en-US" dirty="0">
                <a:ea typeface="굴림" panose="020B0600000101010101" pitchFamily="50" charset="-127"/>
              </a:rPr>
              <a:t> </a:t>
            </a:r>
            <a:r>
              <a:rPr lang="en-US" altLang="ko-KR" dirty="0">
                <a:ea typeface="굴림" panose="020B0600000101010101" pitchFamily="50" charset="-127"/>
              </a:rPr>
              <a:t>251</a:t>
            </a:r>
            <a:r>
              <a:rPr lang="ko-KR" altLang="en-US" dirty="0">
                <a:ea typeface="굴림" panose="020B0600000101010101" pitchFamily="50" charset="-127"/>
              </a:rPr>
              <a:t>억</a:t>
            </a:r>
            <a:r>
              <a:rPr lang="en-US" altLang="ko-KR" dirty="0">
                <a:ea typeface="굴림" panose="020B0600000101010101" pitchFamily="50" charset="-127"/>
              </a:rPr>
              <a:t>$, </a:t>
            </a:r>
            <a:r>
              <a:rPr lang="ko-KR" altLang="en-US" dirty="0">
                <a:ea typeface="굴림" panose="020B0600000101010101" pitchFamily="50" charset="-127"/>
              </a:rPr>
              <a:t>직원 수</a:t>
            </a:r>
            <a:r>
              <a:rPr lang="en-US" altLang="ko-KR" dirty="0">
                <a:ea typeface="굴림" panose="020B0600000101010101" pitchFamily="50" charset="-127"/>
              </a:rPr>
              <a:t>:</a:t>
            </a:r>
            <a:r>
              <a:rPr lang="ko-KR" altLang="en-US" dirty="0">
                <a:ea typeface="굴림" panose="020B0600000101010101" pitchFamily="50" charset="-127"/>
              </a:rPr>
              <a:t> </a:t>
            </a:r>
            <a:r>
              <a:rPr lang="en-US" altLang="ko-KR" dirty="0">
                <a:ea typeface="굴림" panose="020B0600000101010101" pitchFamily="50" charset="-127"/>
              </a:rPr>
              <a:t>7</a:t>
            </a:r>
            <a:r>
              <a:rPr lang="ko-KR" altLang="en-US" dirty="0">
                <a:ea typeface="굴림" panose="020B0600000101010101" pitchFamily="50" charset="-127"/>
              </a:rPr>
              <a:t>만</a:t>
            </a:r>
            <a:r>
              <a:rPr lang="en-US" altLang="ko-KR" dirty="0">
                <a:ea typeface="굴림" panose="020B0600000101010101" pitchFamily="50" charset="-127"/>
              </a:rPr>
              <a:t>8900</a:t>
            </a:r>
            <a:r>
              <a:rPr lang="ko-KR" altLang="en-US" dirty="0">
                <a:ea typeface="굴림" panose="020B0600000101010101" pitchFamily="50" charset="-127"/>
              </a:rPr>
              <a:t>명</a:t>
            </a:r>
            <a:endParaRPr lang="en-US" altLang="ko-KR" dirty="0">
              <a:ea typeface="굴림" panose="020B0600000101010101" pitchFamily="50" charset="-127"/>
            </a:endParaRPr>
          </a:p>
          <a:p>
            <a:pPr lvl="1"/>
            <a:r>
              <a:rPr lang="en-US" altLang="ko-KR" dirty="0">
                <a:ea typeface="굴림" panose="020B0600000101010101" pitchFamily="50" charset="-127"/>
              </a:rPr>
              <a:t>2009</a:t>
            </a:r>
            <a:r>
              <a:rPr lang="ko-KR" altLang="en-US" dirty="0">
                <a:ea typeface="굴림" panose="020B0600000101010101" pitchFamily="50" charset="-127"/>
              </a:rPr>
              <a:t>년 </a:t>
            </a:r>
            <a:r>
              <a:rPr lang="en-US" altLang="ko-KR" dirty="0">
                <a:ea typeface="굴림" panose="020B0600000101010101" pitchFamily="50" charset="-127"/>
              </a:rPr>
              <a:t>ARM </a:t>
            </a:r>
            <a:r>
              <a:rPr lang="ko-KR" altLang="en-US" dirty="0">
                <a:ea typeface="굴림" panose="020B0600000101010101" pitchFamily="50" charset="-127"/>
              </a:rPr>
              <a:t>매출</a:t>
            </a:r>
            <a:r>
              <a:rPr lang="en-US" altLang="ko-KR" dirty="0">
                <a:ea typeface="굴림" panose="020B0600000101010101" pitchFamily="50" charset="-127"/>
              </a:rPr>
              <a:t>: 4</a:t>
            </a:r>
            <a:r>
              <a:rPr lang="ko-KR" altLang="en-US" dirty="0">
                <a:ea typeface="굴림" panose="020B0600000101010101" pitchFamily="50" charset="-127"/>
              </a:rPr>
              <a:t>억</a:t>
            </a:r>
            <a:r>
              <a:rPr lang="en-US" altLang="ko-KR" dirty="0">
                <a:ea typeface="굴림" panose="020B0600000101010101" pitchFamily="50" charset="-127"/>
              </a:rPr>
              <a:t>8000</a:t>
            </a:r>
            <a:r>
              <a:rPr lang="ko-KR" altLang="en-US" dirty="0">
                <a:ea typeface="굴림" panose="020B0600000101010101" pitchFamily="50" charset="-127"/>
              </a:rPr>
              <a:t>만</a:t>
            </a:r>
            <a:r>
              <a:rPr lang="en-US" altLang="ko-KR" dirty="0">
                <a:ea typeface="굴림" panose="020B0600000101010101" pitchFamily="50" charset="-127"/>
              </a:rPr>
              <a:t>$(50</a:t>
            </a:r>
            <a:r>
              <a:rPr lang="ko-KR" altLang="en-US" dirty="0">
                <a:ea typeface="굴림" panose="020B0600000101010101" pitchFamily="50" charset="-127"/>
              </a:rPr>
              <a:t>분의 </a:t>
            </a:r>
            <a:r>
              <a:rPr lang="en-US" altLang="ko-KR" dirty="0">
                <a:ea typeface="굴림" panose="020B0600000101010101" pitchFamily="50" charset="-127"/>
              </a:rPr>
              <a:t>1 </a:t>
            </a:r>
            <a:r>
              <a:rPr lang="ko-KR" altLang="en-US" dirty="0">
                <a:ea typeface="굴림" panose="020B0600000101010101" pitchFamily="50" charset="-127"/>
              </a:rPr>
              <a:t>수준</a:t>
            </a:r>
            <a:r>
              <a:rPr lang="en-US" altLang="ko-KR" dirty="0">
                <a:ea typeface="굴림" panose="020B0600000101010101" pitchFamily="50" charset="-127"/>
              </a:rPr>
              <a:t>), </a:t>
            </a:r>
            <a:r>
              <a:rPr lang="ko-KR" altLang="en-US" dirty="0">
                <a:ea typeface="굴림" panose="020B0600000101010101" pitchFamily="50" charset="-127"/>
              </a:rPr>
              <a:t>직원 수</a:t>
            </a:r>
            <a:r>
              <a:rPr lang="en-US" altLang="ko-KR" dirty="0">
                <a:ea typeface="굴림" panose="020B0600000101010101" pitchFamily="50" charset="-127"/>
              </a:rPr>
              <a:t>:</a:t>
            </a:r>
            <a:r>
              <a:rPr lang="ko-KR" altLang="en-US" dirty="0">
                <a:ea typeface="굴림" panose="020B0600000101010101" pitchFamily="50" charset="-127"/>
              </a:rPr>
              <a:t> </a:t>
            </a:r>
            <a:r>
              <a:rPr lang="en-US" altLang="ko-KR" dirty="0">
                <a:ea typeface="굴림" panose="020B0600000101010101" pitchFamily="50" charset="-127"/>
              </a:rPr>
              <a:t>1700</a:t>
            </a:r>
            <a:r>
              <a:rPr lang="ko-KR" altLang="en-US" dirty="0">
                <a:ea typeface="굴림" panose="020B0600000101010101" pitchFamily="50" charset="-127"/>
              </a:rPr>
              <a:t>명 </a:t>
            </a:r>
            <a:endParaRPr lang="en-US" altLang="ko-KR" dirty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0206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BCB8F2-6A34-9321-24AE-69F4C3EDA26D}"/>
              </a:ext>
            </a:extLst>
          </p:cNvPr>
          <p:cNvSpPr txBox="1"/>
          <p:nvPr/>
        </p:nvSpPr>
        <p:spPr>
          <a:xfrm>
            <a:off x="636927" y="1156516"/>
            <a:ext cx="3783724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Embedded systems use different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bus technologies than those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designed for x86 PCs. The most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common PC bus technology, the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Peripheral Component Interconnect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(PCI) bus, connects such devices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as video cards and hard disk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controllers to the x86 processor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bus. This type of technology is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external or off-chip (i.e., the bus is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designed to connect mechanically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and electrically to devices external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to the chip) and is built into the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motherboard of a PC.</a:t>
            </a:r>
          </a:p>
          <a:p>
            <a:pPr algn="l"/>
            <a:r>
              <a:rPr lang="en-US" altLang="ko-KR" sz="1200" i="0" u="none" strike="noStrike" baseline="0" dirty="0">
                <a:solidFill>
                  <a:srgbClr val="DC5214"/>
                </a:solidFill>
                <a:latin typeface="Wingdings-Regular"/>
              </a:rPr>
              <a:t>◼ </a:t>
            </a:r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In contrast, embedded devices use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an on-chip bus that is internal to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the chip and that allows different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peripheral devices to be</a:t>
            </a:r>
          </a:p>
          <a:p>
            <a:pPr algn="l"/>
            <a:r>
              <a:rPr lang="en-US" altLang="ko-KR" sz="1600" i="0" u="none" strike="noStrike" baseline="0" dirty="0">
                <a:solidFill>
                  <a:srgbClr val="00234A"/>
                </a:solidFill>
                <a:latin typeface="Arial" panose="020B0604020202020204" pitchFamily="34" charset="0"/>
              </a:rPr>
              <a:t>interconnected with an ARM core.</a:t>
            </a:r>
            <a:endParaRPr lang="ko-KR" alt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84641-3507-0760-4800-BCC123CE000B}"/>
              </a:ext>
            </a:extLst>
          </p:cNvPr>
          <p:cNvSpPr txBox="1"/>
          <p:nvPr/>
        </p:nvSpPr>
        <p:spPr>
          <a:xfrm>
            <a:off x="693683" y="264861"/>
            <a:ext cx="2849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ARM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Bus Technology</a:t>
            </a:r>
            <a:endParaRPr lang="ko-KR" altLang="en-US" sz="24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3BD5B4-7544-F79D-51DC-2548D2E7B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957" y="718907"/>
            <a:ext cx="5391955" cy="531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39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4083C3-FA03-9669-B377-49313A6DEA75}"/>
              </a:ext>
            </a:extLst>
          </p:cNvPr>
          <p:cNvSpPr txBox="1"/>
          <p:nvPr/>
        </p:nvSpPr>
        <p:spPr>
          <a:xfrm>
            <a:off x="264860" y="726526"/>
            <a:ext cx="6123327" cy="580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ko-KR" altLang="en-US" sz="12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ko-KR" altLang="en-US" sz="1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altLang="ko-KR" sz="1800" b="1" i="0" u="none" strike="noStrike" baseline="0" dirty="0">
                <a:solidFill>
                  <a:srgbClr val="002249"/>
                </a:solidFill>
                <a:latin typeface="Arial" panose="020B0604020202020204" pitchFamily="34" charset="0"/>
              </a:rPr>
              <a:t>The Advanced Microcontroller Bus Architecture (AMBA) has been widely adopted as the on-chip bus architecture used for ARM </a:t>
            </a:r>
            <a:r>
              <a:rPr lang="en-US" altLang="ko-KR" sz="1800" b="1" i="0" u="none" strike="noStrike" baseline="0" dirty="0" err="1">
                <a:solidFill>
                  <a:srgbClr val="002249"/>
                </a:solidFill>
                <a:latin typeface="Arial" panose="020B0604020202020204" pitchFamily="34" charset="0"/>
              </a:rPr>
              <a:t>processors.</a:t>
            </a:r>
            <a:r>
              <a:rPr lang="en-US" altLang="ko-KR" sz="1700" b="0" i="0" u="none" strike="noStrike" baseline="0" dirty="0" err="1">
                <a:solidFill>
                  <a:srgbClr val="002249"/>
                </a:solidFill>
                <a:latin typeface="Arial" panose="020B0604020202020204" pitchFamily="34" charset="0"/>
              </a:rPr>
              <a:t>On</a:t>
            </a:r>
            <a:r>
              <a:rPr lang="en-US" altLang="ko-KR" sz="1700" b="0" i="0" u="none" strike="noStrike" baseline="0" dirty="0">
                <a:solidFill>
                  <a:srgbClr val="002249"/>
                </a:solidFill>
                <a:latin typeface="Arial" panose="020B0604020202020204" pitchFamily="34" charset="0"/>
              </a:rPr>
              <a:t>-chip interconnect technology defined by ARM</a:t>
            </a:r>
            <a:endParaRPr lang="ko-KR" altLang="en-US" sz="1700" b="0" i="0" u="none" strike="noStrike" baseline="0" dirty="0">
              <a:solidFill>
                <a:srgbClr val="002249"/>
              </a:solidFill>
              <a:latin typeface="Arial" panose="020B0604020202020204" pitchFamily="34" charset="0"/>
            </a:endParaRPr>
          </a:p>
          <a:p>
            <a:r>
              <a:rPr lang="en-US" altLang="ko-KR" sz="1400" b="0" i="0" u="none" strike="noStrike" baseline="0" dirty="0">
                <a:solidFill>
                  <a:srgbClr val="DB5213"/>
                </a:solidFill>
                <a:latin typeface="Wingdings" panose="05000000000000000000" pitchFamily="2" charset="2"/>
              </a:rPr>
              <a:t>◼</a:t>
            </a:r>
            <a:r>
              <a:rPr lang="en-US" altLang="ko-KR" sz="1800" b="1" i="0" u="none" strike="noStrike" baseline="0" dirty="0">
                <a:solidFill>
                  <a:srgbClr val="002249"/>
                </a:solidFill>
                <a:latin typeface="Arial" panose="020B0604020202020204" pitchFamily="34" charset="0"/>
              </a:rPr>
              <a:t>There are two different classes of devices attached to the </a:t>
            </a:r>
            <a:r>
              <a:rPr lang="en-US" altLang="ko-KR" sz="1800" b="1" i="0" u="none" strike="noStrike" baseline="0" dirty="0" err="1">
                <a:solidFill>
                  <a:srgbClr val="002249"/>
                </a:solidFill>
                <a:latin typeface="Arial" panose="020B0604020202020204" pitchFamily="34" charset="0"/>
              </a:rPr>
              <a:t>bus.</a:t>
            </a:r>
            <a:r>
              <a:rPr lang="en-US" altLang="ko-KR" sz="1700" b="0" i="0" u="none" strike="noStrike" baseline="0" dirty="0" err="1">
                <a:solidFill>
                  <a:srgbClr val="002249"/>
                </a:solidFill>
                <a:latin typeface="Arial" panose="020B0604020202020204" pitchFamily="34" charset="0"/>
              </a:rPr>
              <a:t>Bus</a:t>
            </a:r>
            <a:r>
              <a:rPr lang="en-US" altLang="ko-KR" sz="1700" b="0" i="0" u="none" strike="noStrike" baseline="0" dirty="0">
                <a:solidFill>
                  <a:srgbClr val="002249"/>
                </a:solidFill>
                <a:latin typeface="Arial" panose="020B0604020202020204" pitchFamily="34" charset="0"/>
              </a:rPr>
              <a:t> master(ARM processor core)—a logical device capable of initiating a data transfer with another device across the same bus.</a:t>
            </a:r>
          </a:p>
          <a:p>
            <a:r>
              <a:rPr lang="en-US" altLang="ko-KR" sz="1700" b="0" i="0" u="none" strike="noStrike" baseline="0" dirty="0">
                <a:solidFill>
                  <a:srgbClr val="002249"/>
                </a:solidFill>
                <a:latin typeface="Arial" panose="020B0604020202020204" pitchFamily="34" charset="0"/>
              </a:rPr>
              <a:t>Bus slaves(Peripherals)—logical devices capable only of responding to a transfer request from a bus master device.</a:t>
            </a:r>
            <a:endParaRPr lang="ko-KR" altLang="en-US" sz="1700" b="0" i="0" u="none" strike="noStrike" baseline="0" dirty="0">
              <a:solidFill>
                <a:srgbClr val="002249"/>
              </a:solidFill>
              <a:latin typeface="Arial" panose="020B0604020202020204" pitchFamily="34" charset="0"/>
            </a:endParaRPr>
          </a:p>
          <a:p>
            <a:r>
              <a:rPr lang="en-US" altLang="ko-KR" sz="1400" b="0" i="0" u="none" strike="noStrike" baseline="0" dirty="0">
                <a:solidFill>
                  <a:srgbClr val="DB5213"/>
                </a:solidFill>
                <a:latin typeface="Wingdings" panose="05000000000000000000" pitchFamily="2" charset="2"/>
              </a:rPr>
              <a:t>◼</a:t>
            </a:r>
            <a:r>
              <a:rPr lang="en-US" altLang="ko-KR" sz="1800" b="1" i="0" u="none" strike="noStrike" baseline="0" dirty="0">
                <a:solidFill>
                  <a:srgbClr val="002249"/>
                </a:solidFill>
                <a:latin typeface="Arial" panose="020B0604020202020204" pitchFamily="34" charset="0"/>
              </a:rPr>
              <a:t>The first AMBA buses introduced were the :</a:t>
            </a:r>
          </a:p>
          <a:p>
            <a:r>
              <a:rPr lang="en-US" altLang="ko-KR" sz="1700" b="1" i="0" u="none" strike="noStrike" baseline="0" dirty="0">
                <a:solidFill>
                  <a:srgbClr val="002249"/>
                </a:solidFill>
                <a:latin typeface="Arial" panose="020B0604020202020204" pitchFamily="34" charset="0"/>
              </a:rPr>
              <a:t>ARM System Bus(ASB)</a:t>
            </a:r>
            <a:endParaRPr lang="en-US" altLang="ko-KR" sz="1700" b="0" i="0" u="none" strike="noStrike" baseline="0" dirty="0">
              <a:solidFill>
                <a:srgbClr val="002249"/>
              </a:solidFill>
              <a:latin typeface="Arial" panose="020B0604020202020204" pitchFamily="34" charset="0"/>
            </a:endParaRPr>
          </a:p>
          <a:p>
            <a:r>
              <a:rPr lang="en-US" altLang="ko-KR" sz="1700" b="1" i="0" u="none" strike="noStrike" baseline="0" dirty="0">
                <a:solidFill>
                  <a:srgbClr val="002249"/>
                </a:solidFill>
                <a:latin typeface="Arial" panose="020B0604020202020204" pitchFamily="34" charset="0"/>
              </a:rPr>
              <a:t>ARM Peripheral Bus(APB).</a:t>
            </a:r>
            <a:endParaRPr lang="en-US" altLang="ko-KR" sz="1700" b="0" i="0" u="none" strike="noStrike" baseline="0" dirty="0">
              <a:solidFill>
                <a:srgbClr val="002249"/>
              </a:solidFill>
              <a:latin typeface="Arial" panose="020B0604020202020204" pitchFamily="34" charset="0"/>
            </a:endParaRPr>
          </a:p>
          <a:p>
            <a:r>
              <a:rPr lang="en-US" altLang="ko-KR" sz="1700" b="1" i="0" u="none" strike="noStrike" baseline="0" dirty="0">
                <a:solidFill>
                  <a:srgbClr val="002249"/>
                </a:solidFill>
                <a:latin typeface="Arial" panose="020B0604020202020204" pitchFamily="34" charset="0"/>
              </a:rPr>
              <a:t>ARM High Performance Bus(AHB).</a:t>
            </a:r>
            <a:endParaRPr lang="ko-KR" altLang="en-US" sz="1700" b="0" i="0" u="none" strike="noStrike" baseline="0" dirty="0">
              <a:solidFill>
                <a:srgbClr val="002249"/>
              </a:solidFill>
              <a:latin typeface="Arial" panose="020B0604020202020204" pitchFamily="34" charset="0"/>
            </a:endParaRPr>
          </a:p>
          <a:p>
            <a:r>
              <a:rPr lang="en-US" altLang="ko-KR" sz="1400" b="0" i="0" u="none" strike="noStrike" baseline="0" dirty="0">
                <a:solidFill>
                  <a:srgbClr val="DB5213"/>
                </a:solidFill>
                <a:latin typeface="Wingdings" panose="05000000000000000000" pitchFamily="2" charset="2"/>
              </a:rPr>
              <a:t>◼</a:t>
            </a:r>
            <a:r>
              <a:rPr lang="en-US" altLang="ko-KR" sz="1800" b="1" i="0" u="none" strike="noStrike" baseline="0" dirty="0">
                <a:solidFill>
                  <a:srgbClr val="002249"/>
                </a:solidFill>
                <a:latin typeface="Arial" panose="020B0604020202020204" pitchFamily="34" charset="0"/>
              </a:rPr>
              <a:t>More about AHB </a:t>
            </a:r>
            <a:r>
              <a:rPr lang="en-US" altLang="ko-KR" sz="1800" b="1" i="0" u="none" strike="noStrike" baseline="0" dirty="0" err="1">
                <a:solidFill>
                  <a:srgbClr val="002249"/>
                </a:solidFill>
                <a:latin typeface="Arial" panose="020B0604020202020204" pitchFamily="34" charset="0"/>
              </a:rPr>
              <a:t>bus.</a:t>
            </a:r>
            <a:r>
              <a:rPr lang="en-US" altLang="ko-KR" sz="1700" b="0" i="0" u="none" strike="noStrike" baseline="0" dirty="0" err="1">
                <a:solidFill>
                  <a:srgbClr val="002249"/>
                </a:solidFill>
                <a:latin typeface="Arial" panose="020B0604020202020204" pitchFamily="34" charset="0"/>
              </a:rPr>
              <a:t>Centralized</a:t>
            </a:r>
            <a:r>
              <a:rPr lang="en-US" altLang="ko-KR" sz="1700" b="0" i="0" u="none" strike="noStrike" baseline="0" dirty="0">
                <a:solidFill>
                  <a:srgbClr val="002249"/>
                </a:solidFill>
                <a:latin typeface="Arial" panose="020B0604020202020204" pitchFamily="34" charset="0"/>
              </a:rPr>
              <a:t> multiplexed provides higher data throughput rather than the ASB bidirectional bus design.</a:t>
            </a:r>
          </a:p>
          <a:p>
            <a:r>
              <a:rPr lang="en-US" altLang="ko-KR" sz="1700" b="0" i="0" u="none" strike="noStrike" baseline="0" dirty="0">
                <a:solidFill>
                  <a:srgbClr val="002249"/>
                </a:solidFill>
                <a:latin typeface="Arial" panose="020B0604020202020204" pitchFamily="34" charset="0"/>
              </a:rPr>
              <a:t>AHB runs at higher clock </a:t>
            </a:r>
            <a:r>
              <a:rPr lang="en-US" altLang="ko-KR" sz="1700" b="0" i="0" u="none" strike="noStrike" baseline="0" dirty="0" err="1">
                <a:solidFill>
                  <a:srgbClr val="002249"/>
                </a:solidFill>
                <a:latin typeface="Arial" panose="020B0604020202020204" pitchFamily="34" charset="0"/>
              </a:rPr>
              <a:t>spreed</a:t>
            </a:r>
            <a:r>
              <a:rPr lang="en-US" altLang="ko-KR" sz="1700" b="0" i="0" u="none" strike="noStrike" baseline="0" dirty="0">
                <a:solidFill>
                  <a:srgbClr val="002249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altLang="ko-KR" sz="1700" b="0" i="0" u="none" strike="noStrike" baseline="0" dirty="0">
                <a:solidFill>
                  <a:srgbClr val="002249"/>
                </a:solidFill>
                <a:latin typeface="Arial" panose="020B0604020202020204" pitchFamily="34" charset="0"/>
              </a:rPr>
              <a:t>It support widths of 64 and 128 bits.</a:t>
            </a:r>
          </a:p>
          <a:p>
            <a:endParaRPr lang="ko-KR" altLang="en-US" sz="1700" b="0" i="0" u="none" strike="noStrike" baseline="0" dirty="0">
              <a:solidFill>
                <a:srgbClr val="002249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BE29B1-7C3E-B926-CF35-FC80A3F03BD3}"/>
              </a:ext>
            </a:extLst>
          </p:cNvPr>
          <p:cNvSpPr txBox="1"/>
          <p:nvPr/>
        </p:nvSpPr>
        <p:spPr>
          <a:xfrm>
            <a:off x="693683" y="264861"/>
            <a:ext cx="2849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ARM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Bus Technology</a:t>
            </a:r>
            <a:endParaRPr lang="ko-KR" altLang="en-US" sz="2400" b="1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3D27059-D61B-8643-1602-E25479C45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614" y="1945842"/>
            <a:ext cx="6015284" cy="2808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31606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6A1E55-8BC4-6F10-2531-5611F9E721CD}"/>
              </a:ext>
            </a:extLst>
          </p:cNvPr>
          <p:cNvSpPr txBox="1"/>
          <p:nvPr/>
        </p:nvSpPr>
        <p:spPr>
          <a:xfrm>
            <a:off x="852915" y="3357399"/>
            <a:ext cx="17452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solidFill>
                  <a:srgbClr val="FF0000"/>
                </a:solidFill>
              </a:rPr>
              <a:t>결정적 </a:t>
            </a:r>
            <a:r>
              <a:rPr lang="en-US" altLang="ko-KR" sz="2400" dirty="0">
                <a:solidFill>
                  <a:srgbClr val="FF0000"/>
                </a:solidFill>
              </a:rPr>
              <a:t>(deterministic) </a:t>
            </a:r>
            <a:r>
              <a:rPr lang="ko-KR" altLang="en-US" sz="2400" dirty="0">
                <a:solidFill>
                  <a:srgbClr val="FF0000"/>
                </a:solidFill>
              </a:rPr>
              <a:t>실시간 </a:t>
            </a:r>
            <a:r>
              <a:rPr lang="ko-KR" altLang="en-US" sz="2400" dirty="0" err="1">
                <a:solidFill>
                  <a:srgbClr val="FF0000"/>
                </a:solidFill>
              </a:rPr>
              <a:t>응답성</a:t>
            </a:r>
            <a:r>
              <a:rPr lang="ko-KR" altLang="en-US" sz="2400" dirty="0">
                <a:solidFill>
                  <a:srgbClr val="FF0000"/>
                </a:solidFill>
              </a:rPr>
              <a:t> 개선</a:t>
            </a:r>
            <a:endParaRPr lang="en-US" altLang="ko-KR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5C6683-4299-3FAB-D21D-777F4686BB7E}"/>
              </a:ext>
            </a:extLst>
          </p:cNvPr>
          <p:cNvSpPr txBox="1"/>
          <p:nvPr/>
        </p:nvSpPr>
        <p:spPr>
          <a:xfrm>
            <a:off x="1156532" y="1035305"/>
            <a:ext cx="6094948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ea typeface="굴림" panose="020B0600000101010101" pitchFamily="50" charset="-127"/>
              </a:rPr>
              <a:t>ARM7</a:t>
            </a:r>
          </a:p>
          <a:p>
            <a:pPr lvl="1"/>
            <a:r>
              <a:rPr lang="ko-KR" altLang="en-US" sz="2000" dirty="0">
                <a:ea typeface="굴림" panose="020B0600000101010101" pitchFamily="50" charset="-127"/>
              </a:rPr>
              <a:t> 폰 </a:t>
            </a:r>
            <a:r>
              <a:rPr lang="ko-KR" altLang="en-US" sz="2000" dirty="0" err="1">
                <a:ea typeface="굴림" panose="020B0600000101010101" pitchFamily="50" charset="-127"/>
              </a:rPr>
              <a:t>노이만</a:t>
            </a:r>
            <a:r>
              <a:rPr lang="en-US" altLang="ko-KR" sz="2000" dirty="0">
                <a:ea typeface="굴림" panose="020B0600000101010101" pitchFamily="50" charset="-127"/>
              </a:rPr>
              <a:t> </a:t>
            </a:r>
            <a:r>
              <a:rPr lang="ko-KR" altLang="en-US" sz="2000" dirty="0" err="1">
                <a:ea typeface="굴림" panose="020B0600000101010101" pitchFamily="50" charset="-127"/>
              </a:rPr>
              <a:t>아키텍쳐에</a:t>
            </a:r>
            <a:r>
              <a:rPr lang="ko-KR" altLang="en-US" sz="2000" dirty="0">
                <a:ea typeface="굴림" panose="020B0600000101010101" pitchFamily="50" charset="-127"/>
              </a:rPr>
              <a:t> 기초</a:t>
            </a:r>
            <a:endParaRPr lang="en-US" altLang="ko-KR" sz="2000" dirty="0">
              <a:ea typeface="굴림" panose="020B0600000101010101" pitchFamily="50" charset="-127"/>
            </a:endParaRPr>
          </a:p>
          <a:p>
            <a:pPr lvl="1"/>
            <a:r>
              <a:rPr lang="en-US" altLang="ko-KR" sz="2000" dirty="0">
                <a:ea typeface="굴림" panose="020B0600000101010101" pitchFamily="50" charset="-127"/>
              </a:rPr>
              <a:t>Code / Data </a:t>
            </a:r>
            <a:r>
              <a:rPr lang="ko-KR" altLang="en-US" sz="2000" dirty="0">
                <a:ea typeface="굴림" panose="020B0600000101010101" pitchFamily="50" charset="-127"/>
              </a:rPr>
              <a:t>를 위한 공유된</a:t>
            </a:r>
            <a:r>
              <a:rPr lang="en-US" altLang="ko-KR" sz="2000" dirty="0">
                <a:ea typeface="굴림" panose="020B0600000101010101" pitchFamily="50" charset="-127"/>
              </a:rPr>
              <a:t>, </a:t>
            </a:r>
            <a:r>
              <a:rPr lang="ko-KR" altLang="en-US" sz="2000" dirty="0">
                <a:ea typeface="굴림" panose="020B0600000101010101" pitchFamily="50" charset="-127"/>
              </a:rPr>
              <a:t>단일 메모리 공간</a:t>
            </a:r>
            <a:endParaRPr lang="en-US" altLang="ko-KR" sz="2000" dirty="0">
              <a:ea typeface="굴림" panose="020B0600000101010101" pitchFamily="50" charset="-127"/>
            </a:endParaRPr>
          </a:p>
          <a:p>
            <a:pPr lvl="1"/>
            <a:r>
              <a:rPr lang="ko-KR" altLang="en-US" sz="2000" dirty="0">
                <a:ea typeface="굴림" panose="020B0600000101010101" pitchFamily="50" charset="-127"/>
              </a:rPr>
              <a:t>선형 </a:t>
            </a:r>
            <a:r>
              <a:rPr lang="en-US" altLang="ko-KR" sz="2000" dirty="0">
                <a:ea typeface="굴림" panose="020B0600000101010101" pitchFamily="50" charset="-127"/>
              </a:rPr>
              <a:t>32-bit </a:t>
            </a:r>
            <a:r>
              <a:rPr lang="ko-KR" altLang="en-US" sz="2000" dirty="0">
                <a:ea typeface="굴림" panose="020B0600000101010101" pitchFamily="50" charset="-127"/>
              </a:rPr>
              <a:t>주소 영역 </a:t>
            </a:r>
            <a:r>
              <a:rPr lang="en-US" altLang="ko-KR" sz="2000" dirty="0">
                <a:ea typeface="굴림" panose="020B0600000101010101" pitchFamily="50" charset="-127"/>
              </a:rPr>
              <a:t>(4 </a:t>
            </a:r>
            <a:r>
              <a:rPr lang="en-US" altLang="ko-KR" sz="2000" dirty="0" err="1">
                <a:ea typeface="굴림" panose="020B0600000101010101" pitchFamily="50" charset="-127"/>
              </a:rPr>
              <a:t>GByte</a:t>
            </a:r>
            <a:r>
              <a:rPr lang="en-US" altLang="ko-KR" sz="2000" dirty="0">
                <a:ea typeface="굴림" panose="020B0600000101010101" pitchFamily="50" charset="-127"/>
              </a:rPr>
              <a:t>) </a:t>
            </a:r>
          </a:p>
          <a:p>
            <a:r>
              <a:rPr lang="en-US" altLang="ko-KR" sz="2400" dirty="0">
                <a:ea typeface="굴림" panose="020B0600000101010101" pitchFamily="50" charset="-127"/>
              </a:rPr>
              <a:t>ARM9</a:t>
            </a:r>
          </a:p>
          <a:p>
            <a:pPr lvl="1"/>
            <a:r>
              <a:rPr lang="en-US" altLang="ko-KR" sz="2000" dirty="0">
                <a:ea typeface="굴림" panose="020B0600000101010101" pitchFamily="50" charset="-127"/>
              </a:rPr>
              <a:t>Harvard architecture</a:t>
            </a:r>
            <a:r>
              <a:rPr lang="ko-KR" altLang="en-US" sz="2000" dirty="0">
                <a:ea typeface="굴림" panose="020B0600000101010101" pitchFamily="50" charset="-127"/>
              </a:rPr>
              <a:t> 지원</a:t>
            </a:r>
            <a:endParaRPr lang="en-US" altLang="ko-KR" sz="2000" dirty="0">
              <a:ea typeface="굴림" panose="020B0600000101010101" pitchFamily="50" charset="-127"/>
            </a:endParaRPr>
          </a:p>
          <a:p>
            <a:pPr lvl="1"/>
            <a:r>
              <a:rPr lang="en-US" altLang="ko-KR" sz="2000" dirty="0">
                <a:ea typeface="굴림" panose="020B0600000101010101" pitchFamily="50" charset="-127"/>
              </a:rPr>
              <a:t>Code / Data</a:t>
            </a:r>
            <a:r>
              <a:rPr lang="ko-KR" altLang="en-US" sz="2000" dirty="0">
                <a:ea typeface="굴림" panose="020B0600000101010101" pitchFamily="50" charset="-127"/>
              </a:rPr>
              <a:t>를 위한 개별적인 메모리 포트</a:t>
            </a:r>
            <a:endParaRPr lang="en-US" altLang="ko-KR" sz="2000" dirty="0">
              <a:ea typeface="굴림" panose="020B0600000101010101" pitchFamily="50" charset="-127"/>
            </a:endParaRPr>
          </a:p>
          <a:p>
            <a:pPr lvl="1"/>
            <a:r>
              <a:rPr lang="en-US" altLang="ko-KR" sz="2000" dirty="0">
                <a:ea typeface="굴림" panose="020B0600000101010101" pitchFamily="50" charset="-127"/>
              </a:rPr>
              <a:t>Code / Data </a:t>
            </a:r>
            <a:r>
              <a:rPr lang="ko-KR" altLang="en-US" sz="2000" dirty="0">
                <a:ea typeface="굴림" panose="020B0600000101010101" pitchFamily="50" charset="-127"/>
              </a:rPr>
              <a:t>에 대한 동시 액세스 제공</a:t>
            </a:r>
            <a:endParaRPr lang="en-US" altLang="ko-KR" sz="2000" dirty="0">
              <a:ea typeface="굴림" panose="020B0600000101010101" pitchFamily="50" charset="-127"/>
            </a:endParaRPr>
          </a:p>
          <a:p>
            <a:pPr lvl="1"/>
            <a:endParaRPr lang="en-US" altLang="ko-KR" sz="2000" dirty="0">
              <a:ea typeface="굴림" panose="020B0600000101010101" pitchFamily="50" charset="-127"/>
            </a:endParaRPr>
          </a:p>
          <a:p>
            <a:r>
              <a:rPr lang="ko-KR" altLang="en-US" dirty="0">
                <a:ea typeface="굴림" panose="020B0600000101010101" pitchFamily="50" charset="-127"/>
              </a:rPr>
              <a:t>메모리 계층구조</a:t>
            </a:r>
            <a:endParaRPr lang="en-US" altLang="ko-KR" dirty="0">
              <a:ea typeface="굴림" panose="020B0600000101010101" pitchFamily="50" charset="-127"/>
            </a:endParaRPr>
          </a:p>
          <a:p>
            <a:pPr lvl="1"/>
            <a:r>
              <a:rPr lang="ko-KR" altLang="en-US" dirty="0">
                <a:ea typeface="굴림" panose="020B0600000101010101" pitchFamily="50" charset="-127"/>
              </a:rPr>
              <a:t>캐시 </a:t>
            </a:r>
            <a:r>
              <a:rPr lang="en-US" altLang="ko-KR" dirty="0">
                <a:ea typeface="굴림" panose="020B0600000101010101" pitchFamily="50" charset="-127"/>
              </a:rPr>
              <a:t>: </a:t>
            </a:r>
            <a:r>
              <a:rPr lang="ko-KR" altLang="en-US" dirty="0">
                <a:ea typeface="굴림" panose="020B0600000101010101" pitchFamily="50" charset="-127"/>
              </a:rPr>
              <a:t>가장 빠른 메모리</a:t>
            </a:r>
            <a:r>
              <a:rPr lang="en-US" altLang="ko-KR" dirty="0">
                <a:ea typeface="굴림" panose="020B0600000101010101" pitchFamily="50" charset="-127"/>
              </a:rPr>
              <a:t>, </a:t>
            </a:r>
            <a:r>
              <a:rPr lang="ko-KR" altLang="en-US" dirty="0">
                <a:ea typeface="굴림" panose="020B0600000101010101" pitchFamily="50" charset="-127"/>
              </a:rPr>
              <a:t>물리적으로 </a:t>
            </a:r>
            <a:r>
              <a:rPr lang="en-US" altLang="ko-KR" dirty="0">
                <a:ea typeface="굴림" panose="020B0600000101010101" pitchFamily="50" charset="-127"/>
              </a:rPr>
              <a:t>ARM </a:t>
            </a:r>
            <a:r>
              <a:rPr lang="ko-KR" altLang="en-US" dirty="0">
                <a:ea typeface="굴림" panose="020B0600000101010101" pitchFamily="50" charset="-127"/>
              </a:rPr>
              <a:t>프로세서 코어에 가장 가까이 위치</a:t>
            </a:r>
            <a:endParaRPr lang="en-US" altLang="ko-KR" dirty="0">
              <a:ea typeface="굴림" panose="020B0600000101010101" pitchFamily="50" charset="-127"/>
            </a:endParaRPr>
          </a:p>
          <a:p>
            <a:pPr lvl="1"/>
            <a:r>
              <a:rPr lang="ko-KR" altLang="en-US" dirty="0">
                <a:ea typeface="굴림" panose="020B0600000101010101" pitchFamily="50" charset="-127"/>
              </a:rPr>
              <a:t>보조 기억 장치 </a:t>
            </a:r>
            <a:r>
              <a:rPr lang="en-US" altLang="ko-KR" dirty="0">
                <a:ea typeface="굴림" panose="020B0600000101010101" pitchFamily="50" charset="-127"/>
              </a:rPr>
              <a:t>: </a:t>
            </a:r>
            <a:r>
              <a:rPr lang="ko-KR" altLang="en-US" dirty="0">
                <a:ea typeface="굴림" panose="020B0600000101010101" pitchFamily="50" charset="-127"/>
              </a:rPr>
              <a:t>가장 느린 메모리</a:t>
            </a:r>
            <a:r>
              <a:rPr lang="en-US" altLang="ko-KR" dirty="0">
                <a:ea typeface="굴림" panose="020B0600000101010101" pitchFamily="50" charset="-127"/>
              </a:rPr>
              <a:t>, </a:t>
            </a:r>
            <a:r>
              <a:rPr lang="ko-KR" altLang="en-US" dirty="0">
                <a:ea typeface="굴림" panose="020B0600000101010101" pitchFamily="50" charset="-127"/>
              </a:rPr>
              <a:t>프로세서에서 가장 멀리 떨어져 있다</a:t>
            </a:r>
            <a:r>
              <a:rPr lang="en-US" altLang="ko-KR" dirty="0">
                <a:ea typeface="굴림" panose="020B0600000101010101" pitchFamily="50" charset="-127"/>
              </a:rPr>
              <a:t>. </a:t>
            </a:r>
          </a:p>
          <a:p>
            <a:r>
              <a:rPr lang="ko-KR" altLang="en-US" dirty="0">
                <a:ea typeface="굴림" panose="020B0600000101010101" pitchFamily="50" charset="-127"/>
              </a:rPr>
              <a:t>메모리가 프로세서에 가까울수록 </a:t>
            </a:r>
            <a:r>
              <a:rPr lang="en-US" altLang="ko-KR" dirty="0">
                <a:ea typeface="굴림" panose="020B0600000101010101" pitchFamily="50" charset="-127"/>
              </a:rPr>
              <a:t>: </a:t>
            </a:r>
            <a:r>
              <a:rPr lang="ko-KR" altLang="en-US" dirty="0">
                <a:ea typeface="굴림" panose="020B0600000101010101" pitchFamily="50" charset="-127"/>
              </a:rPr>
              <a:t>비용</a:t>
            </a:r>
            <a:r>
              <a:rPr lang="ko-KR" altLang="en-US" dirty="0">
                <a:latin typeface="바탕" panose="02030600000101010101" pitchFamily="18" charset="-127"/>
                <a:ea typeface="바탕" panose="02030600000101010101" pitchFamily="18" charset="-127"/>
              </a:rPr>
              <a:t>↑</a:t>
            </a:r>
            <a:r>
              <a:rPr lang="ko-KR" altLang="en-US" dirty="0">
                <a:ea typeface="굴림" panose="020B0600000101010101" pitchFamily="50" charset="-127"/>
              </a:rPr>
              <a:t> 용량</a:t>
            </a:r>
            <a:r>
              <a:rPr lang="ko-KR" altLang="en-US" dirty="0">
                <a:latin typeface="바탕" panose="02030600000101010101" pitchFamily="18" charset="-127"/>
                <a:ea typeface="바탕" panose="02030600000101010101" pitchFamily="18" charset="-127"/>
              </a:rPr>
              <a:t>↓</a:t>
            </a:r>
            <a:endParaRPr lang="ko-KR" altLang="en-US" dirty="0">
              <a:ea typeface="굴림" panose="020B0600000101010101" pitchFamily="50" charset="-127"/>
            </a:endParaRPr>
          </a:p>
          <a:p>
            <a:pPr lvl="1"/>
            <a:endParaRPr lang="ko-KR" altLang="en-US" sz="2000" dirty="0">
              <a:ea typeface="굴림" panose="020B0600000101010101" pitchFamily="50" charset="-12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5228DB5-0F52-286C-BFC6-5372CDBB5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438" y="1425922"/>
            <a:ext cx="5104001" cy="3891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42368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CE0983-CE15-AC92-70FB-3E1404FC8411}"/>
              </a:ext>
            </a:extLst>
          </p:cNvPr>
          <p:cNvSpPr txBox="1"/>
          <p:nvPr/>
        </p:nvSpPr>
        <p:spPr>
          <a:xfrm>
            <a:off x="1615963" y="1327468"/>
            <a:ext cx="843612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MPU</a:t>
            </a:r>
          </a:p>
          <a:p>
            <a:pPr lvl="1"/>
            <a:r>
              <a:rPr lang="en-US" altLang="ko-KR" sz="2000" dirty="0"/>
              <a:t>Simple systems that uses a limited number of memory regions</a:t>
            </a:r>
          </a:p>
          <a:p>
            <a:r>
              <a:rPr lang="en-US" altLang="ko-KR" sz="2400" dirty="0"/>
              <a:t>MMU</a:t>
            </a:r>
          </a:p>
          <a:p>
            <a:pPr lvl="1"/>
            <a:r>
              <a:rPr lang="en-US" altLang="ko-KR" sz="2000" dirty="0"/>
              <a:t>More sophisticated platform operating systems that support multitasking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2F092-6EB2-D0A7-6A52-B17E66AA9AC1}"/>
              </a:ext>
            </a:extLst>
          </p:cNvPr>
          <p:cNvSpPr txBox="1"/>
          <p:nvPr/>
        </p:nvSpPr>
        <p:spPr>
          <a:xfrm>
            <a:off x="1565513" y="3089329"/>
            <a:ext cx="829581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코어의 처리기능을 확장</a:t>
            </a:r>
            <a:endParaRPr lang="en-US" altLang="ko-KR" sz="2000" dirty="0"/>
          </a:p>
          <a:p>
            <a:pPr lvl="1"/>
            <a:r>
              <a:rPr lang="ko-KR" altLang="en-US" dirty="0"/>
              <a:t>명령어 집합을 확장하거나 </a:t>
            </a:r>
            <a:endParaRPr lang="en-US" altLang="ko-KR" dirty="0"/>
          </a:p>
          <a:p>
            <a:pPr lvl="1"/>
            <a:r>
              <a:rPr lang="ko-KR" altLang="en-US" dirty="0"/>
              <a:t>설정 레지스터를 제공</a:t>
            </a:r>
            <a:endParaRPr lang="en-US" altLang="ko-KR" dirty="0"/>
          </a:p>
          <a:p>
            <a:r>
              <a:rPr lang="ko-KR" altLang="en-US" sz="2000" dirty="0"/>
              <a:t>벡터 부동소수점 연산</a:t>
            </a:r>
            <a:r>
              <a:rPr lang="en-US" altLang="ko-KR" sz="2000" dirty="0"/>
              <a:t>(Vector Floating-Point :VFP)</a:t>
            </a:r>
          </a:p>
          <a:p>
            <a:pPr lvl="1"/>
            <a:r>
              <a:rPr lang="en-US" altLang="ko-KR" dirty="0"/>
              <a:t>IEEE754.1985 </a:t>
            </a:r>
            <a:r>
              <a:rPr lang="ko-KR" altLang="en-US" dirty="0"/>
              <a:t>부동소수점 표준과 호환</a:t>
            </a:r>
            <a:endParaRPr lang="en-US" altLang="ko-KR" dirty="0"/>
          </a:p>
          <a:p>
            <a:pPr lvl="1"/>
            <a:r>
              <a:rPr lang="en-US" altLang="ko-KR" dirty="0"/>
              <a:t>CP10/CP11</a:t>
            </a:r>
          </a:p>
          <a:p>
            <a:r>
              <a:rPr lang="ko-KR" altLang="en-US" sz="2000" dirty="0"/>
              <a:t>시스템 제어 코프로세서</a:t>
            </a:r>
            <a:r>
              <a:rPr lang="en-US" altLang="ko-KR" sz="2000" dirty="0"/>
              <a:t>(System Control Coprocessor)</a:t>
            </a:r>
          </a:p>
          <a:p>
            <a:pPr lvl="1"/>
            <a:r>
              <a:rPr lang="en-US" altLang="ko-KR" dirty="0"/>
              <a:t>CP15</a:t>
            </a:r>
          </a:p>
          <a:p>
            <a:pPr lvl="1"/>
            <a:r>
              <a:rPr lang="en-US" altLang="ko-KR" dirty="0"/>
              <a:t>Controls the cache, TCMs, MPU, MMU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F7E239-EE18-D008-F95B-42086ECDF15A}"/>
              </a:ext>
            </a:extLst>
          </p:cNvPr>
          <p:cNvSpPr txBox="1"/>
          <p:nvPr/>
        </p:nvSpPr>
        <p:spPr>
          <a:xfrm>
            <a:off x="1792540" y="105768"/>
            <a:ext cx="60949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/>
              <a:t>코프로세서 </a:t>
            </a:r>
            <a:r>
              <a:rPr lang="en-US" altLang="ko-KR" sz="3200" dirty="0"/>
              <a:t>(Coprocessors)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58173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D9F8BE-5359-79A1-4479-157D35BD8231}"/>
              </a:ext>
            </a:extLst>
          </p:cNvPr>
          <p:cNvSpPr txBox="1"/>
          <p:nvPr/>
        </p:nvSpPr>
        <p:spPr>
          <a:xfrm>
            <a:off x="1412515" y="1455441"/>
            <a:ext cx="87790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ea typeface="굴림" panose="020B0600000101010101" pitchFamily="50" charset="-127"/>
              </a:rPr>
              <a:t>한 명령어 실행을 위한 메모리 접근 횟수</a:t>
            </a:r>
            <a:endParaRPr lang="en-US" altLang="ko-KR" sz="2400" dirty="0">
              <a:ea typeface="굴림" panose="020B0600000101010101" pitchFamily="50" charset="-127"/>
            </a:endParaRPr>
          </a:p>
          <a:p>
            <a:pPr lvl="1"/>
            <a:r>
              <a:rPr lang="en-US" altLang="ko-KR" sz="2000" dirty="0">
                <a:ea typeface="굴림" panose="020B0600000101010101" pitchFamily="50" charset="-127"/>
              </a:rPr>
              <a:t>32</a:t>
            </a:r>
            <a:r>
              <a:rPr lang="ko-KR" altLang="en-US" sz="2000" dirty="0">
                <a:ea typeface="굴림" panose="020B0600000101010101" pitchFamily="50" charset="-127"/>
              </a:rPr>
              <a:t>비트 </a:t>
            </a:r>
            <a:r>
              <a:rPr lang="en-US" altLang="ko-KR" sz="2000" dirty="0">
                <a:ea typeface="굴림" panose="020B0600000101010101" pitchFamily="50" charset="-127"/>
              </a:rPr>
              <a:t>ARM </a:t>
            </a:r>
            <a:r>
              <a:rPr lang="ko-KR" altLang="en-US" sz="2000" dirty="0">
                <a:ea typeface="굴림" panose="020B0600000101010101" pitchFamily="50" charset="-127"/>
              </a:rPr>
              <a:t>명령어와 </a:t>
            </a:r>
            <a:r>
              <a:rPr lang="en-US" altLang="ko-KR" sz="2000" dirty="0">
                <a:ea typeface="굴림" panose="020B0600000101010101" pitchFamily="50" charset="-127"/>
              </a:rPr>
              <a:t>16</a:t>
            </a:r>
            <a:r>
              <a:rPr lang="ko-KR" altLang="en-US" sz="2000" dirty="0">
                <a:ea typeface="굴림" panose="020B0600000101010101" pitchFamily="50" charset="-127"/>
              </a:rPr>
              <a:t>비트폭의 메모리칩을 사용하는 캐시가 없는 경우</a:t>
            </a:r>
            <a:r>
              <a:rPr lang="en-US" altLang="ko-KR" sz="2000" dirty="0">
                <a:ea typeface="굴림" panose="020B0600000101010101" pitchFamily="50" charset="-127"/>
              </a:rPr>
              <a:t>? 16</a:t>
            </a:r>
            <a:r>
              <a:rPr lang="ko-KR" altLang="en-US" sz="2000" dirty="0">
                <a:ea typeface="굴림" panose="020B0600000101010101" pitchFamily="50" charset="-127"/>
              </a:rPr>
              <a:t>비트 </a:t>
            </a:r>
            <a:r>
              <a:rPr lang="en-US" altLang="ko-KR" sz="2000" dirty="0">
                <a:ea typeface="굴림" panose="020B0600000101010101" pitchFamily="50" charset="-127"/>
              </a:rPr>
              <a:t>Thumb </a:t>
            </a:r>
            <a:r>
              <a:rPr lang="ko-KR" altLang="en-US" sz="2000" dirty="0">
                <a:ea typeface="굴림" panose="020B0600000101010101" pitchFamily="50" charset="-127"/>
              </a:rPr>
              <a:t>명령어를 사용한다면</a:t>
            </a:r>
            <a:r>
              <a:rPr lang="en-US" altLang="ko-KR" sz="2000" dirty="0">
                <a:ea typeface="굴림" panose="020B0600000101010101" pitchFamily="50" charset="-127"/>
              </a:rPr>
              <a:t>?</a:t>
            </a:r>
          </a:p>
          <a:p>
            <a:pPr lvl="1"/>
            <a:r>
              <a:rPr lang="en-US" altLang="ko-KR" sz="2000" dirty="0">
                <a:ea typeface="굴림" panose="020B0600000101010101" pitchFamily="50" charset="-127"/>
              </a:rPr>
              <a:t>16 </a:t>
            </a:r>
            <a:r>
              <a:rPr lang="ko-KR" altLang="en-US" sz="2000" dirty="0">
                <a:ea typeface="굴림" panose="020B0600000101010101" pitchFamily="50" charset="-127"/>
              </a:rPr>
              <a:t>비트폭의 메모리에 </a:t>
            </a:r>
            <a:r>
              <a:rPr lang="en-US" altLang="ko-KR" sz="2000" dirty="0">
                <a:ea typeface="굴림" panose="020B0600000101010101" pitchFamily="50" charset="-127"/>
              </a:rPr>
              <a:t>Thumb </a:t>
            </a:r>
            <a:r>
              <a:rPr lang="ko-KR" altLang="en-US" sz="2000" dirty="0">
                <a:ea typeface="굴림" panose="020B0600000101010101" pitchFamily="50" charset="-127"/>
              </a:rPr>
              <a:t>명령어를 사용하면</a:t>
            </a:r>
            <a:r>
              <a:rPr lang="en-US" altLang="ko-KR" sz="2000" dirty="0">
                <a:ea typeface="굴림" panose="020B0600000101010101" pitchFamily="50" charset="-127"/>
              </a:rPr>
              <a:t>?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1846C51-1524-0F24-0CB5-BE49A66FE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633" y="3650526"/>
            <a:ext cx="9925221" cy="1844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41416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M_SoC_lectur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697</Words>
  <Application>Microsoft Office PowerPoint</Application>
  <PresentationFormat>와이드스크린</PresentationFormat>
  <Paragraphs>91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8" baseType="lpstr">
      <vt:lpstr>CourierNewPS-BoldMT</vt:lpstr>
      <vt:lpstr>Wingdings-Regular</vt:lpstr>
      <vt:lpstr>굴림</vt:lpstr>
      <vt:lpstr>바탕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 Choi</cp:lastModifiedBy>
  <cp:revision>22</cp:revision>
  <dcterms:created xsi:type="dcterms:W3CDTF">2013-01-27T09:14:16Z</dcterms:created>
  <dcterms:modified xsi:type="dcterms:W3CDTF">2026-09-07T18:31:31Z</dcterms:modified>
  <cp:category/>
</cp:coreProperties>
</file>