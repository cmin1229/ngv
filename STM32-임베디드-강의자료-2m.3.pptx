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314" r:id="rId13"/>
    <p:sldId id="267" r:id="rId14"/>
    <p:sldId id="268" r:id="rId15"/>
    <p:sldId id="269" r:id="rId16"/>
    <p:sldId id="270" r:id="rId17"/>
    <p:sldId id="271" r:id="rId18"/>
    <p:sldId id="272" r:id="rId19"/>
    <p:sldId id="317" r:id="rId20"/>
    <p:sldId id="316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315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10" r:id="rId55"/>
    <p:sldId id="311" r:id="rId56"/>
    <p:sldId id="312" r:id="rId57"/>
    <p:sldId id="313" r:id="rId58"/>
    <p:sldId id="306" r:id="rId59"/>
    <p:sldId id="305" r:id="rId60"/>
    <p:sldId id="307" r:id="rId61"/>
    <p:sldId id="308" r:id="rId62"/>
    <p:sldId id="309" r:id="rId6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78" y="13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user.kr/new/stmicroelectronics/stm32-xnucleo-expansion-boards/?srsltid=AfmBOopmT4eCgYJqiCR3n9W7ub2xnC6uhyzZgHSFNRAU1vD3BjQ_hu6P" TargetMode="External"/><Relationship Id="rId2" Type="http://schemas.openxmlformats.org/officeDocument/2006/relationships/hyperlink" Target="https://www.mouser.kr/new/stmicroelectronics/stm-nucleo-development-boards/?srsltid=AfmBOorBMAaYb02V-VeoHEeESP16cvMtcG3L2OJxJLVZTCVT2Km6S4wg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jpe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7A6584-05F0-9AE9-4BF7-5EFF756C4818}"/>
              </a:ext>
            </a:extLst>
          </p:cNvPr>
          <p:cNvSpPr txBox="1"/>
          <p:nvPr/>
        </p:nvSpPr>
        <p:spPr>
          <a:xfrm>
            <a:off x="1316965" y="849569"/>
            <a:ext cx="9954883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1200"/>
              </a:spcAft>
              <a:buNone/>
            </a:pPr>
            <a:r>
              <a:rPr lang="ko-KR" altLang="ko-KR" sz="1800" b="1" u="none" strike="noStrike" dirty="0">
                <a:effectLst/>
                <a:latin typeface="+mn-lt"/>
              </a:rPr>
              <a:t>ST </a:t>
            </a:r>
            <a:r>
              <a:rPr lang="ko-KR" altLang="ko-KR" sz="1800" b="1" u="none" strike="noStrike" dirty="0" err="1">
                <a:effectLst/>
                <a:latin typeface="+mn-lt"/>
              </a:rPr>
              <a:t>Morpho</a:t>
            </a:r>
            <a:r>
              <a:rPr lang="ko-KR" altLang="ko-KR" sz="1800" b="1" u="none" strike="noStrike" dirty="0">
                <a:effectLst/>
                <a:latin typeface="+mn-lt"/>
              </a:rPr>
              <a:t>(ST 모포)</a:t>
            </a:r>
            <a:endParaRPr lang="en-US" altLang="ko-KR" sz="1800" b="0" u="none" strike="noStrike" dirty="0">
              <a:effectLst/>
              <a:latin typeface="+mn-lt"/>
            </a:endParaRPr>
          </a:p>
          <a:p>
            <a:pPr marL="0" marR="0">
              <a:spcAft>
                <a:spcPts val="1200"/>
              </a:spcAft>
              <a:buNone/>
            </a:pPr>
            <a:r>
              <a:rPr lang="ko-KR" altLang="ko-KR" sz="1800" b="0" u="none" strike="noStrike" dirty="0" err="1">
                <a:effectLst/>
                <a:latin typeface="+mn-lt"/>
              </a:rPr>
              <a:t>ST마이크로일렉트로닉스</a:t>
            </a:r>
            <a:r>
              <a:rPr lang="ko-KR" altLang="ko-KR" sz="1800" b="0" u="none" strike="noStrike" dirty="0">
                <a:effectLst/>
                <a:latin typeface="+mn-lt"/>
              </a:rPr>
              <a:t>(</a:t>
            </a:r>
            <a:r>
              <a:rPr lang="ko-KR" altLang="ko-KR" sz="1800" b="0" u="none" strike="noStrike" dirty="0" err="1">
                <a:effectLst/>
                <a:latin typeface="+mn-lt"/>
              </a:rPr>
              <a:t>STMicroelectronics</a:t>
            </a:r>
            <a:r>
              <a:rPr lang="ko-KR" altLang="ko-KR" sz="1800" b="0" u="none" strike="noStrike" dirty="0">
                <a:effectLst/>
                <a:latin typeface="+mn-lt"/>
              </a:rPr>
              <a:t>) 사의 </a:t>
            </a:r>
            <a:r>
              <a:rPr lang="ko-KR" altLang="ko-KR" sz="1800" b="0" u="none" strike="noStrike" dirty="0">
                <a:effectLst/>
                <a:latin typeface="+mn-lt"/>
                <a:hlinkClick r:id="rId2"/>
              </a:rPr>
              <a:t>STM32 </a:t>
            </a:r>
            <a:r>
              <a:rPr lang="ko-KR" altLang="ko-KR" sz="1800" b="0" u="none" strike="noStrike" dirty="0" err="1">
                <a:effectLst/>
                <a:latin typeface="+mn-lt"/>
                <a:hlinkClick r:id="rId2"/>
              </a:rPr>
              <a:t>Nucleo</a:t>
            </a:r>
            <a:r>
              <a:rPr lang="ko-KR" altLang="ko-KR" sz="1800" b="0" u="none" strike="noStrike" dirty="0">
                <a:effectLst/>
                <a:latin typeface="+mn-lt"/>
                <a:hlinkClick r:id="rId2"/>
              </a:rPr>
              <a:t> 개발 보드</a:t>
            </a:r>
            <a:r>
              <a:rPr lang="ko-KR" altLang="ko-KR" sz="1800" b="0" u="none" strike="noStrike" dirty="0">
                <a:effectLst/>
                <a:latin typeface="+mn-lt"/>
              </a:rPr>
              <a:t>에 탑재된 독자적인 확장 핀 헤더(커넥터) 규격 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ko-KR" altLang="ko-KR" sz="1800" b="0" u="none" strike="noStrike" dirty="0">
                <a:effectLst/>
                <a:latin typeface="+mn-lt"/>
              </a:rPr>
              <a:t>일반적으로 임베디드 개발 보드에서 흔히 쓰이는 '</a:t>
            </a:r>
            <a:r>
              <a:rPr lang="ko-KR" altLang="ko-KR" sz="1800" b="0" u="none" strike="noStrike" dirty="0" err="1">
                <a:effectLst/>
                <a:latin typeface="+mn-lt"/>
              </a:rPr>
              <a:t>아두이노</a:t>
            </a:r>
            <a:r>
              <a:rPr lang="ko-KR" altLang="ko-KR" sz="1800" b="0" u="none" strike="noStrike" dirty="0">
                <a:effectLst/>
                <a:latin typeface="+mn-lt"/>
              </a:rPr>
              <a:t> </a:t>
            </a:r>
            <a:r>
              <a:rPr lang="ko-KR" altLang="ko-KR" sz="1800" b="0" u="none" strike="noStrike" dirty="0" err="1">
                <a:effectLst/>
                <a:latin typeface="+mn-lt"/>
              </a:rPr>
              <a:t>우노</a:t>
            </a:r>
            <a:r>
              <a:rPr lang="ko-KR" altLang="ko-KR" sz="1800" b="0" u="none" strike="noStrike" dirty="0">
                <a:effectLst/>
                <a:latin typeface="+mn-lt"/>
              </a:rPr>
              <a:t>(</a:t>
            </a:r>
            <a:r>
              <a:rPr lang="ko-KR" altLang="ko-KR" sz="1800" b="0" u="none" strike="noStrike" dirty="0" err="1">
                <a:effectLst/>
                <a:latin typeface="+mn-lt"/>
              </a:rPr>
              <a:t>Arduino</a:t>
            </a:r>
            <a:r>
              <a:rPr lang="ko-KR" altLang="ko-KR" sz="1800" b="0" u="none" strike="noStrike" dirty="0">
                <a:effectLst/>
                <a:latin typeface="+mn-lt"/>
              </a:rPr>
              <a:t> </a:t>
            </a:r>
            <a:r>
              <a:rPr lang="ko-KR" altLang="ko-KR" sz="1800" b="0" u="none" strike="noStrike" dirty="0" err="1">
                <a:effectLst/>
                <a:latin typeface="+mn-lt"/>
              </a:rPr>
              <a:t>Uno</a:t>
            </a:r>
            <a:r>
              <a:rPr lang="ko-KR" altLang="ko-KR" sz="1800" b="0" u="none" strike="noStrike" dirty="0">
                <a:effectLst/>
                <a:latin typeface="+mn-lt"/>
              </a:rPr>
              <a:t> R3)' 핀 규격은 핀 수가 적어 MCU(</a:t>
            </a:r>
            <a:r>
              <a:rPr lang="ko-KR" altLang="ko-KR" sz="1800" b="0" u="none" strike="noStrike" dirty="0" err="1">
                <a:effectLst/>
                <a:latin typeface="+mn-lt"/>
              </a:rPr>
              <a:t>마이크로컨트롤러</a:t>
            </a:r>
            <a:r>
              <a:rPr lang="ko-KR" altLang="ko-KR" sz="1800" b="0" u="none" strike="noStrike" dirty="0">
                <a:effectLst/>
                <a:latin typeface="+mn-lt"/>
              </a:rPr>
              <a:t>)의 성능을 100% 활용하기 어</a:t>
            </a:r>
            <a:r>
              <a:rPr lang="ko-KR" altLang="en-US" sz="1800" b="0" u="none" strike="noStrike" dirty="0">
                <a:effectLst/>
                <a:latin typeface="+mn-lt"/>
              </a:rPr>
              <a:t>려움</a:t>
            </a:r>
            <a:r>
              <a:rPr lang="en-US" altLang="ko-KR" sz="1800" b="0" u="none" strike="noStrike" dirty="0">
                <a:effectLst/>
                <a:latin typeface="+mn-lt"/>
              </a:rPr>
              <a:t>.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ko-KR" altLang="ko-KR" sz="1800" b="0" u="none" strike="noStrike" dirty="0">
                <a:effectLst/>
                <a:latin typeface="+mn-lt"/>
              </a:rPr>
              <a:t>이를 보완하기 위해 </a:t>
            </a:r>
            <a:r>
              <a:rPr lang="ko-KR" altLang="ko-KR" sz="1800" b="0" u="none" strike="noStrike" dirty="0" err="1">
                <a:effectLst/>
                <a:latin typeface="+mn-lt"/>
              </a:rPr>
              <a:t>ST사는</a:t>
            </a:r>
            <a:r>
              <a:rPr lang="ko-KR" altLang="ko-KR" sz="1800" b="0" u="none" strike="noStrike" dirty="0">
                <a:effectLst/>
                <a:latin typeface="+mn-lt"/>
              </a:rPr>
              <a:t> 보드 가장자리에 </a:t>
            </a:r>
            <a:r>
              <a:rPr lang="ko-KR" altLang="ko-KR" sz="1800" b="1" u="none" strike="noStrike" dirty="0" err="1">
                <a:effectLst/>
                <a:latin typeface="+mn-lt"/>
              </a:rPr>
              <a:t>MCU의</a:t>
            </a:r>
            <a:r>
              <a:rPr lang="ko-KR" altLang="ko-KR" sz="1800" b="1" u="none" strike="noStrike" dirty="0">
                <a:effectLst/>
                <a:latin typeface="+mn-lt"/>
              </a:rPr>
              <a:t> 모든 주변장치와 </a:t>
            </a:r>
            <a:r>
              <a:rPr lang="ko-KR" altLang="ko-KR" sz="1800" b="1" u="none" strike="noStrike" dirty="0" err="1">
                <a:effectLst/>
                <a:latin typeface="+mn-lt"/>
              </a:rPr>
              <a:t>I</a:t>
            </a:r>
            <a:r>
              <a:rPr lang="ko-KR" altLang="ko-KR" sz="1800" b="1" u="none" strike="noStrike" dirty="0">
                <a:effectLst/>
                <a:latin typeface="+mn-lt"/>
              </a:rPr>
              <a:t>/</a:t>
            </a:r>
            <a:r>
              <a:rPr lang="ko-KR" altLang="ko-KR" sz="1800" b="1" u="none" strike="noStrike" dirty="0" err="1">
                <a:effectLst/>
                <a:latin typeface="+mn-lt"/>
              </a:rPr>
              <a:t>O</a:t>
            </a:r>
            <a:r>
              <a:rPr lang="ko-KR" altLang="ko-KR" sz="1800" b="1" u="none" strike="noStrike" dirty="0">
                <a:effectLst/>
                <a:latin typeface="+mn-lt"/>
              </a:rPr>
              <a:t>(입출력) 핀에 접근할 수 있는</a:t>
            </a:r>
            <a:r>
              <a:rPr lang="ko-KR" altLang="ko-KR" sz="1800" b="0" u="none" strike="noStrike" dirty="0">
                <a:effectLst/>
                <a:latin typeface="+mn-lt"/>
              </a:rPr>
              <a:t> 2열짜리 고밀도 핀 헤더인 ST </a:t>
            </a:r>
            <a:r>
              <a:rPr lang="ko-KR" altLang="ko-KR" sz="1800" b="0" u="none" strike="noStrike" dirty="0" err="1">
                <a:effectLst/>
                <a:latin typeface="+mn-lt"/>
              </a:rPr>
              <a:t>Morpho를</a:t>
            </a:r>
            <a:r>
              <a:rPr lang="ko-KR" altLang="ko-KR" sz="1800" b="0" u="none" strike="noStrike" dirty="0">
                <a:effectLst/>
                <a:latin typeface="+mn-lt"/>
              </a:rPr>
              <a:t> 배치</a:t>
            </a:r>
            <a:endParaRPr lang="ko-KR" altLang="ko-KR" sz="1200" b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686573-38B2-AF1A-DC57-42DC67231B9C}"/>
              </a:ext>
            </a:extLst>
          </p:cNvPr>
          <p:cNvSpPr txBox="1"/>
          <p:nvPr/>
        </p:nvSpPr>
        <p:spPr>
          <a:xfrm>
            <a:off x="1316965" y="3824154"/>
            <a:ext cx="9322279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ko-KR" altLang="ko-KR" sz="1800" b="1" u="none" strike="noStrike" dirty="0">
                <a:effectLst/>
                <a:latin typeface="+mn-lt"/>
              </a:rPr>
              <a:t>모든 </a:t>
            </a:r>
            <a:r>
              <a:rPr lang="ko-KR" altLang="ko-KR" sz="1800" b="1" u="none" strike="noStrike" dirty="0" err="1">
                <a:effectLst/>
                <a:latin typeface="+mn-lt"/>
              </a:rPr>
              <a:t>I</a:t>
            </a:r>
            <a:r>
              <a:rPr lang="ko-KR" altLang="ko-KR" sz="1800" b="1" u="none" strike="noStrike" dirty="0">
                <a:effectLst/>
                <a:latin typeface="+mn-lt"/>
              </a:rPr>
              <a:t>/</a:t>
            </a:r>
            <a:r>
              <a:rPr lang="ko-KR" altLang="ko-KR" sz="1800" b="1" u="none" strike="noStrike" dirty="0" err="1">
                <a:effectLst/>
                <a:latin typeface="+mn-lt"/>
              </a:rPr>
              <a:t>O</a:t>
            </a:r>
            <a:r>
              <a:rPr lang="ko-KR" altLang="ko-KR" sz="1800" b="1" u="none" strike="noStrike" dirty="0">
                <a:effectLst/>
                <a:latin typeface="+mn-lt"/>
              </a:rPr>
              <a:t> 핀 개방:</a:t>
            </a:r>
            <a:r>
              <a:rPr lang="ko-KR" altLang="ko-KR" sz="1800" b="0" u="none" strike="noStrike" dirty="0">
                <a:effectLst/>
                <a:latin typeface="+mn-lt"/>
              </a:rPr>
              <a:t> STM32 </a:t>
            </a:r>
            <a:r>
              <a:rPr lang="ko-KR" altLang="ko-KR" sz="1800" b="0" u="none" strike="noStrike" dirty="0" err="1">
                <a:effectLst/>
                <a:latin typeface="+mn-lt"/>
              </a:rPr>
              <a:t>마이크로컨트롤러가</a:t>
            </a:r>
            <a:r>
              <a:rPr lang="ko-KR" altLang="ko-KR" sz="1800" b="0" u="none" strike="noStrike" dirty="0">
                <a:effectLst/>
                <a:latin typeface="+mn-lt"/>
              </a:rPr>
              <a:t> 가진 거의 모든 내부 기능(GPIO, SPI, I2C, UART, ADC 등)을 외부로 끌어내어 자유롭게 테스트할 수 있</a:t>
            </a:r>
            <a:r>
              <a:rPr lang="ko-KR" altLang="en-US" sz="1800" b="0" u="none" strike="noStrike" dirty="0">
                <a:effectLst/>
                <a:latin typeface="+mn-lt"/>
              </a:rPr>
              <a:t>음</a:t>
            </a:r>
            <a:r>
              <a:rPr lang="en-US" altLang="ko-KR" sz="1800" b="0" u="none" strike="noStrike" dirty="0">
                <a:effectLst/>
                <a:latin typeface="+mn-lt"/>
              </a:rPr>
              <a:t>.</a:t>
            </a:r>
            <a:endParaRPr lang="ko-KR" altLang="ko-KR" sz="1800" b="0" u="none" strike="noStrike" dirty="0">
              <a:effectLst/>
              <a:latin typeface="+mn-lt"/>
            </a:endParaRPr>
          </a:p>
          <a:p>
            <a:pPr marL="342900" marR="0" lvl="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ko-KR" altLang="ko-KR" sz="1800" b="1" u="none" strike="noStrike" dirty="0">
                <a:effectLst/>
                <a:latin typeface="+mn-lt"/>
              </a:rPr>
              <a:t>전용 확장 보드(</a:t>
            </a:r>
            <a:r>
              <a:rPr lang="ko-KR" altLang="ko-KR" sz="1800" b="1" u="none" strike="noStrike" dirty="0" err="1">
                <a:effectLst/>
                <a:latin typeface="+mn-lt"/>
              </a:rPr>
              <a:t>Shield</a:t>
            </a:r>
            <a:r>
              <a:rPr lang="ko-KR" altLang="ko-KR" sz="1800" b="1" u="none" strike="noStrike" dirty="0">
                <a:effectLst/>
                <a:latin typeface="+mn-lt"/>
              </a:rPr>
              <a:t>) 연결:</a:t>
            </a:r>
            <a:r>
              <a:rPr lang="ko-KR" altLang="ko-KR" sz="1800" b="0" u="none" strike="noStrike" dirty="0">
                <a:effectLst/>
                <a:latin typeface="+mn-lt"/>
              </a:rPr>
              <a:t> </a:t>
            </a:r>
            <a:r>
              <a:rPr lang="ko-KR" altLang="ko-KR" sz="1800" b="0" u="none" strike="noStrike" dirty="0">
                <a:effectLst/>
                <a:latin typeface="+mn-lt"/>
                <a:hlinkClick r:id="rId3"/>
              </a:rPr>
              <a:t>ST </a:t>
            </a:r>
            <a:r>
              <a:rPr lang="ko-KR" altLang="ko-KR" sz="1800" b="0" u="none" strike="noStrike" dirty="0" err="1">
                <a:effectLst/>
                <a:latin typeface="+mn-lt"/>
                <a:hlinkClick r:id="rId3"/>
              </a:rPr>
              <a:t>X-Nucleo</a:t>
            </a:r>
            <a:r>
              <a:rPr lang="ko-KR" altLang="ko-KR" sz="1800" b="0" u="none" strike="noStrike" dirty="0">
                <a:effectLst/>
                <a:latin typeface="+mn-lt"/>
                <a:hlinkClick r:id="rId3"/>
              </a:rPr>
              <a:t> 확장 보드</a:t>
            </a:r>
            <a:r>
              <a:rPr lang="ko-KR" altLang="ko-KR" sz="1800" b="0" u="none" strike="noStrike" dirty="0">
                <a:effectLst/>
                <a:latin typeface="+mn-lt"/>
              </a:rPr>
              <a:t>나 모터 드라이버, 가속도 센서, 통신 모듈 등의 다양한 특수 하드웨어를 </a:t>
            </a:r>
            <a:r>
              <a:rPr lang="ko-KR" altLang="ko-KR" sz="1800" b="0" u="none" strike="noStrike" dirty="0" err="1">
                <a:effectLst/>
                <a:latin typeface="+mn-lt"/>
              </a:rPr>
              <a:t>적층식으로</a:t>
            </a:r>
            <a:r>
              <a:rPr lang="ko-KR" altLang="ko-KR" sz="1800" b="0" u="none" strike="noStrike" dirty="0">
                <a:effectLst/>
                <a:latin typeface="+mn-lt"/>
              </a:rPr>
              <a:t> 쉽게 연결해 프로토타입을 만들 수 있</a:t>
            </a:r>
            <a:r>
              <a:rPr lang="ko-KR" altLang="en-US" dirty="0"/>
              <a:t>음</a:t>
            </a:r>
            <a:endParaRPr lang="ko-KR" altLang="ko-KR" sz="1800" b="0" u="none" strike="noStrike" dirty="0">
              <a:effectLst/>
              <a:latin typeface="+mn-lt"/>
            </a:endParaRPr>
          </a:p>
          <a:p>
            <a:pPr marL="342900" marR="0" lvl="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ko-KR" altLang="ko-KR" sz="1800" b="1" u="none" strike="noStrike" dirty="0" err="1">
                <a:effectLst/>
                <a:latin typeface="+mn-lt"/>
              </a:rPr>
              <a:t>아두이노</a:t>
            </a:r>
            <a:r>
              <a:rPr lang="ko-KR" altLang="ko-KR" sz="1800" b="1" u="none" strike="noStrike" dirty="0">
                <a:effectLst/>
                <a:latin typeface="+mn-lt"/>
              </a:rPr>
              <a:t> 규격과 공존:</a:t>
            </a:r>
            <a:r>
              <a:rPr lang="ko-KR" altLang="ko-KR" sz="1800" b="0" u="none" strike="noStrike" dirty="0">
                <a:effectLst/>
                <a:latin typeface="+mn-lt"/>
              </a:rPr>
              <a:t> </a:t>
            </a:r>
            <a:r>
              <a:rPr lang="ko-KR" altLang="ko-KR" sz="1800" b="0" u="none" strike="noStrike" dirty="0" err="1">
                <a:effectLst/>
                <a:latin typeface="+mn-lt"/>
              </a:rPr>
              <a:t>Nucleo</a:t>
            </a:r>
            <a:r>
              <a:rPr lang="ko-KR" altLang="ko-KR" sz="1800" b="0" u="none" strike="noStrike" dirty="0">
                <a:effectLst/>
                <a:latin typeface="+mn-lt"/>
              </a:rPr>
              <a:t> 보드 안쪽에는 </a:t>
            </a:r>
            <a:r>
              <a:rPr lang="ko-KR" altLang="ko-KR" sz="1800" b="0" u="none" strike="noStrike" dirty="0" err="1">
                <a:effectLst/>
                <a:latin typeface="+mn-lt"/>
              </a:rPr>
              <a:t>아두이노</a:t>
            </a:r>
            <a:r>
              <a:rPr lang="ko-KR" altLang="ko-KR" sz="1800" b="0" u="none" strike="noStrike" dirty="0">
                <a:effectLst/>
                <a:latin typeface="+mn-lt"/>
              </a:rPr>
              <a:t> 핀 헤더가, 가장자리 바깥쪽에는 ST </a:t>
            </a:r>
            <a:r>
              <a:rPr lang="ko-KR" altLang="ko-KR" sz="1800" b="0" u="none" strike="noStrike" dirty="0" err="1">
                <a:effectLst/>
                <a:latin typeface="+mn-lt"/>
              </a:rPr>
              <a:t>Morpho</a:t>
            </a:r>
            <a:r>
              <a:rPr lang="ko-KR" altLang="ko-KR" sz="1800" b="0" u="none" strike="noStrike" dirty="0">
                <a:effectLst/>
                <a:latin typeface="+mn-lt"/>
              </a:rPr>
              <a:t> 헤더가 동시에 배치되어 있어 두 규격의 확장 보드를 선택하여 사용할 수 있</a:t>
            </a:r>
            <a:r>
              <a:rPr lang="ko-KR" altLang="en-US" sz="1800" b="0" u="none" strike="noStrike" dirty="0">
                <a:effectLst/>
                <a:latin typeface="+mn-lt"/>
              </a:rPr>
              <a:t>음</a:t>
            </a:r>
            <a:r>
              <a:rPr lang="en-US" altLang="ko-KR" sz="1800" b="0" u="none" strike="noStrike" dirty="0">
                <a:effectLst/>
                <a:latin typeface="+mn-lt"/>
              </a:rPr>
              <a:t>.</a:t>
            </a:r>
            <a:endParaRPr lang="ko-KR" altLang="ko-KR" sz="1200" b="0" u="none" strike="noStrike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074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93BF7B0-B8B8-076C-ED1E-F66F57CCD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9262"/>
            <a:ext cx="7693980" cy="48087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6A8464-E5F4-7EFE-83C0-8C0A3417CFED}"/>
              </a:ext>
            </a:extLst>
          </p:cNvPr>
          <p:cNvSpPr txBox="1"/>
          <p:nvPr/>
        </p:nvSpPr>
        <p:spPr>
          <a:xfrm>
            <a:off x="781234" y="355107"/>
            <a:ext cx="24161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Include Path </a:t>
            </a:r>
            <a:r>
              <a:rPr lang="ko-KR" altLang="en-US" sz="2400" dirty="0"/>
              <a:t>설정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419CB7A-32E5-E4D3-C595-1AC5524F1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273" y="0"/>
            <a:ext cx="6557727" cy="4367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043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FE5D7E-3842-2364-D6F9-45182D02973F}"/>
              </a:ext>
            </a:extLst>
          </p:cNvPr>
          <p:cNvSpPr txBox="1"/>
          <p:nvPr/>
        </p:nvSpPr>
        <p:spPr>
          <a:xfrm>
            <a:off x="1293139" y="1864538"/>
            <a:ext cx="9364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E:\files\STM32CubeG0-master\STM32CubeG0-master\Drivers\BSP\STM32G0xx_Nucleo_32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A5ABBA-C4C5-F10D-7AAA-DAFAB4DF7510}"/>
              </a:ext>
            </a:extLst>
          </p:cNvPr>
          <p:cNvSpPr txBox="1"/>
          <p:nvPr/>
        </p:nvSpPr>
        <p:spPr>
          <a:xfrm>
            <a:off x="1293138" y="2510869"/>
            <a:ext cx="9793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E:\files\STM32CubeG0-master\STM32CubeG0-master\Drivers\CMSIS\Device\ST\STM32G0xx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E04FFE-7DF2-4D40-0C77-B77CBF938C8E}"/>
              </a:ext>
            </a:extLst>
          </p:cNvPr>
          <p:cNvSpPr txBox="1"/>
          <p:nvPr/>
        </p:nvSpPr>
        <p:spPr>
          <a:xfrm>
            <a:off x="1293138" y="3190280"/>
            <a:ext cx="10045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E:\files\STM32CubeG0-master\STM32CubeG0-master\Drivers\CMSIS\Include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865D32-4B27-238C-A273-8F563D84DFFA}"/>
              </a:ext>
            </a:extLst>
          </p:cNvPr>
          <p:cNvSpPr txBox="1"/>
          <p:nvPr/>
        </p:nvSpPr>
        <p:spPr>
          <a:xfrm>
            <a:off x="1293139" y="3846015"/>
            <a:ext cx="9951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E:\files\STM32CubeG0-master\STM32CubeG0-master\Drivers\STM32G0xx_HAL_Driver\Inc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11ECB1-7C52-2DBF-D235-ED2456C4F8E8}"/>
              </a:ext>
            </a:extLst>
          </p:cNvPr>
          <p:cNvSpPr txBox="1"/>
          <p:nvPr/>
        </p:nvSpPr>
        <p:spPr>
          <a:xfrm>
            <a:off x="781234" y="355107"/>
            <a:ext cx="24161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Include Path </a:t>
            </a:r>
            <a:r>
              <a:rPr lang="ko-KR" altLang="en-US" sz="2400" dirty="0"/>
              <a:t>설정</a:t>
            </a:r>
          </a:p>
        </p:txBody>
      </p:sp>
    </p:spTree>
    <p:extLst>
      <p:ext uri="{BB962C8B-B14F-4D97-AF65-F5344CB8AC3E}">
        <p14:creationId xmlns:p14="http://schemas.microsoft.com/office/powerpoint/2010/main" val="11436439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35492F-6B5C-3000-9F71-B79BC2F9BCD6}"/>
              </a:ext>
            </a:extLst>
          </p:cNvPr>
          <p:cNvSpPr txBox="1"/>
          <p:nvPr/>
        </p:nvSpPr>
        <p:spPr>
          <a:xfrm>
            <a:off x="1276710" y="1271977"/>
            <a:ext cx="9638580" cy="1469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1200"/>
              </a:spcAft>
              <a:buNone/>
            </a:pPr>
            <a:r>
              <a:rPr lang="ko-KR" altLang="ko-KR" sz="1800" b="0" u="none" strike="noStrike" dirty="0">
                <a:effectLst/>
                <a:latin typeface="+mn-lt"/>
              </a:rPr>
              <a:t>STM32 </a:t>
            </a:r>
            <a:r>
              <a:rPr lang="ko-KR" altLang="ko-KR" sz="1800" b="0" u="none" strike="noStrike" dirty="0" err="1">
                <a:effectLst/>
                <a:latin typeface="+mn-lt"/>
              </a:rPr>
              <a:t>마이크로컨트롤러</a:t>
            </a:r>
            <a:r>
              <a:rPr lang="ko-KR" altLang="ko-KR" sz="1800" b="0" u="none" strike="noStrike" dirty="0">
                <a:effectLst/>
                <a:latin typeface="+mn-lt"/>
              </a:rPr>
              <a:t>(특히 MCU 내부의 저전력 라인업인 STM32L 시리즈 등)</a:t>
            </a:r>
            <a:r>
              <a:rPr lang="ko-KR" altLang="ko-KR" sz="1800" b="0" u="none" strike="noStrike" dirty="0" err="1">
                <a:effectLst/>
                <a:latin typeface="+mn-lt"/>
              </a:rPr>
              <a:t>에</a:t>
            </a:r>
            <a:r>
              <a:rPr lang="ko-KR" altLang="ko-KR" sz="1800" b="0" u="none" strike="noStrike" dirty="0">
                <a:effectLst/>
                <a:latin typeface="+mn-lt"/>
              </a:rPr>
              <a:t> 탑재된 </a:t>
            </a:r>
            <a:r>
              <a:rPr lang="ko-KR" altLang="ko-KR" sz="1800" b="1" u="none" strike="noStrike" dirty="0">
                <a:effectLst/>
                <a:latin typeface="+mn-lt"/>
              </a:rPr>
              <a:t>속도 조절이 가능한 내부 RC </a:t>
            </a:r>
            <a:r>
              <a:rPr lang="ko-KR" altLang="ko-KR" sz="1800" b="1" u="none" strike="noStrike" dirty="0" err="1">
                <a:effectLst/>
                <a:latin typeface="+mn-lt"/>
              </a:rPr>
              <a:t>오실레이터</a:t>
            </a:r>
            <a:endParaRPr lang="ko-KR" altLang="ko-KR" sz="1800" b="0" u="none" strike="noStrike" dirty="0">
              <a:effectLst/>
              <a:latin typeface="+mn-lt"/>
            </a:endParaRP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ko-KR" altLang="ko-KR" sz="1800" b="0" u="none" strike="noStrike" dirty="0">
                <a:effectLst/>
                <a:latin typeface="+mn-lt"/>
              </a:rPr>
              <a:t>칩 내부에 내장되어 있어 별도의 외부 크리스탈(부품) 없이도 </a:t>
            </a:r>
            <a:r>
              <a:rPr lang="ko-KR" altLang="ko-KR" sz="1800" b="0" u="none" strike="noStrike" dirty="0" err="1">
                <a:effectLst/>
                <a:latin typeface="+mn-lt"/>
              </a:rPr>
              <a:t>MCU를</a:t>
            </a:r>
            <a:r>
              <a:rPr lang="ko-KR" altLang="ko-KR" sz="1800" b="0" u="none" strike="noStrike" dirty="0">
                <a:effectLst/>
                <a:latin typeface="+mn-lt"/>
              </a:rPr>
              <a:t> 구동할 수 있게 해주며, </a:t>
            </a:r>
            <a:r>
              <a:rPr lang="ko-KR" altLang="ko-KR" sz="1800" b="1" u="none" strike="noStrike" dirty="0">
                <a:effectLst/>
                <a:latin typeface="+mn-lt"/>
              </a:rPr>
              <a:t>소모 전력과 처리 속도(주파수)</a:t>
            </a:r>
            <a:r>
              <a:rPr lang="ko-KR" altLang="ko-KR" sz="1800" b="1" u="none" strike="noStrike" dirty="0" err="1">
                <a:effectLst/>
                <a:latin typeface="+mn-lt"/>
              </a:rPr>
              <a:t>를</a:t>
            </a:r>
            <a:r>
              <a:rPr lang="ko-KR" altLang="ko-KR" sz="1800" b="1" u="none" strike="noStrike" dirty="0">
                <a:effectLst/>
                <a:latin typeface="+mn-lt"/>
              </a:rPr>
              <a:t> 상황에 맞춰 유연하게 변경할 수 있는 점</a:t>
            </a:r>
            <a:r>
              <a:rPr lang="ko-KR" altLang="ko-KR" sz="1800" b="0" u="none" strike="noStrike" dirty="0">
                <a:effectLst/>
                <a:latin typeface="+mn-lt"/>
              </a:rPr>
              <a:t>이 </a:t>
            </a:r>
            <a:r>
              <a:rPr lang="ko-KR" altLang="en-US" sz="1800" b="0" u="none" strike="noStrike" dirty="0">
                <a:effectLst/>
                <a:latin typeface="+mn-lt"/>
              </a:rPr>
              <a:t>특징</a:t>
            </a:r>
            <a:endParaRPr lang="ko-KR" altLang="ko-KR" sz="1200" b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002434-A09C-20FD-5487-40CEB9DA19E6}"/>
              </a:ext>
            </a:extLst>
          </p:cNvPr>
          <p:cNvSpPr txBox="1"/>
          <p:nvPr/>
        </p:nvSpPr>
        <p:spPr>
          <a:xfrm>
            <a:off x="1662022" y="5773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0" b="1" u="none" strike="noStrike" dirty="0">
                <a:effectLst/>
                <a:latin typeface="+mn-lt"/>
              </a:rPr>
              <a:t>MSI(</a:t>
            </a:r>
            <a:r>
              <a:rPr lang="ko-KR" altLang="ko-KR" sz="1800" b="1" u="none" strike="noStrike" dirty="0" err="1">
                <a:effectLst/>
                <a:latin typeface="+mn-lt"/>
              </a:rPr>
              <a:t>Multi-Speed</a:t>
            </a:r>
            <a:r>
              <a:rPr lang="ko-KR" altLang="ko-KR" sz="1800" b="1" u="none" strike="noStrike" dirty="0">
                <a:effectLst/>
                <a:latin typeface="+mn-lt"/>
              </a:rPr>
              <a:t> </a:t>
            </a:r>
            <a:r>
              <a:rPr lang="ko-KR" altLang="ko-KR" sz="1800" b="1" u="none" strike="noStrike" dirty="0" err="1">
                <a:effectLst/>
                <a:latin typeface="+mn-lt"/>
              </a:rPr>
              <a:t>Internal</a:t>
            </a:r>
            <a:r>
              <a:rPr lang="ko-KR" altLang="ko-KR" sz="1800" b="1" u="none" strike="noStrike" dirty="0">
                <a:effectLst/>
                <a:latin typeface="+mn-lt"/>
              </a:rPr>
              <a:t>) </a:t>
            </a:r>
            <a:r>
              <a:rPr lang="ko-KR" altLang="ko-KR" sz="1800" b="1" u="none" strike="noStrike">
                <a:effectLst/>
                <a:latin typeface="+mn-lt"/>
              </a:rPr>
              <a:t>오실레이터</a:t>
            </a:r>
            <a:r>
              <a:rPr lang="ko-KR" altLang="ko-KR" sz="1800" b="0" u="none" strike="noStrike">
                <a:effectLst/>
                <a:latin typeface="+mn-lt"/>
              </a:rPr>
              <a:t> 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781CC7-BB97-A21B-3EC3-224269852A87}"/>
              </a:ext>
            </a:extLst>
          </p:cNvPr>
          <p:cNvSpPr txBox="1"/>
          <p:nvPr/>
        </p:nvSpPr>
        <p:spPr>
          <a:xfrm>
            <a:off x="1276709" y="2958271"/>
            <a:ext cx="9448799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ko-KR" altLang="ko-KR" sz="1800" b="1" u="none" strike="noStrike" dirty="0">
                <a:effectLst/>
                <a:latin typeface="+mn-lt"/>
              </a:rPr>
              <a:t>가벼운 가변 주파수:</a:t>
            </a:r>
            <a:r>
              <a:rPr lang="ko-KR" altLang="ko-KR" sz="1800" b="0" u="none" strike="noStrike" dirty="0">
                <a:effectLst/>
                <a:latin typeface="+mn-lt"/>
              </a:rPr>
              <a:t> 하드웨어 설정(레지스터 조작)만으로 약 100kHz의 초저주파수부터 수십 </a:t>
            </a:r>
            <a:r>
              <a:rPr lang="ko-KR" altLang="ko-KR" sz="1800" b="0" u="none" strike="noStrike" dirty="0" err="1">
                <a:effectLst/>
                <a:latin typeface="+mn-lt"/>
              </a:rPr>
              <a:t>MHz</a:t>
            </a:r>
            <a:r>
              <a:rPr lang="ko-KR" altLang="ko-KR" sz="1800" b="0" u="none" strike="noStrike" dirty="0">
                <a:effectLst/>
                <a:latin typeface="+mn-lt"/>
              </a:rPr>
              <a:t>(모델에 따라 48MHz 이상)까지 주파수를 동적으로 변경할 수 있습니다.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ko-KR" altLang="ko-KR" sz="1800" b="1" u="none" strike="noStrike" dirty="0">
                <a:effectLst/>
                <a:latin typeface="+mn-lt"/>
              </a:rPr>
              <a:t>초고속 기상(</a:t>
            </a:r>
            <a:r>
              <a:rPr lang="ko-KR" altLang="ko-KR" sz="1800" b="1" u="none" strike="noStrike" dirty="0" err="1">
                <a:effectLst/>
                <a:latin typeface="+mn-lt"/>
              </a:rPr>
              <a:t>Wake-up</a:t>
            </a:r>
            <a:r>
              <a:rPr lang="ko-KR" altLang="ko-KR" sz="1800" b="1" u="none" strike="noStrike" dirty="0">
                <a:effectLst/>
                <a:latin typeface="+mn-lt"/>
              </a:rPr>
              <a:t>):</a:t>
            </a:r>
            <a:r>
              <a:rPr lang="ko-KR" altLang="ko-KR" sz="1800" b="0" u="none" strike="noStrike" dirty="0">
                <a:effectLst/>
                <a:latin typeface="+mn-lt"/>
              </a:rPr>
              <a:t> </a:t>
            </a:r>
            <a:r>
              <a:rPr lang="ko-KR" altLang="ko-KR" sz="1800" b="0" u="none" strike="noStrike" dirty="0" err="1">
                <a:effectLst/>
                <a:latin typeface="+mn-lt"/>
              </a:rPr>
              <a:t>MCU가</a:t>
            </a:r>
            <a:r>
              <a:rPr lang="ko-KR" altLang="ko-KR" sz="1800" b="0" u="none" strike="noStrike" dirty="0">
                <a:effectLst/>
                <a:latin typeface="+mn-lt"/>
              </a:rPr>
              <a:t> 저전력 모드(</a:t>
            </a:r>
            <a:r>
              <a:rPr lang="ko-KR" altLang="ko-KR" sz="1800" b="0" u="none" strike="noStrike" dirty="0" err="1">
                <a:effectLst/>
                <a:latin typeface="+mn-lt"/>
              </a:rPr>
              <a:t>Stop</a:t>
            </a:r>
            <a:r>
              <a:rPr lang="ko-KR" altLang="ko-KR" sz="1800" b="0" u="none" strike="noStrike" dirty="0">
                <a:effectLst/>
                <a:latin typeface="+mn-lt"/>
              </a:rPr>
              <a:t>/</a:t>
            </a:r>
            <a:r>
              <a:rPr lang="ko-KR" altLang="ko-KR" sz="1800" b="0" u="none" strike="noStrike" dirty="0" err="1">
                <a:effectLst/>
                <a:latin typeface="+mn-lt"/>
              </a:rPr>
              <a:t>Standby</a:t>
            </a:r>
            <a:r>
              <a:rPr lang="ko-KR" altLang="ko-KR" sz="1800" b="0" u="none" strike="noStrike" dirty="0">
                <a:effectLst/>
                <a:latin typeface="+mn-lt"/>
              </a:rPr>
              <a:t>)에서 깨어날 때, 외부 크리스탈(HSE)보다 훨씬 빠르게 안정화되어 즉시 코드를 실행할 수 있습니다.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ko-KR" altLang="ko-KR" sz="1800" b="1" u="none" strike="noStrike" dirty="0">
                <a:effectLst/>
                <a:latin typeface="+mn-lt"/>
              </a:rPr>
              <a:t>저전력 최적화:</a:t>
            </a:r>
            <a:r>
              <a:rPr lang="ko-KR" altLang="ko-KR" sz="1800" b="0" u="none" strike="noStrike" dirty="0">
                <a:effectLst/>
                <a:latin typeface="+mn-lt"/>
              </a:rPr>
              <a:t> 고성능이 필요 없을 때는 주파수를 낮추어 소모 전력을 극단적으로 줄일 수 있습니다.</a:t>
            </a:r>
            <a:endParaRPr lang="ko-KR" altLang="ko-KR" sz="1200" b="0" u="none" strike="noStrike" dirty="0"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9E4730-B723-0663-3742-E34A071A3C47}"/>
                  </a:ext>
                </a:extLst>
              </p:cNvPr>
              <p:cNvSpPr txBox="1"/>
              <p:nvPr/>
            </p:nvSpPr>
            <p:spPr>
              <a:xfrm>
                <a:off x="-40257" y="5698884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ko-KR" altLang="en-US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ko-KR" altLang="en-US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ko-KR" altLang="en-US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9E4730-B723-0663-3742-E34A071A3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257" y="5698884"/>
                <a:ext cx="6096000" cy="369332"/>
              </a:xfrm>
              <a:prstGeom prst="rect">
                <a:avLst/>
              </a:prstGeom>
              <a:blipFill>
                <a:blip r:embed="rId2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5AD2D55-2BC8-2982-5F67-3B4687B5E5E0}"/>
                  </a:ext>
                </a:extLst>
              </p:cNvPr>
              <p:cNvSpPr txBox="1"/>
              <p:nvPr/>
            </p:nvSpPr>
            <p:spPr>
              <a:xfrm>
                <a:off x="6001108" y="5067942"/>
                <a:ext cx="6096000" cy="168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marR="0" lvl="0" indent="-342900"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ko-KR" altLang="ko-KR" sz="1400" b="0" u="none" strike="noStrike" dirty="0">
                    <a:effectLst/>
                    <a:latin typeface="+mn-lt"/>
                  </a:rPr>
                  <a:t>: 전력 소모 (Power)</a:t>
                </a:r>
              </a:p>
              <a:p>
                <a:pPr marL="342900" marR="0" lvl="0" indent="-342900"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ko-KR" sz="1400" b="0" u="none" strike="noStrike" dirty="0">
                    <a:effectLst/>
                    <a:latin typeface="+mn-lt"/>
                  </a:rPr>
                  <a:t>: </a:t>
                </a:r>
                <a:r>
                  <a:rPr lang="ko-KR" altLang="ko-KR" sz="1400" b="0" u="none" strike="noStrike" dirty="0" err="1">
                    <a:effectLst/>
                    <a:latin typeface="+mn-lt"/>
                  </a:rPr>
                  <a:t>스위칭</a:t>
                </a:r>
                <a:r>
                  <a:rPr lang="ko-KR" altLang="ko-KR" sz="1400" b="0" u="none" strike="noStrike" dirty="0">
                    <a:effectLst/>
                    <a:latin typeface="+mn-lt"/>
                  </a:rPr>
                  <a:t> 활동 지수 (</a:t>
                </a:r>
                <a:r>
                  <a:rPr lang="ko-KR" altLang="ko-KR" sz="1400" b="0" u="none" strike="noStrike" dirty="0" err="1">
                    <a:effectLst/>
                    <a:latin typeface="+mn-lt"/>
                  </a:rPr>
                  <a:t>Activity</a:t>
                </a:r>
                <a:r>
                  <a:rPr lang="ko-KR" altLang="ko-KR" sz="1400" b="0" u="none" strike="noStrike" dirty="0">
                    <a:effectLst/>
                    <a:latin typeface="+mn-lt"/>
                  </a:rPr>
                  <a:t> </a:t>
                </a:r>
                <a:r>
                  <a:rPr lang="ko-KR" altLang="ko-KR" sz="1400" b="0" u="none" strike="noStrike" dirty="0" err="1">
                    <a:effectLst/>
                    <a:latin typeface="+mn-lt"/>
                  </a:rPr>
                  <a:t>factor</a:t>
                </a:r>
                <a:r>
                  <a:rPr lang="ko-KR" altLang="ko-KR" sz="1400" b="0" u="none" strike="noStrike" dirty="0">
                    <a:effectLst/>
                    <a:latin typeface="+mn-lt"/>
                  </a:rPr>
                  <a:t>)</a:t>
                </a:r>
              </a:p>
              <a:p>
                <a:pPr marL="342900" marR="0" lvl="0" indent="-342900"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ko-KR" altLang="ko-KR" sz="1400" b="0" u="none" strike="noStrike" dirty="0">
                    <a:effectLst/>
                    <a:latin typeface="+mn-lt"/>
                  </a:rPr>
                  <a:t>: 부하 용량 (</a:t>
                </a:r>
                <a:r>
                  <a:rPr lang="ko-KR" altLang="ko-KR" sz="1400" b="0" u="none" strike="noStrike" dirty="0" err="1">
                    <a:effectLst/>
                    <a:latin typeface="+mn-lt"/>
                  </a:rPr>
                  <a:t>Capacitance</a:t>
                </a:r>
                <a:r>
                  <a:rPr lang="ko-KR" altLang="ko-KR" sz="1400" b="0" u="none" strike="noStrike" dirty="0">
                    <a:effectLst/>
                    <a:latin typeface="+mn-lt"/>
                  </a:rPr>
                  <a:t>)</a:t>
                </a:r>
              </a:p>
              <a:p>
                <a:pPr marL="342900" marR="0" lvl="0" indent="-342900"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ko-KR" altLang="ko-KR" sz="1400" b="0" u="none" strike="noStrike" dirty="0">
                    <a:effectLst/>
                    <a:latin typeface="+mn-lt"/>
                  </a:rPr>
                  <a:t>: 전압 (</a:t>
                </a:r>
                <a:r>
                  <a:rPr lang="ko-KR" altLang="ko-KR" sz="1400" b="0" u="none" strike="noStrike" dirty="0" err="1">
                    <a:effectLst/>
                    <a:latin typeface="+mn-lt"/>
                  </a:rPr>
                  <a:t>Voltage</a:t>
                </a:r>
                <a:r>
                  <a:rPr lang="ko-KR" altLang="ko-KR" sz="1400" b="0" u="none" strike="noStrike" dirty="0">
                    <a:effectLst/>
                    <a:latin typeface="+mn-lt"/>
                  </a:rPr>
                  <a:t>)</a:t>
                </a:r>
              </a:p>
              <a:p>
                <a:pPr marL="342900" marR="0" lvl="0" indent="-342900"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ko-KR" sz="1400" b="0" u="none" strike="noStrike" dirty="0">
                    <a:effectLst/>
                    <a:latin typeface="+mn-lt"/>
                  </a:rPr>
                  <a:t>: 주파수 (</a:t>
                </a:r>
                <a:r>
                  <a:rPr lang="ko-KR" altLang="ko-KR" sz="1400" b="0" u="none" strike="noStrike" dirty="0" err="1">
                    <a:effectLst/>
                    <a:latin typeface="+mn-lt"/>
                  </a:rPr>
                  <a:t>Frequency</a:t>
                </a:r>
                <a:r>
                  <a:rPr lang="ko-KR" altLang="ko-KR" sz="1400" b="0" u="none" strike="noStrike" dirty="0">
                    <a:effectLst/>
                    <a:latin typeface="+mn-lt"/>
                  </a:rPr>
                  <a:t>, 클럭)</a:t>
                </a:r>
                <a:endParaRPr lang="ko-KR" altLang="ko-KR" sz="1050" b="0" u="none" strike="noStrike" dirty="0"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5AD2D55-2BC8-2982-5F67-3B4687B5E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1108" y="5067942"/>
                <a:ext cx="6096000" cy="1686424"/>
              </a:xfrm>
              <a:prstGeom prst="rect">
                <a:avLst/>
              </a:prstGeom>
              <a:blipFill>
                <a:blip r:embed="rId3"/>
                <a:stretch>
                  <a:fillRect l="-100" t="-7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18036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0D7397-D501-4D57-80E7-3DFB8F3B3932}"/>
              </a:ext>
            </a:extLst>
          </p:cNvPr>
          <p:cNvSpPr txBox="1"/>
          <p:nvPr/>
        </p:nvSpPr>
        <p:spPr>
          <a:xfrm>
            <a:off x="7269191" y="1430887"/>
            <a:ext cx="429020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상태 플래그 설정값에 기반</a:t>
            </a:r>
            <a:endParaRPr lang="en-US" altLang="ko-KR"/>
          </a:p>
          <a:p>
            <a:pPr lvl="1"/>
            <a:r>
              <a:rPr lang="ko-KR" altLang="en-US" sz="1600"/>
              <a:t>코어가 어떤 명령어를 실행할 지 여부를 제어 가능</a:t>
            </a:r>
            <a:endParaRPr lang="en-US" altLang="ko-KR" sz="1600"/>
          </a:p>
          <a:p>
            <a:pPr lvl="1"/>
            <a:r>
              <a:rPr lang="ko-KR" altLang="en-US" sz="1600"/>
              <a:t>대부분의 명령어는 코어가 그것을 실행할 지 여부를 결정할 수 있는 조건 인자를 가짐</a:t>
            </a:r>
            <a:endParaRPr lang="en-US" altLang="ko-KR" sz="1600"/>
          </a:p>
          <a:p>
            <a:pPr lvl="1"/>
            <a:r>
              <a:rPr lang="ko-KR" altLang="en-US" sz="1600"/>
              <a:t>명령어 실행 전 코어는 자신의 조건인자와 </a:t>
            </a:r>
            <a:r>
              <a:rPr lang="en-US" altLang="ko-KR" sz="1600"/>
              <a:t>cpsr </a:t>
            </a:r>
            <a:r>
              <a:rPr lang="ko-KR" altLang="en-US" sz="1600"/>
              <a:t>상태 플래그를 비교</a:t>
            </a:r>
            <a:endParaRPr lang="en-US" altLang="ko-KR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004551-FDC1-FB5A-4C7C-A9A4A1CF1DB4}"/>
              </a:ext>
            </a:extLst>
          </p:cNvPr>
          <p:cNvSpPr txBox="1"/>
          <p:nvPr/>
        </p:nvSpPr>
        <p:spPr>
          <a:xfrm>
            <a:off x="4065917" y="5064753"/>
            <a:ext cx="7361207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조건 </a:t>
            </a:r>
            <a:r>
              <a:rPr lang="ko-KR" altLang="en-US" sz="2000" dirty="0" err="1"/>
              <a:t>니모닉</a:t>
            </a:r>
            <a:endParaRPr lang="en-US" altLang="ko-KR" sz="2000" dirty="0"/>
          </a:p>
          <a:p>
            <a:pPr lvl="1"/>
            <a:r>
              <a:rPr lang="en-US" altLang="ko-KR" dirty="0"/>
              <a:t>Eq, ne, cs(carry set) </a:t>
            </a:r>
            <a:r>
              <a:rPr lang="en-US" altLang="ko-KR" dirty="0" err="1"/>
              <a:t>hs</a:t>
            </a:r>
            <a:r>
              <a:rPr lang="en-US" altLang="ko-KR" dirty="0"/>
              <a:t>(unsigned higher), cc(carry clear) lo(unsigned lower), mi(minus/negative), pl(plus/positive), vs(overflow), </a:t>
            </a:r>
            <a:r>
              <a:rPr lang="en-US" altLang="ko-KR" dirty="0" err="1"/>
              <a:t>vc</a:t>
            </a:r>
            <a:r>
              <a:rPr lang="en-US" altLang="ko-KR" dirty="0"/>
              <a:t>(no overflow), hi(unsigned higher), ls(unsigned lower), </a:t>
            </a:r>
            <a:r>
              <a:rPr lang="en-US" altLang="ko-KR" dirty="0" err="1"/>
              <a:t>ge</a:t>
            </a:r>
            <a:r>
              <a:rPr lang="en-US" altLang="ko-KR" dirty="0"/>
              <a:t>, </a:t>
            </a:r>
            <a:r>
              <a:rPr lang="en-US" altLang="ko-KR" dirty="0" err="1"/>
              <a:t>lt</a:t>
            </a:r>
            <a:r>
              <a:rPr lang="en-US" altLang="ko-KR" dirty="0"/>
              <a:t>, </a:t>
            </a:r>
            <a:r>
              <a:rPr lang="en-US" altLang="ko-KR" dirty="0" err="1"/>
              <a:t>gt</a:t>
            </a:r>
            <a:r>
              <a:rPr lang="en-US" altLang="ko-KR" dirty="0"/>
              <a:t>, le, al(always)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FF2B5EF4-FFF2-40B4-BE49-F238E27FC236}">
                <a16:creationId xmlns:a16="http://schemas.microsoft.com/office/drawing/2014/main" id="{D811650A-F60A-5792-AA90-CE0CAB994142}"/>
              </a:ext>
            </a:extLst>
          </p:cNvPr>
          <p:cNvSpPr txBox="1">
            <a:spLocks noChangeArrowheads="1"/>
          </p:cNvSpPr>
          <p:nvPr/>
        </p:nvSpPr>
        <p:spPr>
          <a:xfrm>
            <a:off x="1801663" y="666901"/>
            <a:ext cx="8439150" cy="1981200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ea typeface="굴림" panose="020B0600000101010101" pitchFamily="50" charset="-127"/>
              </a:rPr>
              <a:t>Thumb is a 16-bit instruction set</a:t>
            </a:r>
          </a:p>
          <a:p>
            <a:pPr lvl="1"/>
            <a:r>
              <a:rPr lang="en-US" altLang="ko-KR" sz="2000" dirty="0" err="1">
                <a:ea typeface="굴림" panose="020B0600000101010101" pitchFamily="50" charset="-127"/>
              </a:rPr>
              <a:t>Optimised</a:t>
            </a:r>
            <a:r>
              <a:rPr lang="en-US" altLang="ko-KR" sz="2000" dirty="0">
                <a:ea typeface="굴림" panose="020B0600000101010101" pitchFamily="50" charset="-127"/>
              </a:rPr>
              <a:t> for code density from C code (~65% of ARM code size)</a:t>
            </a:r>
          </a:p>
          <a:p>
            <a:pPr lvl="1"/>
            <a:r>
              <a:rPr lang="en-US" altLang="ko-KR" sz="2000" dirty="0">
                <a:ea typeface="굴림" panose="020B0600000101010101" pitchFamily="50" charset="-127"/>
              </a:rPr>
              <a:t>Improved performance from narrow memory</a:t>
            </a:r>
          </a:p>
          <a:p>
            <a:pPr lvl="1"/>
            <a:r>
              <a:rPr lang="en-US" altLang="ko-KR" sz="2000" dirty="0">
                <a:ea typeface="굴림" panose="020B0600000101010101" pitchFamily="50" charset="-127"/>
              </a:rPr>
              <a:t>Subset of the functionality of the ARM instruction set</a:t>
            </a:r>
          </a:p>
          <a:p>
            <a:r>
              <a:rPr lang="en-US" altLang="ko-KR" sz="2400" dirty="0">
                <a:ea typeface="굴림" panose="020B0600000101010101" pitchFamily="50" charset="-127"/>
              </a:rPr>
              <a:t>Core has additional execution state - Thumb</a:t>
            </a:r>
          </a:p>
          <a:p>
            <a:pPr lvl="1"/>
            <a:r>
              <a:rPr lang="en-US" altLang="ko-KR" sz="2000" dirty="0">
                <a:ea typeface="굴림" panose="020B0600000101010101" pitchFamily="50" charset="-127"/>
              </a:rPr>
              <a:t>Switch between ARM and Thumb using </a:t>
            </a:r>
            <a:r>
              <a:rPr lang="en-US" altLang="ko-KR" sz="2000" b="1" dirty="0">
                <a:solidFill>
                  <a:schemeClr val="bg2"/>
                </a:solidFill>
                <a:latin typeface="Courier New" panose="02070309020205020404" pitchFamily="49" charset="0"/>
                <a:ea typeface="굴림" panose="020B0600000101010101" pitchFamily="50" charset="-127"/>
              </a:rPr>
              <a:t>BX</a:t>
            </a:r>
            <a:r>
              <a:rPr lang="en-US" altLang="ko-KR" sz="2000" dirty="0">
                <a:ea typeface="굴림" panose="020B0600000101010101" pitchFamily="50" charset="-127"/>
              </a:rPr>
              <a:t> instruction</a:t>
            </a:r>
          </a:p>
        </p:txBody>
      </p:sp>
      <p:grpSp>
        <p:nvGrpSpPr>
          <p:cNvPr id="3" name="Group 20">
            <a:extLst>
              <a:ext uri="{FF2B5EF4-FFF2-40B4-BE49-F238E27FC236}">
                <a16:creationId xmlns:a16="http://schemas.microsoft.com/office/drawing/2014/main" id="{FDB5BDD0-023A-396A-ECCA-16631F2BE3AE}"/>
              </a:ext>
            </a:extLst>
          </p:cNvPr>
          <p:cNvGrpSpPr>
            <a:grpSpLocks/>
          </p:cNvGrpSpPr>
          <p:nvPr/>
        </p:nvGrpSpPr>
        <p:grpSpPr bwMode="auto">
          <a:xfrm>
            <a:off x="2068902" y="3348188"/>
            <a:ext cx="2651125" cy="3241675"/>
            <a:chOff x="336" y="1920"/>
            <a:chExt cx="1670" cy="2042"/>
          </a:xfrm>
        </p:grpSpPr>
        <p:sp>
          <p:nvSpPr>
            <p:cNvPr id="4" name="Rectangle 21">
              <a:extLst>
                <a:ext uri="{FF2B5EF4-FFF2-40B4-BE49-F238E27FC236}">
                  <a16:creationId xmlns:a16="http://schemas.microsoft.com/office/drawing/2014/main" id="{C9F93E81-D44C-F5D7-1A16-7C0D6981E76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69" y="3504"/>
              <a:ext cx="140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6200" tIns="30162" rIns="76200" bIns="30162">
              <a:spAutoFit/>
            </a:bodyPr>
            <a:lstStyle>
              <a:lvl1pPr defTabSz="1316038">
                <a:spcBef>
                  <a:spcPct val="50000"/>
                </a:spcBef>
                <a:buClr>
                  <a:schemeClr val="bg2"/>
                </a:buClr>
                <a:buSzPct val="80000"/>
                <a:buFont typeface="Wingdings" panose="05000000000000000000" pitchFamily="2" charset="2"/>
                <a:buChar char="n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316038">
                <a:spcBef>
                  <a:spcPct val="1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n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316038">
                <a:spcBef>
                  <a:spcPct val="1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316038"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316038"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316038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316038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316038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316038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ea typeface="굴림" panose="020B0600000101010101" pitchFamily="50" charset="-127"/>
                </a:rPr>
                <a:t>0</a:t>
              </a:r>
            </a:p>
          </p:txBody>
        </p:sp>
        <p:sp>
          <p:nvSpPr>
            <p:cNvPr id="5" name="Rectangle 22">
              <a:extLst>
                <a:ext uri="{FF2B5EF4-FFF2-40B4-BE49-F238E27FC236}">
                  <a16:creationId xmlns:a16="http://schemas.microsoft.com/office/drawing/2014/main" id="{D9207A91-D356-49C0-FD95-A6725AB996B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24" y="3504"/>
              <a:ext cx="192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6200" tIns="30162" rIns="76200" bIns="30162">
              <a:spAutoFit/>
            </a:bodyPr>
            <a:lstStyle>
              <a:lvl1pPr defTabSz="1316038">
                <a:spcBef>
                  <a:spcPct val="50000"/>
                </a:spcBef>
                <a:buClr>
                  <a:schemeClr val="bg2"/>
                </a:buClr>
                <a:buSzPct val="80000"/>
                <a:buFont typeface="Wingdings" panose="05000000000000000000" pitchFamily="2" charset="2"/>
                <a:buChar char="n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316038">
                <a:spcBef>
                  <a:spcPct val="1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n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316038">
                <a:spcBef>
                  <a:spcPct val="1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316038"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316038"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316038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316038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316038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316038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ea typeface="굴림" panose="020B0600000101010101" pitchFamily="50" charset="-127"/>
                </a:rPr>
                <a:t>15</a:t>
              </a:r>
            </a:p>
          </p:txBody>
        </p:sp>
        <p:sp>
          <p:nvSpPr>
            <p:cNvPr id="6" name="AutoShape 23">
              <a:extLst>
                <a:ext uri="{FF2B5EF4-FFF2-40B4-BE49-F238E27FC236}">
                  <a16:creationId xmlns:a16="http://schemas.microsoft.com/office/drawing/2014/main" id="{A6F3656C-EE1A-C70A-2EC4-34D6D91584E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80" y="2448"/>
              <a:ext cx="1344" cy="1008"/>
            </a:xfrm>
            <a:prstGeom prst="downArrow">
              <a:avLst>
                <a:gd name="adj1" fmla="val 50000"/>
                <a:gd name="adj2" fmla="val 50005"/>
              </a:avLst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lr>
                  <a:schemeClr val="bg2"/>
                </a:buClr>
                <a:buSzPct val="80000"/>
                <a:buFont typeface="Wingdings" panose="05000000000000000000" pitchFamily="2" charset="2"/>
                <a:buChar char="n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n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>
                <a:latin typeface="Courier New" panose="02070309020205020404" pitchFamily="49" charset="0"/>
                <a:ea typeface="굴림" panose="020B0600000101010101" pitchFamily="50" charset="-127"/>
              </a:endParaRPr>
            </a:p>
          </p:txBody>
        </p:sp>
        <p:sp>
          <p:nvSpPr>
            <p:cNvPr id="7" name="Rectangle 24">
              <a:extLst>
                <a:ext uri="{FF2B5EF4-FFF2-40B4-BE49-F238E27FC236}">
                  <a16:creationId xmlns:a16="http://schemas.microsoft.com/office/drawing/2014/main" id="{53CC7FAE-31E8-EAE4-C3E0-B7B6FEBD4FB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36" y="1920"/>
              <a:ext cx="240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6200" tIns="30162" rIns="76200" bIns="30162">
              <a:spAutoFit/>
            </a:bodyPr>
            <a:lstStyle>
              <a:lvl1pPr defTabSz="1316038">
                <a:spcBef>
                  <a:spcPct val="50000"/>
                </a:spcBef>
                <a:buClr>
                  <a:schemeClr val="bg2"/>
                </a:buClr>
                <a:buSzPct val="80000"/>
                <a:buFont typeface="Wingdings" panose="05000000000000000000" pitchFamily="2" charset="2"/>
                <a:buChar char="n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316038">
                <a:spcBef>
                  <a:spcPct val="1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n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316038">
                <a:spcBef>
                  <a:spcPct val="1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316038"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316038"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316038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316038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316038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316038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ea typeface="굴림" panose="020B0600000101010101" pitchFamily="50" charset="-127"/>
                </a:rPr>
                <a:t>31</a:t>
              </a:r>
            </a:p>
          </p:txBody>
        </p:sp>
        <p:sp>
          <p:nvSpPr>
            <p:cNvPr id="8" name="Rectangle 25">
              <a:extLst>
                <a:ext uri="{FF2B5EF4-FFF2-40B4-BE49-F238E27FC236}">
                  <a16:creationId xmlns:a16="http://schemas.microsoft.com/office/drawing/2014/main" id="{727C1DFA-779B-05B4-18CA-9CA06EC02B1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801" y="1920"/>
              <a:ext cx="140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6200" tIns="30162" rIns="76200" bIns="30162">
              <a:spAutoFit/>
            </a:bodyPr>
            <a:lstStyle>
              <a:lvl1pPr defTabSz="1316038">
                <a:spcBef>
                  <a:spcPct val="50000"/>
                </a:spcBef>
                <a:buClr>
                  <a:schemeClr val="bg2"/>
                </a:buClr>
                <a:buSzPct val="80000"/>
                <a:buFont typeface="Wingdings" panose="05000000000000000000" pitchFamily="2" charset="2"/>
                <a:buChar char="n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316038">
                <a:spcBef>
                  <a:spcPct val="1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n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316038">
                <a:spcBef>
                  <a:spcPct val="1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316038"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316038"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316038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316038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316038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316038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ea typeface="굴림" panose="020B0600000101010101" pitchFamily="50" charset="-127"/>
                </a:rPr>
                <a:t>0</a:t>
              </a:r>
            </a:p>
          </p:txBody>
        </p:sp>
        <p:sp>
          <p:nvSpPr>
            <p:cNvPr id="9" name="Rectangle 26">
              <a:extLst>
                <a:ext uri="{FF2B5EF4-FFF2-40B4-BE49-F238E27FC236}">
                  <a16:creationId xmlns:a16="http://schemas.microsoft.com/office/drawing/2014/main" id="{CCE7BE3A-F958-8942-20D3-6C3C724A6B6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4" y="1920"/>
              <a:ext cx="1541" cy="240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lr>
                  <a:schemeClr val="bg2"/>
                </a:buClr>
                <a:buSzPct val="80000"/>
                <a:buFont typeface="Wingdings" panose="05000000000000000000" pitchFamily="2" charset="2"/>
                <a:buChar char="n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n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>
                  <a:solidFill>
                    <a:schemeClr val="bg1"/>
                  </a:solidFill>
                  <a:latin typeface="Courier New" panose="02070309020205020404" pitchFamily="49" charset="0"/>
                  <a:ea typeface="굴림" panose="020B0600000101010101" pitchFamily="50" charset="-127"/>
                </a:rPr>
                <a:t>ADDS r2,r2,#1</a:t>
              </a:r>
            </a:p>
          </p:txBody>
        </p:sp>
        <p:sp>
          <p:nvSpPr>
            <p:cNvPr id="10" name="Rectangle 27">
              <a:extLst>
                <a:ext uri="{FF2B5EF4-FFF2-40B4-BE49-F238E27FC236}">
                  <a16:creationId xmlns:a16="http://schemas.microsoft.com/office/drawing/2014/main" id="{7E486088-F8E5-49E6-91A0-C598C4A99A8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72" y="3504"/>
              <a:ext cx="996" cy="232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lr>
                  <a:schemeClr val="bg2"/>
                </a:buClr>
                <a:buSzPct val="80000"/>
                <a:buFont typeface="Wingdings" panose="05000000000000000000" pitchFamily="2" charset="2"/>
                <a:buChar char="n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n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>
                  <a:solidFill>
                    <a:schemeClr val="bg1"/>
                  </a:solidFill>
                  <a:latin typeface="Courier New" panose="02070309020205020404" pitchFamily="49" charset="0"/>
                  <a:ea typeface="굴림" panose="020B0600000101010101" pitchFamily="50" charset="-127"/>
                </a:rPr>
                <a:t>ADD r2,#1</a:t>
              </a:r>
            </a:p>
          </p:txBody>
        </p:sp>
        <p:sp>
          <p:nvSpPr>
            <p:cNvPr id="11" name="Rectangle 28">
              <a:extLst>
                <a:ext uri="{FF2B5EF4-FFF2-40B4-BE49-F238E27FC236}">
                  <a16:creationId xmlns:a16="http://schemas.microsoft.com/office/drawing/2014/main" id="{7D7571ED-0144-FA9C-52EA-E5C18A3AB7E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4" y="2160"/>
              <a:ext cx="1536" cy="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chemeClr val="bg2"/>
                </a:buClr>
                <a:buSzPct val="80000"/>
                <a:buFont typeface="Wingdings" panose="05000000000000000000" pitchFamily="2" charset="2"/>
                <a:buChar char="n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n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04000"/>
                </a:lnSpc>
                <a:spcBef>
                  <a:spcPct val="52000"/>
                </a:spcBef>
                <a:buClrTx/>
                <a:buSzTx/>
                <a:buFontTx/>
                <a:buNone/>
              </a:pPr>
              <a:r>
                <a:rPr lang="en-US" altLang="ko-KR" sz="1600" b="0">
                  <a:ea typeface="굴림" panose="020B0600000101010101" pitchFamily="50" charset="-127"/>
                </a:rPr>
                <a:t>32-bit ARM Instruction</a:t>
              </a:r>
              <a:endParaRPr lang="en-US" altLang="ko-KR" sz="1600" b="0" u="sng">
                <a:solidFill>
                  <a:srgbClr val="006D82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2" name="Rectangle 29">
              <a:extLst>
                <a:ext uri="{FF2B5EF4-FFF2-40B4-BE49-F238E27FC236}">
                  <a16:creationId xmlns:a16="http://schemas.microsoft.com/office/drawing/2014/main" id="{06916968-97D5-9098-A2F6-6F50F2AE62A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74" y="3744"/>
              <a:ext cx="1632" cy="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chemeClr val="bg2"/>
                </a:buClr>
                <a:buSzPct val="80000"/>
                <a:buFont typeface="Wingdings" panose="05000000000000000000" pitchFamily="2" charset="2"/>
                <a:buChar char="n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n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Wingdings" panose="05000000000000000000" pitchFamily="2" charset="2"/>
                <a:buChar char="n"/>
                <a:defRPr sz="15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04000"/>
                </a:lnSpc>
                <a:spcBef>
                  <a:spcPct val="52000"/>
                </a:spcBef>
                <a:buClrTx/>
                <a:buSzTx/>
                <a:buFontTx/>
                <a:buNone/>
              </a:pPr>
              <a:r>
                <a:rPr lang="en-US" altLang="ko-KR" sz="1600" b="0">
                  <a:ea typeface="굴림" panose="020B0600000101010101" pitchFamily="50" charset="-127"/>
                </a:rPr>
                <a:t>16-bit Thumb Instruction</a:t>
              </a:r>
              <a:endParaRPr lang="en-US" altLang="ko-KR" sz="1600" b="0" u="sng">
                <a:solidFill>
                  <a:srgbClr val="006D82"/>
                </a:solidFill>
                <a:ea typeface="굴림" panose="020B0600000101010101" pitchFamily="50" charset="-127"/>
              </a:endParaRPr>
            </a:p>
          </p:txBody>
        </p:sp>
      </p:grpSp>
      <p:sp>
        <p:nvSpPr>
          <p:cNvPr id="13" name="Rectangle 30">
            <a:extLst>
              <a:ext uri="{FF2B5EF4-FFF2-40B4-BE49-F238E27FC236}">
                <a16:creationId xmlns:a16="http://schemas.microsoft.com/office/drawing/2014/main" id="{B71AE062-CA85-1C6D-80ED-B6B1C2895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2884" y="3369949"/>
            <a:ext cx="5416550" cy="2268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ko-KR" sz="1800" dirty="0">
                <a:ea typeface="굴림" panose="020B0600000101010101" pitchFamily="50" charset="-127"/>
              </a:rPr>
              <a:t>For most instructions generated by compiler:</a:t>
            </a:r>
            <a:endParaRPr lang="en-US" altLang="ko-KR" sz="1600" dirty="0">
              <a:solidFill>
                <a:srgbClr val="2C67FC"/>
              </a:solidFill>
              <a:ea typeface="굴림" panose="020B0600000101010101" pitchFamily="50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1800" b="0" dirty="0">
                <a:ea typeface="굴림" panose="020B0600000101010101" pitchFamily="50" charset="-127"/>
              </a:rPr>
              <a:t>    Conditional execution is not used</a:t>
            </a:r>
          </a:p>
          <a:p>
            <a:pPr>
              <a:lnSpc>
                <a:spcPct val="90000"/>
              </a:lnSpc>
            </a:pPr>
            <a:r>
              <a:rPr lang="en-US" altLang="ko-KR" sz="1800" b="0" dirty="0">
                <a:ea typeface="굴림" panose="020B0600000101010101" pitchFamily="50" charset="-127"/>
              </a:rPr>
              <a:t>    Source and destination registers identical</a:t>
            </a:r>
          </a:p>
          <a:p>
            <a:pPr>
              <a:lnSpc>
                <a:spcPct val="90000"/>
              </a:lnSpc>
            </a:pPr>
            <a:r>
              <a:rPr lang="en-US" altLang="ko-KR" sz="1800" b="0" dirty="0">
                <a:ea typeface="굴림" panose="020B0600000101010101" pitchFamily="50" charset="-127"/>
              </a:rPr>
              <a:t>    Only Low registers used</a:t>
            </a:r>
          </a:p>
          <a:p>
            <a:pPr>
              <a:lnSpc>
                <a:spcPct val="90000"/>
              </a:lnSpc>
            </a:pPr>
            <a:r>
              <a:rPr lang="en-US" altLang="ko-KR" sz="1800" b="0" dirty="0">
                <a:ea typeface="굴림" panose="020B0600000101010101" pitchFamily="50" charset="-127"/>
              </a:rPr>
              <a:t>    Constants are of limited size</a:t>
            </a:r>
          </a:p>
          <a:p>
            <a:pPr>
              <a:lnSpc>
                <a:spcPct val="90000"/>
              </a:lnSpc>
            </a:pPr>
            <a:r>
              <a:rPr lang="en-US" altLang="ko-KR" sz="1800" b="0" dirty="0">
                <a:ea typeface="굴림" panose="020B0600000101010101" pitchFamily="50" charset="-127"/>
              </a:rPr>
              <a:t>    Inline barrel shifter not used</a:t>
            </a:r>
            <a:endParaRPr lang="en-US" altLang="ko-KR" sz="1800" dirty="0">
              <a:solidFill>
                <a:srgbClr val="2C67FC"/>
              </a:solidFill>
              <a:ea typeface="굴림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35D89E-A224-D38F-79DE-72D2979E670F}"/>
              </a:ext>
            </a:extLst>
          </p:cNvPr>
          <p:cNvSpPr txBox="1"/>
          <p:nvPr/>
        </p:nvSpPr>
        <p:spPr>
          <a:xfrm>
            <a:off x="1984076" y="62708"/>
            <a:ext cx="1592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Thumb </a:t>
            </a:r>
            <a:r>
              <a:rPr lang="ko-KR" altLang="en-US" dirty="0"/>
              <a:t>명령어</a:t>
            </a:r>
          </a:p>
        </p:txBody>
      </p:sp>
    </p:spTree>
    <p:extLst>
      <p:ext uri="{BB962C8B-B14F-4D97-AF65-F5344CB8AC3E}">
        <p14:creationId xmlns:p14="http://schemas.microsoft.com/office/powerpoint/2010/main" val="36929085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6BB8B071-AB24-16BF-A53A-83561A061453}"/>
              </a:ext>
            </a:extLst>
          </p:cNvPr>
          <p:cNvSpPr txBox="1">
            <a:spLocks noChangeArrowheads="1"/>
          </p:cNvSpPr>
          <p:nvPr/>
        </p:nvSpPr>
        <p:spPr>
          <a:xfrm>
            <a:off x="1428750" y="746185"/>
            <a:ext cx="4994275" cy="591343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2400" dirty="0">
              <a:ea typeface="굴림" panose="020B0600000101010101" pitchFamily="50" charset="-127"/>
            </a:endParaRPr>
          </a:p>
          <a:p>
            <a:endParaRPr lang="en-US" altLang="ko-KR" sz="2400" dirty="0">
              <a:ea typeface="굴림" panose="020B0600000101010101" pitchFamily="50" charset="-127"/>
            </a:endParaRPr>
          </a:p>
          <a:p>
            <a:endParaRPr lang="en-US" altLang="ko-KR" sz="2400" dirty="0">
              <a:ea typeface="굴림" panose="020B0600000101010101" pitchFamily="50" charset="-127"/>
            </a:endParaRPr>
          </a:p>
          <a:p>
            <a:endParaRPr lang="en-US" altLang="ko-KR" sz="2400" dirty="0">
              <a:ea typeface="굴림" panose="020B0600000101010101" pitchFamily="50" charset="-127"/>
            </a:endParaRPr>
          </a:p>
          <a:p>
            <a:r>
              <a:rPr lang="en-US" altLang="ko-KR" sz="2400" dirty="0">
                <a:ea typeface="굴림" panose="020B0600000101010101" pitchFamily="50" charset="-127"/>
              </a:rPr>
              <a:t>Thumb-2 technology </a:t>
            </a:r>
          </a:p>
          <a:p>
            <a:pPr lvl="1"/>
            <a:r>
              <a:rPr lang="en-US" altLang="ko-KR" sz="2000" dirty="0">
                <a:ea typeface="굴림" panose="020B0600000101010101" pitchFamily="50" charset="-127"/>
              </a:rPr>
              <a:t>Enhancement to the Thumb instruction set. </a:t>
            </a:r>
          </a:p>
          <a:p>
            <a:pPr lvl="1"/>
            <a:r>
              <a:rPr lang="en-US" altLang="ko-KR" sz="2000" dirty="0">
                <a:ea typeface="굴림" panose="020B0600000101010101" pitchFamily="50" charset="-127"/>
              </a:rPr>
              <a:t>Adds 32-bit instructions that can be freely intermixed with 16-bit instructions in a program.</a:t>
            </a:r>
          </a:p>
          <a:p>
            <a:r>
              <a:rPr lang="en-US" altLang="ko-KR" sz="2400" dirty="0">
                <a:ea typeface="굴림" panose="020B0600000101010101" pitchFamily="50" charset="-127"/>
              </a:rPr>
              <a:t>In terms of code density, Thumb-2 code core size</a:t>
            </a:r>
            <a:r>
              <a:rPr lang="ko-KR" altLang="en-US" sz="2400" dirty="0">
                <a:ea typeface="굴림" panose="020B0600000101010101" pitchFamily="50" charset="-127"/>
              </a:rPr>
              <a:t> </a:t>
            </a:r>
            <a:r>
              <a:rPr lang="en-US" altLang="ko-KR" sz="2400" dirty="0">
                <a:ea typeface="굴림" panose="020B0600000101010101" pitchFamily="50" charset="-127"/>
              </a:rPr>
              <a:t>reduced 26% than ARM. </a:t>
            </a:r>
          </a:p>
          <a:p>
            <a:r>
              <a:rPr lang="en-US" altLang="ko-KR" sz="2400" dirty="0">
                <a:ea typeface="굴림" panose="020B0600000101010101" pitchFamily="50" charset="-127"/>
              </a:rPr>
              <a:t>In terms of performance, Thumb-2 25% faster than Thumb.</a:t>
            </a:r>
            <a:endParaRPr lang="ko-KR" altLang="en-US" sz="2400" dirty="0">
              <a:ea typeface="굴림" panose="020B0600000101010101" pitchFamily="50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5A5D49-55BE-1FEA-DD19-34F265989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2038" y="672322"/>
            <a:ext cx="2247900" cy="36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5">
            <a:extLst>
              <a:ext uri="{FF2B5EF4-FFF2-40B4-BE49-F238E27FC236}">
                <a16:creationId xmlns:a16="http://schemas.microsoft.com/office/drawing/2014/main" id="{9110DD9F-8113-C12B-4856-09D9A75DC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238" y="593785"/>
            <a:ext cx="5859462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0864F256-19F6-B2F5-FF8E-5F728A427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7822" y="4604440"/>
            <a:ext cx="417195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ko-KR" altLang="en-US" sz="1000" b="0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b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기존 </a:t>
            </a:r>
            <a:r>
              <a:rPr lang="en-US" altLang="ko-KR" b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instruction set</a:t>
            </a:r>
            <a:r>
              <a:rPr lang="ko-KR" altLang="en-US" b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에서 </a:t>
            </a:r>
            <a:r>
              <a:rPr lang="en-US" altLang="ko-KR" b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32</a:t>
            </a:r>
            <a:r>
              <a:rPr lang="ko-KR" altLang="en-US" b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비트 명령어의 </a:t>
            </a:r>
            <a:r>
              <a:rPr lang="en-US" altLang="ko-KR" b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code size </a:t>
            </a:r>
            <a:r>
              <a:rPr lang="ko-KR" altLang="en-US" b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증가</a:t>
            </a:r>
            <a:r>
              <a:rPr lang="en-US" altLang="ko-KR" b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en-US" altLang="ko-KR" b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16</a:t>
            </a:r>
            <a:r>
              <a:rPr lang="ko-KR" altLang="en-US" b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비트명령어의 </a:t>
            </a:r>
            <a:r>
              <a:rPr lang="en-US" altLang="ko-KR" b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performance</a:t>
            </a:r>
            <a:r>
              <a:rPr lang="en-US" altLang="ko-KR" b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, 32</a:t>
            </a:r>
            <a:r>
              <a:rPr lang="ko-KR" altLang="en-US" b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비트와 </a:t>
            </a:r>
            <a:r>
              <a:rPr lang="en-US" altLang="ko-KR" b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16</a:t>
            </a:r>
            <a:r>
              <a:rPr lang="ko-KR" altLang="en-US" b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비트간 전환에 따른 </a:t>
            </a:r>
            <a:r>
              <a:rPr lang="en-US" altLang="ko-KR" b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performance</a:t>
            </a:r>
            <a:r>
              <a:rPr lang="ko-KR" altLang="en-US" b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문제를 해결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ko-KR" altLang="en-US" b="0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0EEF3-FE8C-36CF-1D92-F1B6FD0CC3D3}"/>
              </a:ext>
            </a:extLst>
          </p:cNvPr>
          <p:cNvSpPr txBox="1"/>
          <p:nvPr/>
        </p:nvSpPr>
        <p:spPr>
          <a:xfrm>
            <a:off x="1984076" y="62708"/>
            <a:ext cx="1709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Thumb2 </a:t>
            </a:r>
            <a:r>
              <a:rPr lang="ko-KR" altLang="en-US" dirty="0"/>
              <a:t>명령어</a:t>
            </a:r>
          </a:p>
        </p:txBody>
      </p:sp>
    </p:spTree>
    <p:extLst>
      <p:ext uri="{BB962C8B-B14F-4D97-AF65-F5344CB8AC3E}">
        <p14:creationId xmlns:p14="http://schemas.microsoft.com/office/powerpoint/2010/main" val="15473818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rm Thumb ( blx, bx, Thumb2, IT명령어, if then )">
            <a:extLst>
              <a:ext uri="{FF2B5EF4-FFF2-40B4-BE49-F238E27FC236}">
                <a16:creationId xmlns:a16="http://schemas.microsoft.com/office/drawing/2014/main" id="{0B414198-4075-7751-2E81-6514F475E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9234" y="562574"/>
            <a:ext cx="7412037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58A3695F-BDC4-E5AA-EE88-FA5FD2916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7006" y="2567781"/>
            <a:ext cx="222091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dirty="0" err="1">
                <a:latin typeface="Courier New" panose="02070309020205020404" pitchFamily="49" charset="0"/>
                <a:ea typeface="굴림" panose="020B0600000101010101" pitchFamily="50" charset="-127"/>
              </a:rPr>
              <a:t>if</a:t>
            </a:r>
            <a:r>
              <a:rPr lang="ko-KR" altLang="en-US" dirty="0">
                <a:latin typeface="Courier New" panose="02070309020205020404" pitchFamily="49" charset="0"/>
                <a:ea typeface="굴림" panose="020B0600000101010101" pitchFamily="50" charset="-127"/>
              </a:rPr>
              <a:t> (r0 == 0)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dirty="0">
                <a:latin typeface="Courier New" panose="02070309020205020404" pitchFamily="49" charset="0"/>
                <a:ea typeface="굴림" panose="020B0600000101010101" pitchFamily="50" charset="-127"/>
              </a:rPr>
              <a:t>  r1 = r1 + 1;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dirty="0" err="1">
                <a:latin typeface="Courier New" panose="02070309020205020404" pitchFamily="49" charset="0"/>
                <a:ea typeface="굴림" panose="020B0600000101010101" pitchFamily="50" charset="-127"/>
              </a:rPr>
              <a:t>else</a:t>
            </a:r>
            <a:r>
              <a:rPr lang="ko-KR" altLang="en-US" dirty="0">
                <a:latin typeface="Courier New" panose="02070309020205020404" pitchFamily="49" charset="0"/>
                <a:ea typeface="굴림" panose="020B0600000101010101" pitchFamily="50" charset="-127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dirty="0">
                <a:latin typeface="Courier New" panose="02070309020205020404" pitchFamily="49" charset="0"/>
                <a:ea typeface="굴림" panose="020B0600000101010101" pitchFamily="50" charset="-127"/>
              </a:rPr>
              <a:t>  r2 = r2 + 1;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1436693-C17D-E62D-828A-08881CE60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7983" y="2567781"/>
            <a:ext cx="22860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>
                <a:latin typeface="Courier New" panose="02070309020205020404" pitchFamily="49" charset="0"/>
                <a:ea typeface="굴림" panose="020B0600000101010101" pitchFamily="50" charset="-127"/>
              </a:rPr>
              <a:t>cmp  r0, #0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>
                <a:latin typeface="Courier New" panose="02070309020205020404" pitchFamily="49" charset="0"/>
                <a:ea typeface="굴림" panose="020B0600000101010101" pitchFamily="50" charset="-127"/>
              </a:rPr>
              <a:t>ite   EQ 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>
                <a:latin typeface="Courier New" panose="02070309020205020404" pitchFamily="49" charset="0"/>
                <a:ea typeface="굴림" panose="020B0600000101010101" pitchFamily="50" charset="-127"/>
              </a:rPr>
              <a:t>addeq  r1, #1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>
                <a:latin typeface="Courier New" panose="02070309020205020404" pitchFamily="49" charset="0"/>
                <a:ea typeface="굴림" panose="020B0600000101010101" pitchFamily="50" charset="-127"/>
              </a:rPr>
              <a:t>addne  r2, #1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554BEB27-0177-72D0-FC26-D4B29DF9E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588" y="3813175"/>
            <a:ext cx="5726112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FDDC36A-A647-2181-C13C-3502C9257F62}"/>
              </a:ext>
            </a:extLst>
          </p:cNvPr>
          <p:cNvSpPr txBox="1"/>
          <p:nvPr/>
        </p:nvSpPr>
        <p:spPr>
          <a:xfrm>
            <a:off x="1984076" y="62708"/>
            <a:ext cx="1709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Thumb2 </a:t>
            </a:r>
            <a:r>
              <a:rPr lang="ko-KR" altLang="en-US" dirty="0"/>
              <a:t>명령어</a:t>
            </a:r>
          </a:p>
        </p:txBody>
      </p:sp>
    </p:spTree>
    <p:extLst>
      <p:ext uri="{BB962C8B-B14F-4D97-AF65-F5344CB8AC3E}">
        <p14:creationId xmlns:p14="http://schemas.microsoft.com/office/powerpoint/2010/main" val="1160828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3">
            <a:extLst>
              <a:ext uri="{FF2B5EF4-FFF2-40B4-BE49-F238E27FC236}">
                <a16:creationId xmlns:a16="http://schemas.microsoft.com/office/drawing/2014/main" id="{715F3EF0-03A3-8CEB-4122-9EDB5E152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038" y="950224"/>
            <a:ext cx="8412163" cy="524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ko-KR" altLang="en-US" sz="1800" dirty="0">
                <a:ea typeface="굴림" panose="020B0600000101010101" pitchFamily="50" charset="-127"/>
              </a:rPr>
              <a:t>예시</a:t>
            </a:r>
            <a:r>
              <a:rPr lang="en-US" altLang="ko-KR" sz="1800" dirty="0">
                <a:ea typeface="굴림" panose="020B0600000101010101" pitchFamily="50" charset="-127"/>
              </a:rPr>
              <a:t>) </a:t>
            </a:r>
          </a:p>
          <a:p>
            <a:r>
              <a:rPr lang="en-US" altLang="ko-KR" sz="1800" dirty="0">
                <a:ea typeface="굴림" panose="020B0600000101010101" pitchFamily="50" charset="-127"/>
              </a:rPr>
              <a:t>IT </a:t>
            </a:r>
            <a:r>
              <a:rPr lang="ko-KR" altLang="en-US" sz="1800" dirty="0">
                <a:ea typeface="굴림" panose="020B0600000101010101" pitchFamily="50" charset="-127"/>
              </a:rPr>
              <a:t>필드는 </a:t>
            </a:r>
            <a:r>
              <a:rPr lang="en-US" altLang="ko-KR" sz="1800" dirty="0">
                <a:ea typeface="굴림" panose="020B0600000101010101" pitchFamily="50" charset="-127"/>
              </a:rPr>
              <a:t>Thumb-2 </a:t>
            </a:r>
            <a:r>
              <a:rPr lang="ko-KR" altLang="en-US" sz="1800" dirty="0">
                <a:ea typeface="굴림" panose="020B0600000101010101" pitchFamily="50" charset="-127"/>
              </a:rPr>
              <a:t>명령어인 </a:t>
            </a:r>
            <a:r>
              <a:rPr lang="en-US" altLang="ko-KR" sz="1800" dirty="0">
                <a:ea typeface="굴림" panose="020B0600000101010101" pitchFamily="50" charset="-127"/>
              </a:rPr>
              <a:t>If-Then </a:t>
            </a:r>
            <a:r>
              <a:rPr lang="ko-KR" altLang="en-US" sz="1800" dirty="0" err="1">
                <a:ea typeface="굴림" panose="020B0600000101010101" pitchFamily="50" charset="-127"/>
              </a:rPr>
              <a:t>블럭의</a:t>
            </a:r>
            <a:r>
              <a:rPr lang="ko-KR" altLang="en-US" sz="1800" dirty="0">
                <a:ea typeface="굴림" panose="020B0600000101010101" pitchFamily="50" charset="-127"/>
              </a:rPr>
              <a:t> </a:t>
            </a:r>
            <a:r>
              <a:rPr lang="en-US" altLang="ko-KR" sz="1800" dirty="0">
                <a:ea typeface="굴림" panose="020B0600000101010101" pitchFamily="50" charset="-127"/>
              </a:rPr>
              <a:t>Condition</a:t>
            </a:r>
            <a:r>
              <a:rPr lang="ko-KR" altLang="en-US" sz="1800" dirty="0">
                <a:ea typeface="굴림" panose="020B0600000101010101" pitchFamily="50" charset="-127"/>
              </a:rPr>
              <a:t>과 명령어의 순서 번호를 가짐</a:t>
            </a:r>
            <a:endParaRPr lang="en-US" altLang="ko-KR" sz="1800" dirty="0">
              <a:ea typeface="굴림" panose="020B0600000101010101" pitchFamily="50" charset="-127"/>
            </a:endParaRPr>
          </a:p>
          <a:p>
            <a:pPr lvl="1"/>
            <a:r>
              <a:rPr lang="en-US" altLang="ko-KR" sz="1800" b="0" dirty="0">
                <a:ea typeface="굴림" panose="020B0600000101010101" pitchFamily="50" charset="-127"/>
              </a:rPr>
              <a:t>CMP R0, R1</a:t>
            </a:r>
          </a:p>
          <a:p>
            <a:pPr lvl="1"/>
            <a:r>
              <a:rPr lang="en-US" altLang="ko-KR" sz="1800" b="0" dirty="0">
                <a:ea typeface="굴림" panose="020B0600000101010101" pitchFamily="50" charset="-127"/>
              </a:rPr>
              <a:t>ITTEE EQ</a:t>
            </a:r>
          </a:p>
          <a:p>
            <a:pPr lvl="1"/>
            <a:r>
              <a:rPr lang="en-US" altLang="ko-KR" sz="1800" b="0" dirty="0">
                <a:ea typeface="굴림" panose="020B0600000101010101" pitchFamily="50" charset="-127"/>
              </a:rPr>
              <a:t>ADDEQ R2, R0, R1 ; R2 = R0 + R1</a:t>
            </a:r>
          </a:p>
          <a:p>
            <a:pPr lvl="1"/>
            <a:r>
              <a:rPr lang="en-US" altLang="ko-KR" sz="1800" b="0" dirty="0">
                <a:ea typeface="굴림" panose="020B0600000101010101" pitchFamily="50" charset="-127"/>
              </a:rPr>
              <a:t>ADDEQ R2, R0, R3 ; R2 = R0 + R3</a:t>
            </a:r>
          </a:p>
          <a:p>
            <a:pPr lvl="1"/>
            <a:r>
              <a:rPr lang="en-US" altLang="ko-KR" sz="1800" b="0" dirty="0">
                <a:ea typeface="굴림" panose="020B0600000101010101" pitchFamily="50" charset="-127"/>
              </a:rPr>
              <a:t>SUBNE R2, R0, R1 ; R2 = R0 - R1</a:t>
            </a:r>
          </a:p>
          <a:p>
            <a:pPr lvl="1"/>
            <a:r>
              <a:rPr lang="en-US" altLang="ko-KR" sz="1800" b="0" dirty="0">
                <a:ea typeface="굴림" panose="020B0600000101010101" pitchFamily="50" charset="-127"/>
              </a:rPr>
              <a:t>SUBNE R2, R0, R3 ; R2 = R0 - R3</a:t>
            </a:r>
          </a:p>
          <a:p>
            <a:r>
              <a:rPr lang="en-US" altLang="ko-KR" sz="1800" dirty="0">
                <a:ea typeface="굴림" panose="020B0600000101010101" pitchFamily="50" charset="-127"/>
              </a:rPr>
              <a:t>R0 - R1 </a:t>
            </a:r>
            <a:r>
              <a:rPr lang="ko-KR" altLang="en-US" sz="1800" dirty="0">
                <a:ea typeface="굴림" panose="020B0600000101010101" pitchFamily="50" charset="-127"/>
              </a:rPr>
              <a:t>한 결과가 </a:t>
            </a:r>
            <a:r>
              <a:rPr lang="en-US" altLang="ko-KR" sz="1800" dirty="0">
                <a:ea typeface="굴림" panose="020B0600000101010101" pitchFamily="50" charset="-127"/>
              </a:rPr>
              <a:t>"0" </a:t>
            </a:r>
            <a:r>
              <a:rPr lang="ko-KR" altLang="en-US" sz="1800" dirty="0">
                <a:ea typeface="굴림" panose="020B0600000101010101" pitchFamily="50" charset="-127"/>
              </a:rPr>
              <a:t>이면 </a:t>
            </a:r>
            <a:r>
              <a:rPr lang="en-US" altLang="ko-KR" sz="1800" dirty="0">
                <a:ea typeface="굴림" panose="020B0600000101010101" pitchFamily="50" charset="-127"/>
              </a:rPr>
              <a:t>ADDEQ </a:t>
            </a:r>
            <a:r>
              <a:rPr lang="ko-KR" altLang="en-US" sz="1800" dirty="0">
                <a:ea typeface="굴림" panose="020B0600000101010101" pitchFamily="50" charset="-127"/>
              </a:rPr>
              <a:t>명령어 </a:t>
            </a:r>
            <a:r>
              <a:rPr lang="en-US" altLang="ko-KR" sz="1800" dirty="0">
                <a:ea typeface="굴림" panose="020B0600000101010101" pitchFamily="50" charset="-127"/>
              </a:rPr>
              <a:t>2</a:t>
            </a:r>
            <a:r>
              <a:rPr lang="ko-KR" altLang="en-US" sz="1800" dirty="0">
                <a:ea typeface="굴림" panose="020B0600000101010101" pitchFamily="50" charset="-127"/>
              </a:rPr>
              <a:t>개를 실행하고 </a:t>
            </a:r>
            <a:r>
              <a:rPr lang="en-US" altLang="ko-KR" sz="1800" dirty="0">
                <a:ea typeface="굴림" panose="020B0600000101010101" pitchFamily="50" charset="-127"/>
              </a:rPr>
              <a:t>"0" </a:t>
            </a:r>
            <a:r>
              <a:rPr lang="ko-KR" altLang="en-US" sz="1800" dirty="0">
                <a:ea typeface="굴림" panose="020B0600000101010101" pitchFamily="50" charset="-127"/>
              </a:rPr>
              <a:t>이 아니면 </a:t>
            </a:r>
            <a:r>
              <a:rPr lang="en-US" altLang="ko-KR" sz="1800" dirty="0">
                <a:ea typeface="굴림" panose="020B0600000101010101" pitchFamily="50" charset="-127"/>
              </a:rPr>
              <a:t>SUBNE </a:t>
            </a:r>
            <a:r>
              <a:rPr lang="ko-KR" altLang="en-US" sz="1800" dirty="0">
                <a:ea typeface="굴림" panose="020B0600000101010101" pitchFamily="50" charset="-127"/>
              </a:rPr>
              <a:t>명령어 </a:t>
            </a:r>
            <a:r>
              <a:rPr lang="en-US" altLang="ko-KR" sz="1800" dirty="0">
                <a:ea typeface="굴림" panose="020B0600000101010101" pitchFamily="50" charset="-127"/>
              </a:rPr>
              <a:t>2</a:t>
            </a:r>
            <a:r>
              <a:rPr lang="ko-KR" altLang="en-US" sz="1800" dirty="0">
                <a:ea typeface="굴림" panose="020B0600000101010101" pitchFamily="50" charset="-127"/>
              </a:rPr>
              <a:t>개를 실행 하라는 의미</a:t>
            </a:r>
            <a:endParaRPr lang="en-US" altLang="ko-KR" sz="1800" dirty="0">
              <a:ea typeface="굴림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021CB2-6018-4F9C-B609-B0BDF3883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6475" y="4692650"/>
            <a:ext cx="45720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dirty="0" err="1">
                <a:latin typeface="Courier New" panose="02070309020205020404" pitchFamily="49" charset="0"/>
                <a:ea typeface="굴림" panose="020B0600000101010101" pitchFamily="50" charset="-127"/>
              </a:rPr>
              <a:t>if</a:t>
            </a:r>
            <a:r>
              <a:rPr lang="ko-KR" altLang="en-US" dirty="0">
                <a:latin typeface="Courier New" panose="02070309020205020404" pitchFamily="49" charset="0"/>
                <a:ea typeface="굴림" panose="020B0600000101010101" pitchFamily="50" charset="-127"/>
              </a:rPr>
              <a:t>( R0 == R1 )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dirty="0">
                <a:latin typeface="Courier New" panose="02070309020205020404" pitchFamily="49" charset="0"/>
                <a:ea typeface="굴림" panose="020B0600000101010101" pitchFamily="50" charset="-127"/>
              </a:rPr>
              <a:t>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dirty="0">
                <a:latin typeface="Courier New" panose="02070309020205020404" pitchFamily="49" charset="0"/>
                <a:ea typeface="굴림" panose="020B0600000101010101" pitchFamily="50" charset="-127"/>
              </a:rPr>
              <a:t>    R2 = R0 + R1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dirty="0">
                <a:latin typeface="Courier New" panose="02070309020205020404" pitchFamily="49" charset="0"/>
                <a:ea typeface="굴림" panose="020B0600000101010101" pitchFamily="50" charset="-127"/>
              </a:rPr>
              <a:t>    R2 = R0 + R3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dirty="0">
                <a:latin typeface="Courier New" panose="02070309020205020404" pitchFamily="49" charset="0"/>
                <a:ea typeface="굴림" panose="020B0600000101010101" pitchFamily="50" charset="-127"/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dirty="0" err="1">
                <a:latin typeface="Courier New" panose="02070309020205020404" pitchFamily="49" charset="0"/>
                <a:ea typeface="굴림" panose="020B0600000101010101" pitchFamily="50" charset="-127"/>
              </a:rPr>
              <a:t>else</a:t>
            </a:r>
            <a:endParaRPr lang="ko-KR" altLang="en-US" dirty="0">
              <a:latin typeface="Courier New" panose="02070309020205020404" pitchFamily="49" charset="0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dirty="0">
                <a:latin typeface="Courier New" panose="02070309020205020404" pitchFamily="49" charset="0"/>
                <a:ea typeface="굴림" panose="020B0600000101010101" pitchFamily="50" charset="-127"/>
              </a:rPr>
              <a:t>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dirty="0">
                <a:latin typeface="Courier New" panose="02070309020205020404" pitchFamily="49" charset="0"/>
                <a:ea typeface="굴림" panose="020B0600000101010101" pitchFamily="50" charset="-127"/>
              </a:rPr>
              <a:t>     R2 = R0 - R1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dirty="0">
                <a:latin typeface="Courier New" panose="02070309020205020404" pitchFamily="49" charset="0"/>
                <a:ea typeface="굴림" panose="020B0600000101010101" pitchFamily="50" charset="-127"/>
              </a:rPr>
              <a:t>     R2 = R0 - R3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dirty="0">
                <a:latin typeface="Courier New" panose="02070309020205020404" pitchFamily="49" charset="0"/>
                <a:ea typeface="굴림" panose="020B0600000101010101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471328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EA4685-AD7B-D7F4-D1FF-CDBF03320C87}"/>
              </a:ext>
            </a:extLst>
          </p:cNvPr>
          <p:cNvSpPr txBox="1"/>
          <p:nvPr/>
        </p:nvSpPr>
        <p:spPr>
          <a:xfrm>
            <a:off x="845389" y="1267172"/>
            <a:ext cx="107945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RISC </a:t>
            </a:r>
            <a:r>
              <a:rPr lang="ko-KR" altLang="en-US" sz="2400" dirty="0"/>
              <a:t>프로세서가 명령어를 실행하는데 사용하는 메커니즘</a:t>
            </a:r>
            <a:endParaRPr lang="en-US" altLang="ko-KR" sz="2400" dirty="0"/>
          </a:p>
          <a:p>
            <a:pPr lvl="1"/>
            <a:r>
              <a:rPr lang="en-US" altLang="ko-KR" sz="2000" dirty="0"/>
              <a:t>Fetch : </a:t>
            </a:r>
            <a:r>
              <a:rPr lang="ko-KR" altLang="en-US" sz="2000" dirty="0"/>
              <a:t>메모리에서 명령을 로드</a:t>
            </a:r>
            <a:endParaRPr lang="en-US" altLang="ko-KR" sz="2000" dirty="0"/>
          </a:p>
          <a:p>
            <a:pPr lvl="1"/>
            <a:r>
              <a:rPr lang="en-US" altLang="ko-KR" sz="2000" dirty="0"/>
              <a:t>Decode : </a:t>
            </a:r>
            <a:r>
              <a:rPr lang="ko-KR" altLang="en-US" sz="2000" dirty="0"/>
              <a:t>실행한 명령어를 해독</a:t>
            </a:r>
            <a:endParaRPr lang="en-US" altLang="ko-KR" sz="2000" dirty="0"/>
          </a:p>
          <a:p>
            <a:pPr lvl="1"/>
            <a:r>
              <a:rPr lang="en-US" altLang="ko-KR" sz="2000" dirty="0"/>
              <a:t>Execute : </a:t>
            </a:r>
            <a:r>
              <a:rPr lang="ko-KR" altLang="en-US" sz="2000" dirty="0"/>
              <a:t>명령어를 처리하고 그 결과를 레지스터에 저장</a:t>
            </a:r>
            <a:endParaRPr lang="en-US" altLang="ko-KR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2C6C50-59B3-F419-24B5-44A17631EDF6}"/>
              </a:ext>
            </a:extLst>
          </p:cNvPr>
          <p:cNvSpPr txBox="1"/>
          <p:nvPr/>
        </p:nvSpPr>
        <p:spPr>
          <a:xfrm>
            <a:off x="1178944" y="38909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dirty="0"/>
              <a:t>파이프라인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11E126-EC6C-E06A-F719-FD138A8A77C5}"/>
              </a:ext>
            </a:extLst>
          </p:cNvPr>
          <p:cNvSpPr txBox="1"/>
          <p:nvPr/>
        </p:nvSpPr>
        <p:spPr>
          <a:xfrm>
            <a:off x="845389" y="327436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ARM7: 3</a:t>
            </a:r>
            <a:r>
              <a:rPr lang="ko-KR" altLang="en-US" sz="2400" dirty="0"/>
              <a:t>단계</a:t>
            </a:r>
            <a:r>
              <a:rPr lang="en-US" altLang="ko-KR" sz="2400" dirty="0"/>
              <a:t>, ARM9 : 5</a:t>
            </a:r>
            <a:r>
              <a:rPr lang="ko-KR" altLang="en-US" sz="2400" dirty="0"/>
              <a:t>단계</a:t>
            </a:r>
            <a:r>
              <a:rPr lang="en-US" altLang="ko-KR" sz="2400" dirty="0"/>
              <a:t>, ARM10 : 6</a:t>
            </a:r>
            <a:r>
              <a:rPr lang="ko-KR" altLang="en-US" sz="2400" dirty="0"/>
              <a:t>단계</a:t>
            </a:r>
            <a:endParaRPr lang="en-US" altLang="ko-KR" sz="2400" dirty="0"/>
          </a:p>
        </p:txBody>
      </p:sp>
      <p:pic>
        <p:nvPicPr>
          <p:cNvPr id="9" name="Picture 14" descr="3-stage pipeline">
            <a:extLst>
              <a:ext uri="{FF2B5EF4-FFF2-40B4-BE49-F238E27FC236}">
                <a16:creationId xmlns:a16="http://schemas.microsoft.com/office/drawing/2014/main" id="{272FF358-5968-3B0A-9773-E2FBEF102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7581" y="3990179"/>
            <a:ext cx="4972939" cy="653586"/>
          </a:xfrm>
          <a:prstGeom prst="rect">
            <a:avLst/>
          </a:prstGeom>
          <a:noFill/>
        </p:spPr>
      </p:pic>
      <p:pic>
        <p:nvPicPr>
          <p:cNvPr id="11" name="Picture 15" descr="5-stage pipeline">
            <a:extLst>
              <a:ext uri="{FF2B5EF4-FFF2-40B4-BE49-F238E27FC236}">
                <a16:creationId xmlns:a16="http://schemas.microsoft.com/office/drawing/2014/main" id="{20BD738A-EABF-3AB1-9D40-6F02F0099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7581" y="4690351"/>
            <a:ext cx="7104192" cy="667794"/>
          </a:xfrm>
          <a:prstGeom prst="rect">
            <a:avLst/>
          </a:prstGeom>
          <a:noFill/>
        </p:spPr>
      </p:pic>
      <p:pic>
        <p:nvPicPr>
          <p:cNvPr id="13" name="Picture 16" descr="6-stage pipeline">
            <a:extLst>
              <a:ext uri="{FF2B5EF4-FFF2-40B4-BE49-F238E27FC236}">
                <a16:creationId xmlns:a16="http://schemas.microsoft.com/office/drawing/2014/main" id="{EEACD51D-40D1-A456-5E26-87F325981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7581" y="5461960"/>
            <a:ext cx="8525036" cy="682003"/>
          </a:xfrm>
          <a:prstGeom prst="rect">
            <a:avLst/>
          </a:prstGeom>
          <a:noFill/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CC24223-34B9-DF71-7921-BB839F4161F3}"/>
              </a:ext>
            </a:extLst>
          </p:cNvPr>
          <p:cNvSpPr txBox="1"/>
          <p:nvPr/>
        </p:nvSpPr>
        <p:spPr>
          <a:xfrm>
            <a:off x="7556739" y="2017021"/>
            <a:ext cx="4307457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파이프라인 </a:t>
            </a:r>
            <a:r>
              <a:rPr lang="en-US" altLang="ko-KR" sz="2400" dirty="0"/>
              <a:t>depth</a:t>
            </a:r>
            <a:r>
              <a:rPr lang="ko-KR" altLang="en-US" sz="2400" dirty="0"/>
              <a:t>가 길어지면</a:t>
            </a:r>
            <a:r>
              <a:rPr lang="en-US" altLang="ko-KR" sz="2400" dirty="0"/>
              <a:t>?</a:t>
            </a:r>
          </a:p>
          <a:p>
            <a:pPr lvl="1"/>
            <a:r>
              <a:rPr lang="ko-KR" altLang="en-US" sz="2000" dirty="0"/>
              <a:t>각 단계에서 처리 가능한 일의 양이 감소</a:t>
            </a:r>
            <a:endParaRPr lang="en-US" altLang="ko-KR" sz="2000" dirty="0"/>
          </a:p>
          <a:p>
            <a:pPr lvl="1"/>
            <a:r>
              <a:rPr lang="ko-KR" altLang="en-US" sz="2000" dirty="0"/>
              <a:t>더 높은 동작 주파수</a:t>
            </a:r>
            <a:r>
              <a:rPr lang="en-US" altLang="ko-KR" sz="2000" dirty="0"/>
              <a:t> </a:t>
            </a:r>
            <a:r>
              <a:rPr lang="ko-KR" altLang="en-US" sz="2000" dirty="0"/>
              <a:t>실현 가능</a:t>
            </a:r>
            <a:endParaRPr lang="en-US" altLang="ko-KR" sz="2000" dirty="0"/>
          </a:p>
          <a:p>
            <a:pPr lvl="1"/>
            <a:r>
              <a:rPr lang="ko-KR" altLang="en-US" sz="2000" dirty="0"/>
              <a:t>파이프라인 길이 증가 </a:t>
            </a:r>
            <a:r>
              <a:rPr lang="en-US" altLang="ko-KR" sz="2000" dirty="0">
                <a:sym typeface="Wingdings" pitchFamily="2" charset="2"/>
              </a:rPr>
              <a:t> </a:t>
            </a:r>
            <a:r>
              <a:rPr lang="ko-KR" altLang="en-US" sz="2000" dirty="0"/>
              <a:t>개별 명령어 실행 </a:t>
            </a:r>
            <a:r>
              <a:rPr lang="en-US" altLang="ko-KR" sz="2000" dirty="0"/>
              <a:t>delay</a:t>
            </a:r>
            <a:r>
              <a:rPr lang="ko-KR" altLang="en-US" sz="2000" dirty="0"/>
              <a:t>는 증가</a:t>
            </a:r>
            <a:endParaRPr lang="en-US" altLang="ko-KR" sz="2000" dirty="0"/>
          </a:p>
          <a:p>
            <a:pPr lvl="1"/>
            <a:r>
              <a:rPr lang="ko-KR" altLang="en-US" sz="2000" dirty="0"/>
              <a:t>의존도 증가 </a:t>
            </a:r>
            <a:r>
              <a:rPr lang="en-US" altLang="ko-KR" sz="2000" dirty="0"/>
              <a:t>: </a:t>
            </a:r>
            <a:r>
              <a:rPr lang="ko-KR" altLang="en-US" sz="2000" dirty="0"/>
              <a:t>각 </a:t>
            </a:r>
            <a:r>
              <a:rPr lang="en-US" altLang="ko-KR" sz="2000" dirty="0"/>
              <a:t>stage </a:t>
            </a:r>
            <a:r>
              <a:rPr lang="ko-KR" altLang="en-US" sz="2000" dirty="0"/>
              <a:t>내 데이터가 서로 영향을 끼침 </a:t>
            </a:r>
            <a:endParaRPr lang="en-US" altLang="ko-KR" sz="2000" dirty="0"/>
          </a:p>
          <a:p>
            <a:pPr lvl="1"/>
            <a:r>
              <a:rPr lang="ko-KR" altLang="en-US" sz="2000" dirty="0"/>
              <a:t>명령어 </a:t>
            </a:r>
            <a:r>
              <a:rPr lang="ko-KR" altLang="en-US" sz="2000" dirty="0" err="1"/>
              <a:t>스케쥴링</a:t>
            </a:r>
            <a:r>
              <a:rPr lang="ko-KR" altLang="en-US" sz="2000" dirty="0"/>
              <a:t> 필요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5212652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EF1243-1FE0-8939-CACF-579FEC8F2016}"/>
              </a:ext>
            </a:extLst>
          </p:cNvPr>
          <p:cNvSpPr txBox="1"/>
          <p:nvPr/>
        </p:nvSpPr>
        <p:spPr>
          <a:xfrm>
            <a:off x="1072550" y="1420484"/>
            <a:ext cx="1004689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리셋 </a:t>
            </a:r>
            <a:endParaRPr lang="en-US" altLang="ko-KR" sz="2400" dirty="0"/>
          </a:p>
          <a:p>
            <a:pPr lvl="1"/>
            <a:r>
              <a:rPr lang="en-US" altLang="ko-KR" sz="2000" dirty="0"/>
              <a:t>When power is applied</a:t>
            </a:r>
          </a:p>
          <a:p>
            <a:r>
              <a:rPr lang="ko-KR" altLang="en-US" sz="2400" dirty="0"/>
              <a:t>정의되지 않은 명령</a:t>
            </a:r>
            <a:endParaRPr lang="en-US" altLang="ko-KR" sz="2400" dirty="0"/>
          </a:p>
          <a:p>
            <a:pPr lvl="1"/>
            <a:r>
              <a:rPr lang="ko-KR" altLang="en-US" sz="2000" dirty="0"/>
              <a:t>프로세서가 명령어를 해석할 수 없을 때</a:t>
            </a:r>
            <a:endParaRPr lang="en-US" altLang="ko-KR" sz="2000" dirty="0"/>
          </a:p>
          <a:p>
            <a:r>
              <a:rPr lang="ko-KR" altLang="en-US" sz="2400" dirty="0"/>
              <a:t>소프트웨어 인터럽트</a:t>
            </a:r>
            <a:endParaRPr lang="en-US" altLang="ko-KR" sz="2400" dirty="0"/>
          </a:p>
          <a:p>
            <a:pPr lvl="1"/>
            <a:r>
              <a:rPr lang="ko-KR" altLang="en-US" sz="2000" dirty="0"/>
              <a:t>프로세서가 </a:t>
            </a:r>
            <a:r>
              <a:rPr lang="en-US" altLang="ko-KR" sz="2000" dirty="0"/>
              <a:t>SWI </a:t>
            </a:r>
            <a:r>
              <a:rPr lang="ko-KR" altLang="en-US" sz="2000" dirty="0"/>
              <a:t>명령을 만났을 때</a:t>
            </a:r>
            <a:r>
              <a:rPr lang="en-US" altLang="ko-KR" sz="2000" dirty="0"/>
              <a:t>, OS service </a:t>
            </a:r>
            <a:r>
              <a:rPr lang="ko-KR" altLang="en-US" sz="2000" dirty="0"/>
              <a:t>요청</a:t>
            </a:r>
            <a:endParaRPr lang="en-US" altLang="ko-KR" sz="2000" dirty="0"/>
          </a:p>
          <a:p>
            <a:r>
              <a:rPr lang="en-US" altLang="ko-KR" sz="2400" dirty="0"/>
              <a:t>Prefetch abort</a:t>
            </a:r>
          </a:p>
          <a:p>
            <a:pPr lvl="1"/>
            <a:r>
              <a:rPr lang="ko-KR" altLang="en-US" sz="2000" dirty="0"/>
              <a:t>프로세서가 올바른 접근권한 없이 특정 주소에서 명령어를 </a:t>
            </a:r>
            <a:r>
              <a:rPr lang="ko-KR" altLang="en-US" sz="2000" dirty="0" err="1"/>
              <a:t>읽어들이려</a:t>
            </a:r>
            <a:r>
              <a:rPr lang="ko-KR" altLang="en-US" sz="2000" dirty="0"/>
              <a:t> 시도할 때</a:t>
            </a:r>
            <a:endParaRPr lang="en-US" altLang="ko-KR" sz="2000" dirty="0"/>
          </a:p>
          <a:p>
            <a:r>
              <a:rPr lang="en-US" altLang="ko-KR" sz="2400" dirty="0"/>
              <a:t>Data abort</a:t>
            </a:r>
          </a:p>
          <a:p>
            <a:pPr lvl="1"/>
            <a:r>
              <a:rPr lang="en-US" altLang="ko-KR" sz="2000" dirty="0"/>
              <a:t>Prefetch abort</a:t>
            </a:r>
            <a:r>
              <a:rPr lang="ko-KR" altLang="en-US" sz="2000" dirty="0"/>
              <a:t>와 유사하나 명령어가 정확한 접근권한 없이 데이터 메모리를 접근하려 시도할 때 발생</a:t>
            </a:r>
            <a:endParaRPr lang="en-US" altLang="ko-KR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B28A1B-87EA-E5C4-07CD-060ED96A0FAF}"/>
              </a:ext>
            </a:extLst>
          </p:cNvPr>
          <p:cNvSpPr txBox="1"/>
          <p:nvPr/>
        </p:nvSpPr>
        <p:spPr>
          <a:xfrm>
            <a:off x="1293962" y="32962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dirty="0"/>
              <a:t>예외 </a:t>
            </a:r>
            <a:r>
              <a:rPr lang="en-US" altLang="ko-KR" sz="3200" dirty="0"/>
              <a:t>(exceptions)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55090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E2BE8A-6C6B-1A05-9D48-09612E97BD8B}"/>
              </a:ext>
            </a:extLst>
          </p:cNvPr>
          <p:cNvSpPr txBox="1"/>
          <p:nvPr/>
        </p:nvSpPr>
        <p:spPr>
          <a:xfrm>
            <a:off x="1489493" y="777620"/>
            <a:ext cx="957532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인터럽트 요청</a:t>
            </a:r>
            <a:r>
              <a:rPr lang="en-US" altLang="ko-KR" sz="2400" dirty="0"/>
              <a:t> (IRQ)</a:t>
            </a:r>
          </a:p>
          <a:p>
            <a:pPr lvl="1"/>
            <a:r>
              <a:rPr lang="ko-KR" altLang="en-US" sz="2000" dirty="0"/>
              <a:t>외부 하드웨어가 프로세서의 일반 실행 흐름을 인터럽트 하고자 할 때</a:t>
            </a:r>
            <a:endParaRPr lang="en-US" altLang="ko-KR" sz="2000" dirty="0"/>
          </a:p>
          <a:p>
            <a:r>
              <a:rPr lang="ko-KR" altLang="en-US" sz="2400" dirty="0"/>
              <a:t>빠른 인터럽트 요청 </a:t>
            </a:r>
            <a:r>
              <a:rPr lang="en-US" altLang="ko-KR" sz="2400" dirty="0"/>
              <a:t>(FIQ)</a:t>
            </a:r>
          </a:p>
          <a:p>
            <a:pPr lvl="1"/>
            <a:r>
              <a:rPr lang="ko-KR" altLang="en-US" sz="2000" dirty="0"/>
              <a:t>빠른 응답을 </a:t>
            </a:r>
            <a:r>
              <a:rPr lang="ko-KR" altLang="en-US" sz="2000" dirty="0" err="1"/>
              <a:t>필요로하는</a:t>
            </a:r>
            <a:r>
              <a:rPr lang="ko-KR" altLang="en-US" sz="2000" dirty="0"/>
              <a:t> 하드웨어가 프로세서의 일반 실행 흐름을 인터럽트 하고자 할 때</a:t>
            </a:r>
            <a:endParaRPr lang="en-US" altLang="ko-KR" sz="2000" dirty="0"/>
          </a:p>
        </p:txBody>
      </p:sp>
      <p:graphicFrame>
        <p:nvGraphicFramePr>
          <p:cNvPr id="7" name="Group 66">
            <a:extLst>
              <a:ext uri="{FF2B5EF4-FFF2-40B4-BE49-F238E27FC236}">
                <a16:creationId xmlns:a16="http://schemas.microsoft.com/office/drawing/2014/main" id="{90CBCADE-2668-C8AB-9F68-CFB04E8613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5633031"/>
              </p:ext>
            </p:extLst>
          </p:nvPr>
        </p:nvGraphicFramePr>
        <p:xfrm>
          <a:off x="1713781" y="2656935"/>
          <a:ext cx="8913960" cy="3678640"/>
        </p:xfrm>
        <a:graphic>
          <a:graphicData uri="http://schemas.openxmlformats.org/drawingml/2006/table">
            <a:tbl>
              <a:tblPr/>
              <a:tblGrid>
                <a:gridCol w="2442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06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27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7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예외</a:t>
                      </a: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약자</a:t>
                      </a: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벡터 주소</a:t>
                      </a: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상위 벡터 주소</a:t>
                      </a: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8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Reset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RESET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0x00000000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0xffff0000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8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Undefined instr.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UNDEF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0x00000004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0xffff0004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8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Software instr.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SWI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0x00000008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0xffff0008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8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Prefetch</a:t>
                      </a: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 abort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PABT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0x0000000c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0xffff000c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8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Data abort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DABT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0x00000010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0xffff0010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5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Reserved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-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0x00000014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0xffff0014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8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Interrupt request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IRQ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0x00000018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0xffff0018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8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Fast interrupt req.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FIQ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0x0000001c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0xffff001c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37670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398F5C-39A8-6EC8-AABF-74A5C638B024}"/>
              </a:ext>
            </a:extLst>
          </p:cNvPr>
          <p:cNvSpPr txBox="1"/>
          <p:nvPr/>
        </p:nvSpPr>
        <p:spPr>
          <a:xfrm>
            <a:off x="1075425" y="545834"/>
            <a:ext cx="1021942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예외 발생시</a:t>
            </a:r>
            <a:endParaRPr lang="en-US" altLang="ko-KR" sz="2400" dirty="0"/>
          </a:p>
          <a:p>
            <a:pPr lvl="1"/>
            <a:r>
              <a:rPr lang="en-US" altLang="ko-KR" sz="2000" dirty="0"/>
              <a:t>CPSR</a:t>
            </a:r>
            <a:r>
              <a:rPr lang="ko-KR" altLang="en-US" sz="2000" dirty="0"/>
              <a:t>의 값을 </a:t>
            </a:r>
            <a:r>
              <a:rPr lang="en-US" altLang="ko-KR" sz="2000" dirty="0"/>
              <a:t>SPSR_&lt;mode&gt;</a:t>
            </a:r>
            <a:r>
              <a:rPr lang="ko-KR" altLang="en-US" sz="2000" dirty="0"/>
              <a:t>으로 복사</a:t>
            </a:r>
            <a:endParaRPr lang="en-US" altLang="ko-KR" sz="2000" dirty="0"/>
          </a:p>
          <a:p>
            <a:pPr lvl="1"/>
            <a:r>
              <a:rPr lang="en-US" altLang="ko-KR" sz="2000" dirty="0"/>
              <a:t>CPSR </a:t>
            </a:r>
            <a:r>
              <a:rPr lang="ko-KR" altLang="en-US" sz="2000" dirty="0"/>
              <a:t>레지스터의 적절한 값을 설정</a:t>
            </a:r>
            <a:endParaRPr lang="en-US" altLang="ko-KR" sz="2000" dirty="0"/>
          </a:p>
          <a:p>
            <a:pPr lvl="2"/>
            <a:r>
              <a:rPr lang="en-US" altLang="ko-KR" sz="1800" dirty="0"/>
              <a:t>ARM </a:t>
            </a:r>
            <a:r>
              <a:rPr lang="ko-KR" altLang="en-US" sz="1800" dirty="0"/>
              <a:t>상태로 전환</a:t>
            </a:r>
            <a:endParaRPr lang="en-US" altLang="ko-KR" sz="1800" dirty="0"/>
          </a:p>
          <a:p>
            <a:pPr lvl="2"/>
            <a:r>
              <a:rPr lang="ko-KR" altLang="en-US" sz="1800" dirty="0"/>
              <a:t>예외 모드로 전환</a:t>
            </a:r>
            <a:endParaRPr lang="en-US" altLang="ko-KR" sz="1800" dirty="0"/>
          </a:p>
          <a:p>
            <a:pPr lvl="2"/>
            <a:r>
              <a:rPr lang="ko-KR" altLang="en-US" sz="1800" dirty="0"/>
              <a:t>인터럽트 비활성화 </a:t>
            </a:r>
            <a:r>
              <a:rPr lang="en-US" altLang="ko-KR" sz="1800" dirty="0"/>
              <a:t>(</a:t>
            </a:r>
            <a:r>
              <a:rPr lang="ko-KR" altLang="en-US" sz="1800" dirty="0"/>
              <a:t>필요한 경우</a:t>
            </a:r>
            <a:r>
              <a:rPr lang="en-US" altLang="ko-KR" sz="1800" dirty="0"/>
              <a:t>)</a:t>
            </a:r>
          </a:p>
          <a:p>
            <a:pPr lvl="1"/>
            <a:r>
              <a:rPr lang="en-US" altLang="ko-KR" sz="2000" dirty="0"/>
              <a:t>LR_&lt;mode&gt; </a:t>
            </a:r>
            <a:r>
              <a:rPr lang="ko-KR" altLang="en-US" sz="2000" dirty="0"/>
              <a:t>레지스터에 복귀 주소 저장</a:t>
            </a:r>
            <a:endParaRPr lang="en-US" altLang="ko-KR" sz="2000" dirty="0"/>
          </a:p>
          <a:p>
            <a:pPr lvl="1"/>
            <a:r>
              <a:rPr lang="en-US" altLang="ko-KR" sz="2000" dirty="0"/>
              <a:t>PC</a:t>
            </a:r>
            <a:r>
              <a:rPr lang="ko-KR" altLang="en-US" sz="2000" dirty="0"/>
              <a:t>에 지정된 메모리 </a:t>
            </a:r>
            <a:r>
              <a:rPr lang="ko-KR" altLang="en-US" sz="2000" dirty="0" err="1"/>
              <a:t>주소값을</a:t>
            </a:r>
            <a:r>
              <a:rPr lang="ko-KR" altLang="en-US" sz="2000" dirty="0"/>
              <a:t> 넣는다</a:t>
            </a:r>
            <a:endParaRPr lang="en-US" altLang="ko-KR" sz="2000" dirty="0"/>
          </a:p>
          <a:p>
            <a:pPr lvl="2"/>
            <a:r>
              <a:rPr lang="ko-KR" altLang="en-US" sz="1800" dirty="0"/>
              <a:t>이 </a:t>
            </a:r>
            <a:r>
              <a:rPr lang="ko-KR" altLang="en-US" sz="1800" dirty="0" err="1"/>
              <a:t>주소값은</a:t>
            </a:r>
            <a:r>
              <a:rPr lang="ko-KR" altLang="en-US" sz="1800" dirty="0"/>
              <a:t> 벡터 테이블의 특정 주소 영역 안에 있는 값임</a:t>
            </a:r>
            <a:endParaRPr lang="en-US" altLang="ko-KR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0782E7-934F-FAFF-DF08-BAC9A437431C}"/>
              </a:ext>
            </a:extLst>
          </p:cNvPr>
          <p:cNvSpPr txBox="1"/>
          <p:nvPr/>
        </p:nvSpPr>
        <p:spPr>
          <a:xfrm>
            <a:off x="1173192" y="3737216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예외 처리 후 복귀</a:t>
            </a:r>
            <a:endParaRPr lang="en-US" altLang="ko-KR" sz="2400" dirty="0"/>
          </a:p>
          <a:p>
            <a:pPr lvl="1"/>
            <a:r>
              <a:rPr lang="en-US" altLang="ko-KR" sz="2000" dirty="0"/>
              <a:t>SPSR_&lt;mode&gt; </a:t>
            </a:r>
            <a:r>
              <a:rPr lang="ko-KR" altLang="en-US" sz="2000" dirty="0"/>
              <a:t>값을 이용해 </a:t>
            </a:r>
            <a:r>
              <a:rPr lang="en-US" altLang="ko-KR" sz="2000" dirty="0"/>
              <a:t>CPSR </a:t>
            </a:r>
            <a:r>
              <a:rPr lang="ko-KR" altLang="en-US" sz="2000" dirty="0"/>
              <a:t>를 복구</a:t>
            </a:r>
            <a:endParaRPr lang="en-US" altLang="ko-KR" sz="2000" dirty="0"/>
          </a:p>
          <a:p>
            <a:pPr lvl="1"/>
            <a:r>
              <a:rPr lang="en-US" altLang="ko-KR" sz="2000" dirty="0"/>
              <a:t>LR_&lt;mode&gt; </a:t>
            </a:r>
            <a:r>
              <a:rPr lang="ko-KR" altLang="en-US" sz="2000" dirty="0"/>
              <a:t>값을 이용해 </a:t>
            </a:r>
            <a:r>
              <a:rPr lang="en-US" altLang="ko-KR" sz="2000" dirty="0"/>
              <a:t>PC</a:t>
            </a:r>
            <a:r>
              <a:rPr lang="ko-KR" altLang="en-US" sz="2000" dirty="0"/>
              <a:t>를 복구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6300499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B15036-1B5B-ABBC-AF04-8675791C3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3691" y="443182"/>
            <a:ext cx="4914900" cy="609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endParaRPr lang="ko-KR" altLang="en-US" sz="1000">
              <a:ea typeface="굴림" panose="020B0600000101010101" pitchFamily="50" charset="-127"/>
            </a:endParaRPr>
          </a:p>
          <a:p>
            <a:r>
              <a:rPr lang="ko-KR" altLang="en-US" sz="1000">
                <a:ea typeface="굴림" panose="020B0600000101010101" pitchFamily="50" charset="-127"/>
              </a:rPr>
              <a:t>                AREA    |.text|, CODE, READONLY</a:t>
            </a:r>
          </a:p>
          <a:p>
            <a:endParaRPr lang="ko-KR" altLang="en-US" sz="1000">
              <a:ea typeface="굴림" panose="020B0600000101010101" pitchFamily="50" charset="-127"/>
            </a:endParaRPr>
          </a:p>
          <a:p>
            <a:r>
              <a:rPr lang="ko-KR" altLang="en-US" sz="1000">
                <a:ea typeface="굴림" panose="020B0600000101010101" pitchFamily="50" charset="-127"/>
              </a:rPr>
              <a:t>; Reset Handler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Reset_Handler   PROC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EXPORT  Reset_Handler             [WEAK]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IMPORT  SystemInit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IMPORT  __main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LDR     R0, =SystemInit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BLX     R0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LDR     R0, =__main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NMI_Handler     PROC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EXPORT  NMI_Handler               [WEAK]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B       .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ENDP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HardFault_Handler\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PROC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EXPORT  HardFault_Handler         [WEAK]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B       .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ENDP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MemManage_Handler\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PROC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EXPORT  MemManage_Handler         [WEAK]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B       .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ENDP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BusFault_Handler\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PROC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EXPORT  BusFault_Handler          [WEAK]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B       .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ENDP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UsageFault_Handler\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PROC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EXPORT  UsageFault_Handler        [WEAK]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B       .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ENDP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SVC_Handler     PROC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EXPORT  SVC_Handler               [WEAK]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B       .</a:t>
            </a:r>
          </a:p>
          <a:p>
            <a:r>
              <a:rPr lang="ko-KR" altLang="en-US" sz="1000">
                <a:ea typeface="굴림" panose="020B0600000101010101" pitchFamily="50" charset="-127"/>
              </a:rPr>
              <a:t>                ENDP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26CE8-7F8C-24F3-D762-084710F05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8366" y="1146445"/>
            <a:ext cx="4743450" cy="507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r>
              <a:rPr lang="ko-KR" altLang="en-US" sz="900" dirty="0">
                <a:ea typeface="굴림" panose="020B0600000101010101" pitchFamily="50" charset="-127"/>
              </a:rPr>
              <a:t>; </a:t>
            </a:r>
            <a:r>
              <a:rPr lang="ko-KR" altLang="en-US" sz="900" dirty="0" err="1">
                <a:ea typeface="굴림" panose="020B0600000101010101" pitchFamily="50" charset="-127"/>
              </a:rPr>
              <a:t>Vector</a:t>
            </a:r>
            <a:r>
              <a:rPr lang="ko-KR" altLang="en-US" sz="900" dirty="0">
                <a:ea typeface="굴림" panose="020B0600000101010101" pitchFamily="50" charset="-127"/>
              </a:rPr>
              <a:t> </a:t>
            </a:r>
            <a:r>
              <a:rPr lang="ko-KR" altLang="en-US" sz="900" dirty="0" err="1">
                <a:ea typeface="굴림" panose="020B0600000101010101" pitchFamily="50" charset="-127"/>
              </a:rPr>
              <a:t>Table</a:t>
            </a:r>
            <a:r>
              <a:rPr lang="ko-KR" altLang="en-US" sz="900" dirty="0">
                <a:ea typeface="굴림" panose="020B0600000101010101" pitchFamily="50" charset="-127"/>
              </a:rPr>
              <a:t> </a:t>
            </a:r>
            <a:r>
              <a:rPr lang="ko-KR" altLang="en-US" sz="900" dirty="0" err="1">
                <a:ea typeface="굴림" panose="020B0600000101010101" pitchFamily="50" charset="-127"/>
              </a:rPr>
              <a:t>Mapped</a:t>
            </a:r>
            <a:r>
              <a:rPr lang="ko-KR" altLang="en-US" sz="900" dirty="0">
                <a:ea typeface="굴림" panose="020B0600000101010101" pitchFamily="50" charset="-127"/>
              </a:rPr>
              <a:t> </a:t>
            </a:r>
            <a:r>
              <a:rPr lang="ko-KR" altLang="en-US" sz="900" dirty="0" err="1">
                <a:ea typeface="굴림" panose="020B0600000101010101" pitchFamily="50" charset="-127"/>
              </a:rPr>
              <a:t>to</a:t>
            </a:r>
            <a:r>
              <a:rPr lang="ko-KR" altLang="en-US" sz="900" dirty="0">
                <a:ea typeface="굴림" panose="020B0600000101010101" pitchFamily="50" charset="-127"/>
              </a:rPr>
              <a:t> </a:t>
            </a:r>
            <a:r>
              <a:rPr lang="ko-KR" altLang="en-US" sz="900" dirty="0" err="1">
                <a:ea typeface="굴림" panose="020B0600000101010101" pitchFamily="50" charset="-127"/>
              </a:rPr>
              <a:t>Address</a:t>
            </a:r>
            <a:r>
              <a:rPr lang="ko-KR" altLang="en-US" sz="900" dirty="0">
                <a:ea typeface="굴림" panose="020B0600000101010101" pitchFamily="50" charset="-127"/>
              </a:rPr>
              <a:t> 0 </a:t>
            </a:r>
            <a:r>
              <a:rPr lang="ko-KR" altLang="en-US" sz="900" dirty="0" err="1">
                <a:ea typeface="굴림" panose="020B0600000101010101" pitchFamily="50" charset="-127"/>
              </a:rPr>
              <a:t>at</a:t>
            </a:r>
            <a:r>
              <a:rPr lang="ko-KR" altLang="en-US" sz="900" dirty="0">
                <a:ea typeface="굴림" panose="020B0600000101010101" pitchFamily="50" charset="-127"/>
              </a:rPr>
              <a:t> </a:t>
            </a:r>
            <a:r>
              <a:rPr lang="ko-KR" altLang="en-US" sz="900" dirty="0" err="1">
                <a:ea typeface="굴림" panose="020B0600000101010101" pitchFamily="50" charset="-127"/>
              </a:rPr>
              <a:t>Reset</a:t>
            </a:r>
            <a:endParaRPr lang="ko-KR" altLang="en-US" sz="900" dirty="0">
              <a:ea typeface="굴림" panose="020B0600000101010101" pitchFamily="50" charset="-127"/>
            </a:endParaRPr>
          </a:p>
          <a:p>
            <a:endParaRPr lang="ko-KR" altLang="en-US" sz="900" dirty="0">
              <a:ea typeface="굴림" panose="020B0600000101010101" pitchFamily="50" charset="-127"/>
            </a:endParaRPr>
          </a:p>
          <a:p>
            <a:r>
              <a:rPr lang="ko-KR" altLang="en-US" sz="900" dirty="0">
                <a:ea typeface="굴림" panose="020B0600000101010101" pitchFamily="50" charset="-127"/>
              </a:rPr>
              <a:t>                AREA    RESET, DATA, READONLY</a:t>
            </a:r>
          </a:p>
          <a:p>
            <a:r>
              <a:rPr lang="ko-KR" altLang="en-US" sz="900" dirty="0">
                <a:ea typeface="굴림" panose="020B0600000101010101" pitchFamily="50" charset="-127"/>
              </a:rPr>
              <a:t>                EXPORT  __</a:t>
            </a:r>
            <a:r>
              <a:rPr lang="ko-KR" altLang="en-US" sz="900" dirty="0" err="1">
                <a:ea typeface="굴림" panose="020B0600000101010101" pitchFamily="50" charset="-127"/>
              </a:rPr>
              <a:t>Vectors</a:t>
            </a:r>
            <a:endParaRPr lang="ko-KR" altLang="en-US" sz="900" dirty="0">
              <a:ea typeface="굴림" panose="020B0600000101010101" pitchFamily="50" charset="-127"/>
            </a:endParaRPr>
          </a:p>
          <a:p>
            <a:endParaRPr lang="ko-KR" altLang="en-US" sz="900" dirty="0">
              <a:ea typeface="굴림" panose="020B0600000101010101" pitchFamily="50" charset="-127"/>
            </a:endParaRPr>
          </a:p>
          <a:p>
            <a:r>
              <a:rPr lang="ko-KR" altLang="en-US" sz="900" dirty="0">
                <a:ea typeface="굴림" panose="020B0600000101010101" pitchFamily="50" charset="-127"/>
              </a:rPr>
              <a:t>__</a:t>
            </a:r>
            <a:r>
              <a:rPr lang="ko-KR" altLang="en-US" sz="900" dirty="0" err="1">
                <a:ea typeface="굴림" panose="020B0600000101010101" pitchFamily="50" charset="-127"/>
              </a:rPr>
              <a:t>Vectors</a:t>
            </a:r>
            <a:r>
              <a:rPr lang="ko-KR" altLang="en-US" sz="900" dirty="0">
                <a:ea typeface="굴림" panose="020B0600000101010101" pitchFamily="50" charset="-127"/>
              </a:rPr>
              <a:t>       DCD     __</a:t>
            </a:r>
            <a:r>
              <a:rPr lang="ko-KR" altLang="en-US" sz="900" dirty="0" err="1">
                <a:ea typeface="굴림" panose="020B0600000101010101" pitchFamily="50" charset="-127"/>
              </a:rPr>
              <a:t>initial_sp</a:t>
            </a:r>
            <a:r>
              <a:rPr lang="ko-KR" altLang="en-US" sz="900" dirty="0">
                <a:ea typeface="굴림" panose="020B0600000101010101" pitchFamily="50" charset="-127"/>
              </a:rPr>
              <a:t>              ; </a:t>
            </a:r>
            <a:r>
              <a:rPr lang="ko-KR" altLang="en-US" sz="900" dirty="0" err="1">
                <a:ea typeface="굴림" panose="020B0600000101010101" pitchFamily="50" charset="-127"/>
              </a:rPr>
              <a:t>Top</a:t>
            </a:r>
            <a:r>
              <a:rPr lang="ko-KR" altLang="en-US" sz="900" dirty="0">
                <a:ea typeface="굴림" panose="020B0600000101010101" pitchFamily="50" charset="-127"/>
              </a:rPr>
              <a:t> of </a:t>
            </a:r>
            <a:r>
              <a:rPr lang="ko-KR" altLang="en-US" sz="900" dirty="0" err="1">
                <a:ea typeface="굴림" panose="020B0600000101010101" pitchFamily="50" charset="-127"/>
              </a:rPr>
              <a:t>Stack</a:t>
            </a:r>
            <a:endParaRPr lang="ko-KR" altLang="en-US" sz="900" dirty="0">
              <a:ea typeface="굴림" panose="020B0600000101010101" pitchFamily="50" charset="-127"/>
            </a:endParaRPr>
          </a:p>
          <a:p>
            <a:r>
              <a:rPr lang="ko-KR" altLang="en-US" sz="900" dirty="0">
                <a:ea typeface="굴림" panose="020B0600000101010101" pitchFamily="50" charset="-127"/>
              </a:rPr>
              <a:t>                DCD     </a:t>
            </a:r>
            <a:r>
              <a:rPr lang="ko-KR" altLang="en-US" sz="900" dirty="0" err="1">
                <a:ea typeface="굴림" panose="020B0600000101010101" pitchFamily="50" charset="-127"/>
              </a:rPr>
              <a:t>Reset_Handler</a:t>
            </a:r>
            <a:r>
              <a:rPr lang="ko-KR" altLang="en-US" sz="900" dirty="0">
                <a:ea typeface="굴림" panose="020B0600000101010101" pitchFamily="50" charset="-127"/>
              </a:rPr>
              <a:t>             ; </a:t>
            </a:r>
            <a:r>
              <a:rPr lang="ko-KR" altLang="en-US" sz="900" dirty="0" err="1">
                <a:ea typeface="굴림" panose="020B0600000101010101" pitchFamily="50" charset="-127"/>
              </a:rPr>
              <a:t>Reset</a:t>
            </a:r>
            <a:r>
              <a:rPr lang="ko-KR" altLang="en-US" sz="900" dirty="0">
                <a:ea typeface="굴림" panose="020B0600000101010101" pitchFamily="50" charset="-127"/>
              </a:rPr>
              <a:t> </a:t>
            </a:r>
            <a:r>
              <a:rPr lang="ko-KR" altLang="en-US" sz="900" dirty="0" err="1">
                <a:ea typeface="굴림" panose="020B0600000101010101" pitchFamily="50" charset="-127"/>
              </a:rPr>
              <a:t>Handler</a:t>
            </a:r>
            <a:endParaRPr lang="ko-KR" altLang="en-US" sz="900" dirty="0">
              <a:ea typeface="굴림" panose="020B0600000101010101" pitchFamily="50" charset="-127"/>
            </a:endParaRPr>
          </a:p>
          <a:p>
            <a:r>
              <a:rPr lang="ko-KR" altLang="en-US" sz="900" dirty="0">
                <a:ea typeface="굴림" panose="020B0600000101010101" pitchFamily="50" charset="-127"/>
              </a:rPr>
              <a:t>                DCD     </a:t>
            </a:r>
            <a:r>
              <a:rPr lang="ko-KR" altLang="en-US" sz="900" dirty="0" err="1">
                <a:ea typeface="굴림" panose="020B0600000101010101" pitchFamily="50" charset="-127"/>
              </a:rPr>
              <a:t>NMI_Handler</a:t>
            </a:r>
            <a:r>
              <a:rPr lang="ko-KR" altLang="en-US" sz="900" dirty="0">
                <a:ea typeface="굴림" panose="020B0600000101010101" pitchFamily="50" charset="-127"/>
              </a:rPr>
              <a:t>               ; NMI </a:t>
            </a:r>
            <a:r>
              <a:rPr lang="ko-KR" altLang="en-US" sz="900" dirty="0" err="1">
                <a:ea typeface="굴림" panose="020B0600000101010101" pitchFamily="50" charset="-127"/>
              </a:rPr>
              <a:t>Handler</a:t>
            </a:r>
            <a:endParaRPr lang="ko-KR" altLang="en-US" sz="900" dirty="0">
              <a:ea typeface="굴림" panose="020B0600000101010101" pitchFamily="50" charset="-127"/>
            </a:endParaRPr>
          </a:p>
          <a:p>
            <a:r>
              <a:rPr lang="ko-KR" altLang="en-US" sz="900" dirty="0">
                <a:ea typeface="굴림" panose="020B0600000101010101" pitchFamily="50" charset="-127"/>
              </a:rPr>
              <a:t>                DCD     </a:t>
            </a:r>
            <a:r>
              <a:rPr lang="ko-KR" altLang="en-US" sz="900" dirty="0" err="1">
                <a:ea typeface="굴림" panose="020B0600000101010101" pitchFamily="50" charset="-127"/>
              </a:rPr>
              <a:t>HardFault_Handler</a:t>
            </a:r>
            <a:r>
              <a:rPr lang="ko-KR" altLang="en-US" sz="900" dirty="0">
                <a:ea typeface="굴림" panose="020B0600000101010101" pitchFamily="50" charset="-127"/>
              </a:rPr>
              <a:t>         ; </a:t>
            </a:r>
            <a:r>
              <a:rPr lang="ko-KR" altLang="en-US" sz="900" dirty="0" err="1">
                <a:ea typeface="굴림" panose="020B0600000101010101" pitchFamily="50" charset="-127"/>
              </a:rPr>
              <a:t>Hard</a:t>
            </a:r>
            <a:r>
              <a:rPr lang="ko-KR" altLang="en-US" sz="900" dirty="0">
                <a:ea typeface="굴림" panose="020B0600000101010101" pitchFamily="50" charset="-127"/>
              </a:rPr>
              <a:t> </a:t>
            </a:r>
            <a:r>
              <a:rPr lang="ko-KR" altLang="en-US" sz="900" dirty="0" err="1">
                <a:ea typeface="굴림" panose="020B0600000101010101" pitchFamily="50" charset="-127"/>
              </a:rPr>
              <a:t>Fault</a:t>
            </a:r>
            <a:r>
              <a:rPr lang="ko-KR" altLang="en-US" sz="900" dirty="0">
                <a:ea typeface="굴림" panose="020B0600000101010101" pitchFamily="50" charset="-127"/>
              </a:rPr>
              <a:t> </a:t>
            </a:r>
            <a:r>
              <a:rPr lang="ko-KR" altLang="en-US" sz="900" dirty="0" err="1">
                <a:ea typeface="굴림" panose="020B0600000101010101" pitchFamily="50" charset="-127"/>
              </a:rPr>
              <a:t>Handler</a:t>
            </a:r>
            <a:endParaRPr lang="ko-KR" altLang="en-US" sz="900" dirty="0">
              <a:ea typeface="굴림" panose="020B0600000101010101" pitchFamily="50" charset="-127"/>
            </a:endParaRPr>
          </a:p>
          <a:p>
            <a:r>
              <a:rPr lang="ko-KR" altLang="en-US" sz="900" dirty="0">
                <a:ea typeface="굴림" panose="020B0600000101010101" pitchFamily="50" charset="-127"/>
              </a:rPr>
              <a:t>                DCD     </a:t>
            </a:r>
            <a:r>
              <a:rPr lang="ko-KR" altLang="en-US" sz="900" dirty="0" err="1">
                <a:ea typeface="굴림" panose="020B0600000101010101" pitchFamily="50" charset="-127"/>
              </a:rPr>
              <a:t>MemManage_Handler</a:t>
            </a:r>
            <a:r>
              <a:rPr lang="ko-KR" altLang="en-US" sz="900" dirty="0">
                <a:ea typeface="굴림" panose="020B0600000101010101" pitchFamily="50" charset="-127"/>
              </a:rPr>
              <a:t>         ; MPU </a:t>
            </a:r>
            <a:r>
              <a:rPr lang="ko-KR" altLang="en-US" sz="900" dirty="0" err="1">
                <a:ea typeface="굴림" panose="020B0600000101010101" pitchFamily="50" charset="-127"/>
              </a:rPr>
              <a:t>Fault</a:t>
            </a:r>
            <a:r>
              <a:rPr lang="ko-KR" altLang="en-US" sz="900" dirty="0">
                <a:ea typeface="굴림" panose="020B0600000101010101" pitchFamily="50" charset="-127"/>
              </a:rPr>
              <a:t> </a:t>
            </a:r>
            <a:r>
              <a:rPr lang="ko-KR" altLang="en-US" sz="900" dirty="0" err="1">
                <a:ea typeface="굴림" panose="020B0600000101010101" pitchFamily="50" charset="-127"/>
              </a:rPr>
              <a:t>Handler</a:t>
            </a:r>
            <a:endParaRPr lang="ko-KR" altLang="en-US" sz="900" dirty="0">
              <a:ea typeface="굴림" panose="020B0600000101010101" pitchFamily="50" charset="-127"/>
            </a:endParaRPr>
          </a:p>
          <a:p>
            <a:r>
              <a:rPr lang="ko-KR" altLang="en-US" sz="900" dirty="0">
                <a:ea typeface="굴림" panose="020B0600000101010101" pitchFamily="50" charset="-127"/>
              </a:rPr>
              <a:t>                DCD     </a:t>
            </a:r>
            <a:r>
              <a:rPr lang="ko-KR" altLang="en-US" sz="900" dirty="0" err="1">
                <a:ea typeface="굴림" panose="020B0600000101010101" pitchFamily="50" charset="-127"/>
              </a:rPr>
              <a:t>BusFault_Handler</a:t>
            </a:r>
            <a:r>
              <a:rPr lang="ko-KR" altLang="en-US" sz="900" dirty="0">
                <a:ea typeface="굴림" panose="020B0600000101010101" pitchFamily="50" charset="-127"/>
              </a:rPr>
              <a:t>          ; </a:t>
            </a:r>
            <a:r>
              <a:rPr lang="ko-KR" altLang="en-US" sz="900" dirty="0" err="1">
                <a:ea typeface="굴림" panose="020B0600000101010101" pitchFamily="50" charset="-127"/>
              </a:rPr>
              <a:t>Bus</a:t>
            </a:r>
            <a:r>
              <a:rPr lang="ko-KR" altLang="en-US" sz="900" dirty="0">
                <a:ea typeface="굴림" panose="020B0600000101010101" pitchFamily="50" charset="-127"/>
              </a:rPr>
              <a:t> </a:t>
            </a:r>
            <a:r>
              <a:rPr lang="ko-KR" altLang="en-US" sz="900" dirty="0" err="1">
                <a:ea typeface="굴림" panose="020B0600000101010101" pitchFamily="50" charset="-127"/>
              </a:rPr>
              <a:t>Fault</a:t>
            </a:r>
            <a:r>
              <a:rPr lang="ko-KR" altLang="en-US" sz="900" dirty="0">
                <a:ea typeface="굴림" panose="020B0600000101010101" pitchFamily="50" charset="-127"/>
              </a:rPr>
              <a:t> </a:t>
            </a:r>
            <a:r>
              <a:rPr lang="ko-KR" altLang="en-US" sz="900" dirty="0" err="1">
                <a:ea typeface="굴림" panose="020B0600000101010101" pitchFamily="50" charset="-127"/>
              </a:rPr>
              <a:t>Handler</a:t>
            </a:r>
            <a:endParaRPr lang="ko-KR" altLang="en-US" sz="900" dirty="0">
              <a:ea typeface="굴림" panose="020B0600000101010101" pitchFamily="50" charset="-127"/>
            </a:endParaRPr>
          </a:p>
          <a:p>
            <a:r>
              <a:rPr lang="ko-KR" altLang="en-US" sz="900" dirty="0">
                <a:ea typeface="굴림" panose="020B0600000101010101" pitchFamily="50" charset="-127"/>
              </a:rPr>
              <a:t>                DCD     </a:t>
            </a:r>
            <a:r>
              <a:rPr lang="ko-KR" altLang="en-US" sz="900" dirty="0" err="1">
                <a:ea typeface="굴림" panose="020B0600000101010101" pitchFamily="50" charset="-127"/>
              </a:rPr>
              <a:t>UsageFault_Handler</a:t>
            </a:r>
            <a:r>
              <a:rPr lang="ko-KR" altLang="en-US" sz="900" dirty="0">
                <a:ea typeface="굴림" panose="020B0600000101010101" pitchFamily="50" charset="-127"/>
              </a:rPr>
              <a:t>        ; </a:t>
            </a:r>
            <a:r>
              <a:rPr lang="ko-KR" altLang="en-US" sz="900" dirty="0" err="1">
                <a:ea typeface="굴림" panose="020B0600000101010101" pitchFamily="50" charset="-127"/>
              </a:rPr>
              <a:t>Usage</a:t>
            </a:r>
            <a:r>
              <a:rPr lang="ko-KR" altLang="en-US" sz="900" dirty="0">
                <a:ea typeface="굴림" panose="020B0600000101010101" pitchFamily="50" charset="-127"/>
              </a:rPr>
              <a:t> </a:t>
            </a:r>
            <a:r>
              <a:rPr lang="ko-KR" altLang="en-US" sz="900" dirty="0" err="1">
                <a:ea typeface="굴림" panose="020B0600000101010101" pitchFamily="50" charset="-127"/>
              </a:rPr>
              <a:t>Fault</a:t>
            </a:r>
            <a:r>
              <a:rPr lang="ko-KR" altLang="en-US" sz="900" dirty="0">
                <a:ea typeface="굴림" panose="020B0600000101010101" pitchFamily="50" charset="-127"/>
              </a:rPr>
              <a:t> </a:t>
            </a:r>
            <a:r>
              <a:rPr lang="ko-KR" altLang="en-US" sz="900" dirty="0" err="1">
                <a:ea typeface="굴림" panose="020B0600000101010101" pitchFamily="50" charset="-127"/>
              </a:rPr>
              <a:t>Handler</a:t>
            </a:r>
            <a:endParaRPr lang="ko-KR" altLang="en-US" sz="900" dirty="0">
              <a:ea typeface="굴림" panose="020B0600000101010101" pitchFamily="50" charset="-127"/>
            </a:endParaRPr>
          </a:p>
          <a:p>
            <a:r>
              <a:rPr lang="ko-KR" altLang="en-US" sz="900" dirty="0">
                <a:ea typeface="굴림" panose="020B0600000101010101" pitchFamily="50" charset="-127"/>
              </a:rPr>
              <a:t>                DCD     0                         ; </a:t>
            </a:r>
            <a:r>
              <a:rPr lang="ko-KR" altLang="en-US" sz="900" dirty="0" err="1">
                <a:ea typeface="굴림" panose="020B0600000101010101" pitchFamily="50" charset="-127"/>
              </a:rPr>
              <a:t>Reserved</a:t>
            </a:r>
            <a:endParaRPr lang="ko-KR" altLang="en-US" sz="900" dirty="0">
              <a:ea typeface="굴림" panose="020B0600000101010101" pitchFamily="50" charset="-127"/>
            </a:endParaRPr>
          </a:p>
          <a:p>
            <a:r>
              <a:rPr lang="ko-KR" altLang="en-US" sz="900" dirty="0">
                <a:ea typeface="굴림" panose="020B0600000101010101" pitchFamily="50" charset="-127"/>
              </a:rPr>
              <a:t>                DCD     0                         ; </a:t>
            </a:r>
            <a:r>
              <a:rPr lang="ko-KR" altLang="en-US" sz="900" dirty="0" err="1">
                <a:ea typeface="굴림" panose="020B0600000101010101" pitchFamily="50" charset="-127"/>
              </a:rPr>
              <a:t>Reserved</a:t>
            </a:r>
            <a:endParaRPr lang="ko-KR" altLang="en-US" sz="900" dirty="0">
              <a:ea typeface="굴림" panose="020B0600000101010101" pitchFamily="50" charset="-127"/>
            </a:endParaRPr>
          </a:p>
          <a:p>
            <a:r>
              <a:rPr lang="ko-KR" altLang="en-US" sz="900" dirty="0">
                <a:ea typeface="굴림" panose="020B0600000101010101" pitchFamily="50" charset="-127"/>
              </a:rPr>
              <a:t>                DCD     0                         ; </a:t>
            </a:r>
            <a:r>
              <a:rPr lang="ko-KR" altLang="en-US" sz="900" dirty="0" err="1">
                <a:ea typeface="굴림" panose="020B0600000101010101" pitchFamily="50" charset="-127"/>
              </a:rPr>
              <a:t>Reserved</a:t>
            </a:r>
            <a:endParaRPr lang="ko-KR" altLang="en-US" sz="900" dirty="0">
              <a:ea typeface="굴림" panose="020B0600000101010101" pitchFamily="50" charset="-127"/>
            </a:endParaRPr>
          </a:p>
          <a:p>
            <a:r>
              <a:rPr lang="ko-KR" altLang="en-US" sz="900" dirty="0">
                <a:ea typeface="굴림" panose="020B0600000101010101" pitchFamily="50" charset="-127"/>
              </a:rPr>
              <a:t>                DCD     0                         ; </a:t>
            </a:r>
            <a:r>
              <a:rPr lang="ko-KR" altLang="en-US" sz="900" dirty="0" err="1">
                <a:ea typeface="굴림" panose="020B0600000101010101" pitchFamily="50" charset="-127"/>
              </a:rPr>
              <a:t>Reserved</a:t>
            </a:r>
            <a:endParaRPr lang="ko-KR" altLang="en-US" sz="900" dirty="0">
              <a:ea typeface="굴림" panose="020B0600000101010101" pitchFamily="50" charset="-127"/>
            </a:endParaRPr>
          </a:p>
          <a:p>
            <a:r>
              <a:rPr lang="ko-KR" altLang="en-US" sz="900" dirty="0">
                <a:ea typeface="굴림" panose="020B0600000101010101" pitchFamily="50" charset="-127"/>
              </a:rPr>
              <a:t>                DCD     </a:t>
            </a:r>
            <a:r>
              <a:rPr lang="ko-KR" altLang="en-US" sz="900" dirty="0" err="1">
                <a:ea typeface="굴림" panose="020B0600000101010101" pitchFamily="50" charset="-127"/>
              </a:rPr>
              <a:t>SVC_Handler</a:t>
            </a:r>
            <a:r>
              <a:rPr lang="ko-KR" altLang="en-US" sz="900" dirty="0">
                <a:ea typeface="굴림" panose="020B0600000101010101" pitchFamily="50" charset="-127"/>
              </a:rPr>
              <a:t>               ; </a:t>
            </a:r>
            <a:r>
              <a:rPr lang="ko-KR" altLang="en-US" sz="900" dirty="0" err="1">
                <a:ea typeface="굴림" panose="020B0600000101010101" pitchFamily="50" charset="-127"/>
              </a:rPr>
              <a:t>SVCall</a:t>
            </a:r>
            <a:r>
              <a:rPr lang="ko-KR" altLang="en-US" sz="900" dirty="0">
                <a:ea typeface="굴림" panose="020B0600000101010101" pitchFamily="50" charset="-127"/>
              </a:rPr>
              <a:t> </a:t>
            </a:r>
            <a:r>
              <a:rPr lang="ko-KR" altLang="en-US" sz="900" dirty="0" err="1">
                <a:ea typeface="굴림" panose="020B0600000101010101" pitchFamily="50" charset="-127"/>
              </a:rPr>
              <a:t>Handler</a:t>
            </a:r>
            <a:endParaRPr lang="ko-KR" altLang="en-US" sz="900" dirty="0">
              <a:ea typeface="굴림" panose="020B0600000101010101" pitchFamily="50" charset="-127"/>
            </a:endParaRPr>
          </a:p>
          <a:p>
            <a:r>
              <a:rPr lang="ko-KR" altLang="en-US" sz="900" dirty="0">
                <a:ea typeface="굴림" panose="020B0600000101010101" pitchFamily="50" charset="-127"/>
              </a:rPr>
              <a:t>                DCD     </a:t>
            </a:r>
            <a:r>
              <a:rPr lang="ko-KR" altLang="en-US" sz="900" dirty="0" err="1">
                <a:ea typeface="굴림" panose="020B0600000101010101" pitchFamily="50" charset="-127"/>
              </a:rPr>
              <a:t>DebugMon_Handler</a:t>
            </a:r>
            <a:r>
              <a:rPr lang="ko-KR" altLang="en-US" sz="900" dirty="0">
                <a:ea typeface="굴림" panose="020B0600000101010101" pitchFamily="50" charset="-127"/>
              </a:rPr>
              <a:t>          ; </a:t>
            </a:r>
            <a:r>
              <a:rPr lang="ko-KR" altLang="en-US" sz="900" dirty="0" err="1">
                <a:ea typeface="굴림" panose="020B0600000101010101" pitchFamily="50" charset="-127"/>
              </a:rPr>
              <a:t>Debug</a:t>
            </a:r>
            <a:r>
              <a:rPr lang="ko-KR" altLang="en-US" sz="900" dirty="0">
                <a:ea typeface="굴림" panose="020B0600000101010101" pitchFamily="50" charset="-127"/>
              </a:rPr>
              <a:t> </a:t>
            </a:r>
            <a:r>
              <a:rPr lang="ko-KR" altLang="en-US" sz="900" dirty="0" err="1">
                <a:ea typeface="굴림" panose="020B0600000101010101" pitchFamily="50" charset="-127"/>
              </a:rPr>
              <a:t>Monitor</a:t>
            </a:r>
            <a:r>
              <a:rPr lang="ko-KR" altLang="en-US" sz="900" dirty="0">
                <a:ea typeface="굴림" panose="020B0600000101010101" pitchFamily="50" charset="-127"/>
              </a:rPr>
              <a:t> </a:t>
            </a:r>
            <a:r>
              <a:rPr lang="ko-KR" altLang="en-US" sz="900" dirty="0" err="1">
                <a:ea typeface="굴림" panose="020B0600000101010101" pitchFamily="50" charset="-127"/>
              </a:rPr>
              <a:t>Handler</a:t>
            </a:r>
            <a:endParaRPr lang="ko-KR" altLang="en-US" sz="900" dirty="0">
              <a:ea typeface="굴림" panose="020B0600000101010101" pitchFamily="50" charset="-127"/>
            </a:endParaRPr>
          </a:p>
          <a:p>
            <a:r>
              <a:rPr lang="ko-KR" altLang="en-US" sz="900" dirty="0">
                <a:ea typeface="굴림" panose="020B0600000101010101" pitchFamily="50" charset="-127"/>
              </a:rPr>
              <a:t>                DCD     0                         ; </a:t>
            </a:r>
            <a:r>
              <a:rPr lang="ko-KR" altLang="en-US" sz="900" dirty="0" err="1">
                <a:ea typeface="굴림" panose="020B0600000101010101" pitchFamily="50" charset="-127"/>
              </a:rPr>
              <a:t>Reserved</a:t>
            </a:r>
            <a:endParaRPr lang="ko-KR" altLang="en-US" sz="900" dirty="0">
              <a:ea typeface="굴림" panose="020B0600000101010101" pitchFamily="50" charset="-127"/>
            </a:endParaRPr>
          </a:p>
          <a:p>
            <a:r>
              <a:rPr lang="ko-KR" altLang="en-US" sz="900" dirty="0">
                <a:ea typeface="굴림" panose="020B0600000101010101" pitchFamily="50" charset="-127"/>
              </a:rPr>
              <a:t>                DCD     </a:t>
            </a:r>
            <a:r>
              <a:rPr lang="ko-KR" altLang="en-US" sz="900" dirty="0" err="1">
                <a:ea typeface="굴림" panose="020B0600000101010101" pitchFamily="50" charset="-127"/>
              </a:rPr>
              <a:t>PendSV_Handler</a:t>
            </a:r>
            <a:r>
              <a:rPr lang="ko-KR" altLang="en-US" sz="900" dirty="0">
                <a:ea typeface="굴림" panose="020B0600000101010101" pitchFamily="50" charset="-127"/>
              </a:rPr>
              <a:t>            ; </a:t>
            </a:r>
            <a:r>
              <a:rPr lang="ko-KR" altLang="en-US" sz="900" dirty="0" err="1">
                <a:ea typeface="굴림" panose="020B0600000101010101" pitchFamily="50" charset="-127"/>
              </a:rPr>
              <a:t>PendSV</a:t>
            </a:r>
            <a:r>
              <a:rPr lang="ko-KR" altLang="en-US" sz="900" dirty="0">
                <a:ea typeface="굴림" panose="020B0600000101010101" pitchFamily="50" charset="-127"/>
              </a:rPr>
              <a:t> </a:t>
            </a:r>
            <a:r>
              <a:rPr lang="ko-KR" altLang="en-US" sz="900" dirty="0" err="1">
                <a:ea typeface="굴림" panose="020B0600000101010101" pitchFamily="50" charset="-127"/>
              </a:rPr>
              <a:t>Handler</a:t>
            </a:r>
            <a:endParaRPr lang="ko-KR" altLang="en-US" sz="900" dirty="0">
              <a:ea typeface="굴림" panose="020B0600000101010101" pitchFamily="50" charset="-127"/>
            </a:endParaRPr>
          </a:p>
          <a:p>
            <a:r>
              <a:rPr lang="ko-KR" altLang="en-US" sz="900" dirty="0">
                <a:ea typeface="굴림" panose="020B0600000101010101" pitchFamily="50" charset="-127"/>
              </a:rPr>
              <a:t>                DCD     </a:t>
            </a:r>
            <a:r>
              <a:rPr lang="ko-KR" altLang="en-US" sz="900" dirty="0" err="1">
                <a:ea typeface="굴림" panose="020B0600000101010101" pitchFamily="50" charset="-127"/>
              </a:rPr>
              <a:t>SysTick_Handler</a:t>
            </a:r>
            <a:r>
              <a:rPr lang="ko-KR" altLang="en-US" sz="900" dirty="0">
                <a:ea typeface="굴림" panose="020B0600000101010101" pitchFamily="50" charset="-127"/>
              </a:rPr>
              <a:t>           ; </a:t>
            </a:r>
            <a:r>
              <a:rPr lang="ko-KR" altLang="en-US" sz="900" dirty="0" err="1">
                <a:ea typeface="굴림" panose="020B0600000101010101" pitchFamily="50" charset="-127"/>
              </a:rPr>
              <a:t>SysTick</a:t>
            </a:r>
            <a:r>
              <a:rPr lang="ko-KR" altLang="en-US" sz="900" dirty="0">
                <a:ea typeface="굴림" panose="020B0600000101010101" pitchFamily="50" charset="-127"/>
              </a:rPr>
              <a:t> </a:t>
            </a:r>
            <a:r>
              <a:rPr lang="ko-KR" altLang="en-US" sz="900" dirty="0" err="1">
                <a:ea typeface="굴림" panose="020B0600000101010101" pitchFamily="50" charset="-127"/>
              </a:rPr>
              <a:t>Handler</a:t>
            </a:r>
            <a:endParaRPr lang="ko-KR" altLang="en-US" sz="900" dirty="0">
              <a:ea typeface="굴림" panose="020B0600000101010101" pitchFamily="50" charset="-127"/>
            </a:endParaRPr>
          </a:p>
          <a:p>
            <a:endParaRPr lang="ko-KR" altLang="en-US" sz="900" dirty="0">
              <a:ea typeface="굴림" panose="020B0600000101010101" pitchFamily="50" charset="-127"/>
            </a:endParaRPr>
          </a:p>
          <a:p>
            <a:r>
              <a:rPr lang="ko-KR" altLang="en-US" sz="900" dirty="0">
                <a:ea typeface="굴림" panose="020B0600000101010101" pitchFamily="50" charset="-127"/>
              </a:rPr>
              <a:t>                ; </a:t>
            </a:r>
            <a:r>
              <a:rPr lang="ko-KR" altLang="en-US" sz="900" dirty="0" err="1">
                <a:ea typeface="굴림" panose="020B0600000101010101" pitchFamily="50" charset="-127"/>
              </a:rPr>
              <a:t>External</a:t>
            </a:r>
            <a:r>
              <a:rPr lang="ko-KR" altLang="en-US" sz="900" dirty="0">
                <a:ea typeface="굴림" panose="020B0600000101010101" pitchFamily="50" charset="-127"/>
              </a:rPr>
              <a:t> </a:t>
            </a:r>
            <a:r>
              <a:rPr lang="ko-KR" altLang="en-US" sz="900" dirty="0" err="1">
                <a:ea typeface="굴림" panose="020B0600000101010101" pitchFamily="50" charset="-127"/>
              </a:rPr>
              <a:t>Interrupts</a:t>
            </a:r>
            <a:endParaRPr lang="ko-KR" altLang="en-US" sz="900" dirty="0">
              <a:ea typeface="굴림" panose="020B0600000101010101" pitchFamily="50" charset="-127"/>
            </a:endParaRPr>
          </a:p>
          <a:p>
            <a:r>
              <a:rPr lang="ko-KR" altLang="en-US" sz="900" dirty="0">
                <a:ea typeface="굴림" panose="020B0600000101010101" pitchFamily="50" charset="-127"/>
              </a:rPr>
              <a:t>                DCD     </a:t>
            </a:r>
            <a:r>
              <a:rPr lang="ko-KR" altLang="en-US" sz="900" dirty="0" err="1">
                <a:ea typeface="굴림" panose="020B0600000101010101" pitchFamily="50" charset="-127"/>
              </a:rPr>
              <a:t>WDT_IRQHandler</a:t>
            </a:r>
            <a:r>
              <a:rPr lang="ko-KR" altLang="en-US" sz="900" dirty="0">
                <a:ea typeface="굴림" panose="020B0600000101010101" pitchFamily="50" charset="-127"/>
              </a:rPr>
              <a:t>            ; 16: </a:t>
            </a:r>
            <a:r>
              <a:rPr lang="ko-KR" altLang="en-US" sz="900" dirty="0" err="1">
                <a:ea typeface="굴림" panose="020B0600000101010101" pitchFamily="50" charset="-127"/>
              </a:rPr>
              <a:t>Watchdog</a:t>
            </a:r>
            <a:r>
              <a:rPr lang="ko-KR" altLang="en-US" sz="900" dirty="0">
                <a:ea typeface="굴림" panose="020B0600000101010101" pitchFamily="50" charset="-127"/>
              </a:rPr>
              <a:t> </a:t>
            </a:r>
            <a:r>
              <a:rPr lang="ko-KR" altLang="en-US" sz="900" dirty="0" err="1">
                <a:ea typeface="굴림" panose="020B0600000101010101" pitchFamily="50" charset="-127"/>
              </a:rPr>
              <a:t>Timer</a:t>
            </a:r>
            <a:endParaRPr lang="ko-KR" altLang="en-US" sz="900" dirty="0">
              <a:ea typeface="굴림" panose="020B0600000101010101" pitchFamily="50" charset="-127"/>
            </a:endParaRPr>
          </a:p>
          <a:p>
            <a:r>
              <a:rPr lang="ko-KR" altLang="en-US" sz="900" dirty="0">
                <a:ea typeface="굴림" panose="020B0600000101010101" pitchFamily="50" charset="-127"/>
              </a:rPr>
              <a:t>                DCD     TIMER0_IRQHandler         ; 17: Timer0</a:t>
            </a:r>
          </a:p>
          <a:p>
            <a:r>
              <a:rPr lang="ko-KR" altLang="en-US" sz="900" dirty="0">
                <a:ea typeface="굴림" panose="020B0600000101010101" pitchFamily="50" charset="-127"/>
              </a:rPr>
              <a:t>                DCD     TIMER1_IRQHandler         ; 18: Timer1</a:t>
            </a:r>
          </a:p>
          <a:p>
            <a:r>
              <a:rPr lang="ko-KR" altLang="en-US" sz="900" dirty="0">
                <a:ea typeface="굴림" panose="020B0600000101010101" pitchFamily="50" charset="-127"/>
              </a:rPr>
              <a:t>                DCD     TIMER2_IRQHandler         ; 19: Timer2</a:t>
            </a:r>
          </a:p>
          <a:p>
            <a:r>
              <a:rPr lang="ko-KR" altLang="en-US" sz="900" dirty="0">
                <a:ea typeface="굴림" panose="020B0600000101010101" pitchFamily="50" charset="-127"/>
              </a:rPr>
              <a:t>                DCD     TIMER3_IRQHandler         ; 20: Timer3</a:t>
            </a:r>
          </a:p>
          <a:p>
            <a:r>
              <a:rPr lang="ko-KR" altLang="en-US" sz="900" dirty="0">
                <a:ea typeface="굴림" panose="020B0600000101010101" pitchFamily="50" charset="-127"/>
              </a:rPr>
              <a:t>                DCD     UART0_IRQHandler          ; 21: UART0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E2BC08-9AA9-A0EC-F2D2-AE69C7BD2074}"/>
              </a:ext>
            </a:extLst>
          </p:cNvPr>
          <p:cNvSpPr txBox="1"/>
          <p:nvPr/>
        </p:nvSpPr>
        <p:spPr>
          <a:xfrm>
            <a:off x="1178943" y="229431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ea typeface="굴림" panose="020B0600000101010101" pitchFamily="50" charset="-127"/>
              </a:rPr>
              <a:t>ARM FW </a:t>
            </a:r>
            <a:r>
              <a:rPr lang="en-US" altLang="ko-KR" sz="1800" dirty="0" err="1">
                <a:ea typeface="굴림" panose="020B0600000101010101" pitchFamily="50" charset="-127"/>
              </a:rPr>
              <a:t>startup.s</a:t>
            </a:r>
            <a:r>
              <a:rPr lang="en-US" altLang="ko-KR" sz="1800" dirty="0">
                <a:ea typeface="굴림" panose="020B0600000101010101" pitchFamily="50" charset="-127"/>
              </a:rPr>
              <a:t> </a:t>
            </a:r>
            <a:r>
              <a:rPr lang="ko-KR" altLang="en-US" sz="1800" dirty="0">
                <a:ea typeface="굴림" panose="020B0600000101010101" pitchFamily="50" charset="-127"/>
              </a:rPr>
              <a:t>파일 일부</a:t>
            </a:r>
            <a:endParaRPr lang="en-US" altLang="ko-KR" sz="1800" dirty="0">
              <a:ea typeface="굴림" panose="020B0600000101010101" pitchFamily="50" charset="-127"/>
            </a:endParaRPr>
          </a:p>
          <a:p>
            <a:endParaRPr lang="en-US" altLang="ko-KR" sz="1800" dirty="0">
              <a:ea typeface="굴림" panose="020B0600000101010101" pitchFamily="50" charset="-127"/>
            </a:endParaRPr>
          </a:p>
          <a:p>
            <a:endParaRPr lang="en-US" altLang="ko-KR" sz="1800" dirty="0">
              <a:ea typeface="굴림" panose="020B0600000101010101" pitchFamily="50" charset="-127"/>
            </a:endParaRPr>
          </a:p>
          <a:p>
            <a:endParaRPr lang="en-US" altLang="ko-KR" sz="1800" dirty="0">
              <a:ea typeface="굴림" panose="020B0600000101010101" pitchFamily="50" charset="-127"/>
            </a:endParaRPr>
          </a:p>
          <a:p>
            <a:endParaRPr lang="en-US" altLang="ko-KR" sz="1800" dirty="0">
              <a:ea typeface="굴림" panose="020B0600000101010101" pitchFamily="50" charset="-127"/>
            </a:endParaRPr>
          </a:p>
          <a:p>
            <a:endParaRPr lang="en-US" altLang="ko-KR" sz="1800" dirty="0">
              <a:ea typeface="굴림" panose="020B0600000101010101" pitchFamily="50" charset="-127"/>
            </a:endParaRPr>
          </a:p>
          <a:p>
            <a:endParaRPr lang="en-US" altLang="ko-KR" sz="1800" dirty="0">
              <a:ea typeface="굴림" panose="020B0600000101010101" pitchFamily="50" charset="-127"/>
            </a:endParaRPr>
          </a:p>
          <a:p>
            <a:endParaRPr lang="en-US" altLang="ko-KR" sz="1800" dirty="0">
              <a:ea typeface="굴림" panose="020B0600000101010101" pitchFamily="50" charset="-127"/>
            </a:endParaRPr>
          </a:p>
          <a:p>
            <a:endParaRPr lang="en-US" altLang="ko-KR" sz="1800" dirty="0">
              <a:ea typeface="굴림" panose="020B0600000101010101" pitchFamily="50" charset="-127"/>
            </a:endParaRPr>
          </a:p>
          <a:p>
            <a:endParaRPr lang="en-US" altLang="ko-KR" sz="1800" dirty="0">
              <a:ea typeface="굴림" panose="020B0600000101010101" pitchFamily="50" charset="-127"/>
            </a:endParaRPr>
          </a:p>
          <a:p>
            <a:endParaRPr lang="en-US" altLang="ko-KR" sz="1800" dirty="0">
              <a:ea typeface="굴림" panose="020B0600000101010101" pitchFamily="50" charset="-127"/>
            </a:endParaRPr>
          </a:p>
          <a:p>
            <a:endParaRPr lang="en-US" altLang="ko-KR" sz="1800" dirty="0">
              <a:ea typeface="굴림" panose="020B0600000101010101" pitchFamily="50" charset="-127"/>
            </a:endParaRPr>
          </a:p>
          <a:p>
            <a:endParaRPr lang="en-US" altLang="ko-KR" sz="1800" dirty="0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1207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1547</Words>
  <Application>Microsoft Office PowerPoint</Application>
  <PresentationFormat>와이드스크린</PresentationFormat>
  <Paragraphs>246</Paragraphs>
  <Slides>62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62</vt:i4>
      </vt:variant>
    </vt:vector>
  </HeadingPairs>
  <TitlesOfParts>
    <vt:vector size="70" baseType="lpstr">
      <vt:lpstr>굴림</vt:lpstr>
      <vt:lpstr>Arial</vt:lpstr>
      <vt:lpstr>Calibri</vt:lpstr>
      <vt:lpstr>Cambria Math</vt:lpstr>
      <vt:lpstr>Courier New</vt:lpstr>
      <vt:lpstr>Trebuchet MS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Min Choi</dc:creator>
  <cp:keywords/>
  <dc:description>generated using python-pptx</dc:description>
  <cp:lastModifiedBy>Min Choi</cp:lastModifiedBy>
  <cp:revision>36</cp:revision>
  <dcterms:created xsi:type="dcterms:W3CDTF">2013-01-27T09:14:16Z</dcterms:created>
  <dcterms:modified xsi:type="dcterms:W3CDTF">2026-09-08T04:17:59Z</dcterms:modified>
  <cp:category/>
</cp:coreProperties>
</file>