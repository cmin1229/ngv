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9FB7"/>
                </a:solidFill>
              </a:defRPr>
            </a:pPr>
            <a:r>
              <a:t>STM32 ARM 임베디드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ADC1_IN0 아날로그 입력</a:t>
            </a:r>
            <a:br/>
            <a:r>
              <a:t>Interrupt 변환 예제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834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DDCEB"/>
                </a:solidFill>
              </a:defRPr>
            </a:pPr>
            <a:r>
              <a:t>STM32G0B1RE · PA0 / ADC Channel 0 · Regular Conversion · Interrupt Callback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60520"/>
            <a:ext cx="2103120" cy="914400"/>
          </a:xfrm>
          <a:prstGeom prst="roundRect">
            <a:avLst/>
          </a:prstGeom>
          <a:solidFill>
            <a:srgbClr val="234366"/>
          </a:solidFill>
          <a:ln w="17780">
            <a:solidFill>
              <a:srgbClr val="2B9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CDS Sensor</a:t>
            </a:r>
            <a:br/>
            <a:r>
              <a:t>Analog Voltage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4160520"/>
            <a:ext cx="2103120" cy="914400"/>
          </a:xfrm>
          <a:prstGeom prst="roundRect">
            <a:avLst/>
          </a:prstGeom>
          <a:solidFill>
            <a:srgbClr val="1C5678"/>
          </a:solidFill>
          <a:ln w="17780">
            <a:solidFill>
              <a:srgbClr val="2B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PA0</a:t>
            </a:r>
            <a:br/>
            <a:r>
              <a:t>ADC1_IN0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160520"/>
            <a:ext cx="2103120" cy="914400"/>
          </a:xfrm>
          <a:prstGeom prst="roundRect">
            <a:avLst/>
          </a:prstGeom>
          <a:solidFill>
            <a:srgbClr val="1C686A"/>
          </a:solidFill>
          <a:ln w="17780">
            <a:solidFill>
              <a:srgbClr val="2B9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ADC1</a:t>
            </a:r>
            <a:br/>
            <a:r>
              <a:t>12-bit Convert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4160520"/>
            <a:ext cx="1737360" cy="914400"/>
          </a:xfrm>
          <a:prstGeom prst="roundRect">
            <a:avLst/>
          </a:prstGeom>
          <a:solidFill>
            <a:srgbClr val="1F694E"/>
          </a:solidFill>
          <a:ln w="1778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Callback</a:t>
            </a:r>
            <a:br/>
            <a:r>
              <a:t>Value Read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4617720"/>
            <a:ext cx="914400" cy="0"/>
          </a:xfrm>
          <a:prstGeom prst="line">
            <a:avLst/>
          </a:prstGeom>
          <a:ln w="38100">
            <a:solidFill>
              <a:srgbClr val="2B9F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943600" y="4617720"/>
            <a:ext cx="914400" cy="0"/>
          </a:xfrm>
          <a:prstGeom prst="line">
            <a:avLst/>
          </a:prstGeom>
          <a:ln w="38100">
            <a:solidFill>
              <a:srgbClr val="2B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961120" y="4617720"/>
            <a:ext cx="914400" cy="0"/>
          </a:xfrm>
          <a:prstGeom prst="line">
            <a:avLst/>
          </a:prstGeom>
          <a:ln w="38100">
            <a:solidFill>
              <a:srgbClr val="32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58978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ADC 구조 · 샘플링/변환 · Polling vs Interrupt · Flow Chart · 주요 HAL 함수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9FB7"/>
                </a:solidFill>
              </a:defRPr>
            </a:pPr>
            <a:r>
              <a:t>01 ·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D4E"/>
                </a:solidFill>
              </a:defRPr>
            </a:pPr>
            <a:r>
              <a:t>학습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E78"/>
                </a:solidFill>
              </a:defRPr>
            </a:pPr>
            <a:r>
              <a:t>ADC를 인터럽트 방식으로 사용하는 전체 구조와 코드를 이해합니다.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B34"/>
                </a:solidFill>
              </a:defRPr>
            </a:pPr>
            <a:r>
              <a:t>ADC가 아날로그 전압을 디지털 값으로 변환하는 기본 원리를 설명할 수 있다.</a:t>
            </a:r>
          </a:p>
          <a:p>
            <a:pPr>
              <a:spcAft>
                <a:spcPts val="700"/>
              </a:spcAft>
              <a:defRPr sz="1800">
                <a:solidFill>
                  <a:srgbClr val="232B34"/>
                </a:solidFill>
              </a:defRPr>
            </a:pPr>
            <a:r>
              <a:t>ADC1_IN0, PA0, CDS 조도센서 입력의 관계를 코드 구조와 연결해 설명할 수 있다.</a:t>
            </a:r>
          </a:p>
          <a:p>
            <a:pPr>
              <a:spcAft>
                <a:spcPts val="700"/>
              </a:spcAft>
              <a:defRPr sz="1800">
                <a:solidFill>
                  <a:srgbClr val="232B34"/>
                </a:solidFill>
              </a:defRPr>
            </a:pPr>
            <a:r>
              <a:t>Polling 방식과 Interrupt 방식의 차이를 ADC 변환 완료 처리 관점에서 비교할 수 있다.</a:t>
            </a:r>
          </a:p>
          <a:p>
            <a:pPr>
              <a:spcAft>
                <a:spcPts val="700"/>
              </a:spcAft>
              <a:defRPr sz="1800">
                <a:solidFill>
                  <a:srgbClr val="232B34"/>
                </a:solidFill>
              </a:defRPr>
            </a:pPr>
            <a:r>
              <a:t>HAL_ADC_Init(), HAL_ADC_ConfigChannel(), HAL_ADC_Start_IT()의 역할을 구분할 수 있다.</a:t>
            </a:r>
          </a:p>
          <a:p>
            <a:pPr>
              <a:spcAft>
                <a:spcPts val="700"/>
              </a:spcAft>
              <a:defRPr sz="1800">
                <a:solidFill>
                  <a:srgbClr val="232B34"/>
                </a:solidFill>
              </a:defRPr>
            </a:pPr>
            <a:r>
              <a:t>ADC 변환 완료 interrupt → HAL_ADC_IRQHandler() → HAL_ADC_ConvCpltCallback() 흐름을 설명할 수 있다.</a:t>
            </a:r>
          </a:p>
          <a:p>
            <a:pPr>
              <a:spcAft>
                <a:spcPts val="700"/>
              </a:spcAft>
              <a:defRPr sz="1800">
                <a:solidFill>
                  <a:srgbClr val="232B34"/>
                </a:solidFill>
              </a:defRPr>
            </a:pPr>
            <a:r>
              <a:t>12-bit ADC 결과값을 전압 또는 센서 값으로 해석하는 기본 계산식을 적용할 수 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715000"/>
            <a:ext cx="10698480" cy="502920"/>
          </a:xfrm>
          <a:prstGeom prst="roundRect">
            <a:avLst/>
          </a:prstGeom>
          <a:solidFill>
            <a:srgbClr val="EBF6FA"/>
          </a:solidFill>
          <a:ln w="17780">
            <a:solidFill>
              <a:srgbClr val="2B9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B34"/>
                </a:solidFill>
              </a:defRPr>
            </a:pPr>
            <a:r>
              <a:t>핵심 질문: “ADC 변환이 끝났다는 사실을 CPU가 계속 확인할 것인가, 아니면 인터럽트로 통지받을 것인가?”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9FB7"/>
                </a:solidFill>
              </a:defRPr>
            </a:pPr>
            <a:r>
              <a:t>02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D4E"/>
                </a:solidFill>
              </a:defRPr>
            </a:pPr>
            <a:r>
              <a:t>예제의 전반적인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E78"/>
                </a:solidFill>
              </a:defRPr>
            </a:pPr>
            <a:r>
              <a:t>CDS 센서의 아날로그 전압을 PA0에서 ADC1_IN0로 입력받고, 변환 완료 시 interrupt callback에서 값을 읽습니다.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920240" cy="1051560"/>
          </a:xfrm>
          <a:prstGeom prst="roundRect">
            <a:avLst/>
          </a:prstGeom>
          <a:solidFill>
            <a:srgbClr val="F1F7FA"/>
          </a:solidFill>
          <a:ln w="17780">
            <a:solidFill>
              <a:srgbClr val="2B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B34"/>
                </a:solidFill>
              </a:defRPr>
            </a:pPr>
            <a:r>
              <a:t>CDS 조도센서</a:t>
            </a:r>
            <a:br/>
            <a:r>
              <a:t>빛 → 전압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23160" y="2350008"/>
            <a:ext cx="365760" cy="0"/>
          </a:xfrm>
          <a:prstGeom prst="line">
            <a:avLst/>
          </a:prstGeom>
          <a:ln w="25400">
            <a:solidFill>
              <a:srgbClr val="2B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88920" y="1828800"/>
            <a:ext cx="1920240" cy="1051560"/>
          </a:xfrm>
          <a:prstGeom prst="roundRect">
            <a:avLst/>
          </a:prstGeom>
          <a:solidFill>
            <a:srgbClr val="F1F7FA"/>
          </a:solidFill>
          <a:ln w="17780">
            <a:solidFill>
              <a:srgbClr val="2B9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B34"/>
                </a:solidFill>
              </a:defRPr>
            </a:pPr>
            <a:r>
              <a:t>PA0 Pin</a:t>
            </a:r>
            <a:br/>
            <a:r>
              <a:t>Analog Input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09160" y="2350008"/>
            <a:ext cx="365760" cy="0"/>
          </a:xfrm>
          <a:prstGeom prst="line">
            <a:avLst/>
          </a:prstGeom>
          <a:ln w="25400">
            <a:solidFill>
              <a:srgbClr val="2B9F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74920" y="1828800"/>
            <a:ext cx="1920240" cy="1051560"/>
          </a:xfrm>
          <a:prstGeom prst="roundRect">
            <a:avLst/>
          </a:prstGeom>
          <a:solidFill>
            <a:srgbClr val="F1F7FA"/>
          </a:solidFill>
          <a:ln w="17780">
            <a:solidFill>
              <a:srgbClr val="705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B34"/>
                </a:solidFill>
              </a:defRPr>
            </a:pPr>
            <a:r>
              <a:t>ADC1_IN0</a:t>
            </a:r>
            <a:br/>
            <a:r>
              <a:t>Channel 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95160" y="2350008"/>
            <a:ext cx="365760" cy="0"/>
          </a:xfrm>
          <a:prstGeom prst="line">
            <a:avLst/>
          </a:prstGeom>
          <a:ln w="25400">
            <a:solidFill>
              <a:srgbClr val="705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60920" y="1828800"/>
            <a:ext cx="1920240" cy="1051560"/>
          </a:xfrm>
          <a:prstGeom prst="roundRect">
            <a:avLst/>
          </a:prstGeom>
          <a:solidFill>
            <a:srgbClr val="F1F7FA"/>
          </a:solidFill>
          <a:ln w="1778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B34"/>
                </a:solidFill>
              </a:defRPr>
            </a:pPr>
            <a:r>
              <a:t>ADC1</a:t>
            </a:r>
            <a:br/>
            <a:r>
              <a:t>Regular Conversion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81160" y="2350008"/>
            <a:ext cx="365760" cy="0"/>
          </a:xfrm>
          <a:prstGeom prst="line">
            <a:avLst/>
          </a:prstGeom>
          <a:ln w="25400">
            <a:solidFill>
              <a:srgbClr val="32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46920" y="1828800"/>
            <a:ext cx="1920240" cy="1051560"/>
          </a:xfrm>
          <a:prstGeom prst="roundRect">
            <a:avLst/>
          </a:prstGeom>
          <a:solidFill>
            <a:srgbClr val="F1F7FA"/>
          </a:solidFill>
          <a:ln w="1778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B34"/>
                </a:solidFill>
              </a:defRPr>
            </a:pPr>
            <a:r>
              <a:t>Callback</a:t>
            </a:r>
            <a:br/>
            <a:r>
              <a:t>uwADCxConvertedValue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886200"/>
            <a:ext cx="2560320" cy="777240"/>
          </a:xfrm>
          <a:prstGeom prst="roundRect">
            <a:avLst/>
          </a:prstGeom>
          <a:solidFill>
            <a:srgbClr val="EBF2FB"/>
          </a:solidFill>
          <a:ln w="17780">
            <a:solidFill>
              <a:srgbClr val="2B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32B34"/>
                </a:solidFill>
              </a:defRPr>
            </a:pPr>
            <a:r>
              <a:t>main()</a:t>
            </a:r>
            <a:br/>
            <a:r>
              <a:t>ADC Start_IT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3886200"/>
            <a:ext cx="2560320" cy="777240"/>
          </a:xfrm>
          <a:prstGeom prst="roundRect">
            <a:avLst/>
          </a:prstGeom>
          <a:solidFill>
            <a:srgbClr val="E7F7F9"/>
          </a:solidFill>
          <a:ln w="17780">
            <a:solidFill>
              <a:srgbClr val="2B9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32B34"/>
                </a:solidFill>
              </a:defRPr>
            </a:pPr>
            <a:r>
              <a:t>ADC IRQ</a:t>
            </a:r>
            <a:br/>
            <a:r>
              <a:t>변환 완료 통지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3886200"/>
            <a:ext cx="2560320" cy="777240"/>
          </a:xfrm>
          <a:prstGeom prst="roundRect">
            <a:avLst/>
          </a:prstGeom>
          <a:solidFill>
            <a:srgbClr val="EBF8F1"/>
          </a:solidFill>
          <a:ln w="1778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32B34"/>
                </a:solidFill>
              </a:defRPr>
            </a:pPr>
            <a:r>
              <a:t>사용자 처리</a:t>
            </a:r>
            <a:br/>
            <a:r>
              <a:t>값 저장/활용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66160" y="4279392"/>
            <a:ext cx="1188720" cy="0"/>
          </a:xfrm>
          <a:prstGeom prst="line">
            <a:avLst/>
          </a:prstGeom>
          <a:ln w="25400">
            <a:solidFill>
              <a:srgbClr val="2B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15200" y="4279392"/>
            <a:ext cx="1188720" cy="0"/>
          </a:xfrm>
          <a:prstGeom prst="line">
            <a:avLst/>
          </a:prstGeom>
          <a:ln w="25400">
            <a:solidFill>
              <a:srgbClr val="32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" y="53949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22D4E"/>
                </a:solidFill>
              </a:defRPr>
            </a:pPr>
            <a:r>
              <a:t>이 구조의 핵심은 main loop가 변환 완료를 기다리며 blocking되지 않고, ADC 하드웨어가 완료 이벤트를 interrupt로 CPU에 알려준다는 점입니다.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9FB7"/>
                </a:solidFill>
              </a:defRPr>
            </a:pPr>
            <a:r>
              <a:t>03 · ADC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D4E"/>
                </a:solidFill>
              </a:defRPr>
            </a:pPr>
            <a:r>
              <a:t>ADC 기본 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E78"/>
                </a:solidFill>
              </a:defRPr>
            </a:pPr>
            <a:r>
              <a:t>Analog-to-Digital Converter는 연속적인 전압을 일정 해상도의 숫자로 변환합니다.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2834640" cy="960120"/>
          </a:xfrm>
          <a:prstGeom prst="roundRect">
            <a:avLst/>
          </a:prstGeom>
          <a:solidFill>
            <a:srgbClr val="EBF2FB"/>
          </a:solidFill>
          <a:ln w="17780">
            <a:solidFill>
              <a:srgbClr val="2B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B34"/>
                </a:solidFill>
              </a:defRPr>
            </a:pPr>
            <a:r>
              <a:t>Analog Input</a:t>
            </a:r>
            <a:br/>
            <a:r>
              <a:t>0 ~ VREF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600200"/>
            <a:ext cx="2834640" cy="960120"/>
          </a:xfrm>
          <a:prstGeom prst="roundRect">
            <a:avLst/>
          </a:prstGeom>
          <a:solidFill>
            <a:srgbClr val="E7F7F9"/>
          </a:solidFill>
          <a:ln w="17780">
            <a:solidFill>
              <a:srgbClr val="2B9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B34"/>
                </a:solidFill>
              </a:defRPr>
            </a:pPr>
            <a:r>
              <a:t>12-bit ADC</a:t>
            </a:r>
            <a:br/>
            <a:r>
              <a:t>0 ~ 4095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600200"/>
            <a:ext cx="2834640" cy="960120"/>
          </a:xfrm>
          <a:prstGeom prst="roundRect">
            <a:avLst/>
          </a:prstGeom>
          <a:solidFill>
            <a:srgbClr val="EBF8F1"/>
          </a:solidFill>
          <a:ln w="1778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B34"/>
                </a:solidFill>
              </a:defRPr>
            </a:pPr>
            <a:r>
              <a:t>Digital Value</a:t>
            </a:r>
            <a:br/>
            <a:r>
              <a:t>uint32_t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" y="2084831"/>
            <a:ext cx="1051560" cy="0"/>
          </a:xfrm>
          <a:prstGeom prst="line">
            <a:avLst/>
          </a:prstGeom>
          <a:ln w="25400">
            <a:solidFill>
              <a:srgbClr val="2B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98079" y="2084831"/>
            <a:ext cx="1051561" cy="0"/>
          </a:xfrm>
          <a:prstGeom prst="line">
            <a:avLst/>
          </a:prstGeom>
          <a:ln w="25400">
            <a:solidFill>
              <a:srgbClr val="32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0120" y="3337560"/>
            <a:ext cx="10241280" cy="1005840"/>
          </a:xfrm>
          <a:prstGeom prst="roundRect">
            <a:avLst/>
          </a:prstGeom>
          <a:solidFill>
            <a:srgbClr val="F4F8FC"/>
          </a:solidFill>
          <a:ln w="17780">
            <a:solidFill>
              <a:srgbClr val="12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B34"/>
                </a:solidFill>
              </a:defRPr>
            </a:pPr>
            <a:r>
              <a:t>전압 계산식</a:t>
            </a:r>
            <a:br/>
            <a:r>
              <a:t>Vin = ADC_Value × VREF / (2^Resolution - 1)</a:t>
            </a:r>
            <a:br/>
            <a:r>
              <a:t>예: 12-bit, VREF=3.3V이면 Vin = ADC_Value × 3.3 / 4095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983480"/>
            <a:ext cx="8503920" cy="685800"/>
          </a:xfrm>
          <a:prstGeom prst="roundRect">
            <a:avLst/>
          </a:prstGeom>
          <a:solidFill>
            <a:srgbClr val="FFF8E5"/>
          </a:solidFill>
          <a:ln w="17780">
            <a:solidFill>
              <a:srgbClr val="F5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32B34"/>
                </a:solidFill>
              </a:defRPr>
            </a:pPr>
            <a:r>
              <a:t>CDS 센서 회로에서는 조도 변화 → 저항 변화 → 분압 전압 변화 → ADC 값 변화로 이어집니다.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9FB7"/>
                </a:solidFill>
              </a:defRPr>
            </a:pPr>
            <a:r>
              <a:t>04 · Polling vs Interrupt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D4E"/>
                </a:solidFill>
              </a:defRPr>
            </a:pPr>
            <a:r>
              <a:t>ADC 입력 처리: Polling vs Interrupt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E78"/>
                </a:solidFill>
              </a:defRPr>
            </a:pPr>
            <a:r>
              <a:t>ADC 변환 완료를 확인하는 방식에 따라 프로그램 구조가 달라집니다.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029200" cy="640080"/>
          </a:xfrm>
          <a:prstGeom prst="roundRect">
            <a:avLst/>
          </a:prstGeom>
          <a:solidFill>
            <a:srgbClr val="EBF2FB"/>
          </a:solidFill>
          <a:ln w="17780">
            <a:solidFill>
              <a:srgbClr val="2B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B34"/>
                </a:solidFill>
              </a:defRPr>
            </a:pPr>
            <a:r>
              <a:t>Polling: CPU가 변환 완료 여부를 계속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645920"/>
            <a:ext cx="5029200" cy="640080"/>
          </a:xfrm>
          <a:prstGeom prst="roundRect">
            <a:avLst/>
          </a:prstGeom>
          <a:solidFill>
            <a:srgbClr val="EBF8F1"/>
          </a:solidFill>
          <a:ln w="1778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B34"/>
                </a:solidFill>
              </a:defRPr>
            </a:pPr>
            <a:r>
              <a:t>Interrupt: 변환 완료 시 ADC가 CPU에 알림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1508760" cy="685800"/>
          </a:xfrm>
          <a:prstGeom prst="roundRect">
            <a:avLst/>
          </a:prstGeom>
          <a:solidFill>
            <a:srgbClr val="122D4E"/>
          </a:solidFill>
          <a:ln w="17780">
            <a:solidFill>
              <a:srgbClr val="12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2743200"/>
            <a:ext cx="1508760" cy="685800"/>
          </a:xfrm>
          <a:prstGeom prst="roundRect">
            <a:avLst/>
          </a:prstGeom>
          <a:solidFill>
            <a:srgbClr val="F4F8FC"/>
          </a:solidFill>
          <a:ln w="17780">
            <a:solidFill>
              <a:srgbClr val="2B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B34"/>
                </a:solidFill>
              </a:defRPr>
            </a:pPr>
            <a:r>
              <a:t>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23160" y="2999232"/>
            <a:ext cx="1737360" cy="0"/>
          </a:xfrm>
          <a:prstGeom prst="line">
            <a:avLst/>
          </a:prstGeom>
          <a:ln w="25400">
            <a:solidFill>
              <a:srgbClr val="2B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423160" y="3218688"/>
            <a:ext cx="1737360" cy="0"/>
          </a:xfrm>
          <a:prstGeom prst="line">
            <a:avLst/>
          </a:prstGeom>
          <a:ln w="25400">
            <a:solidFill>
              <a:srgbClr val="2B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651760" y="25420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B69B4"/>
                </a:solidFill>
              </a:defRPr>
            </a:pPr>
            <a:r>
              <a:t>EOC?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743200"/>
            <a:ext cx="1508760" cy="685800"/>
          </a:xfrm>
          <a:prstGeom prst="roundRect">
            <a:avLst/>
          </a:prstGeom>
          <a:solidFill>
            <a:srgbClr val="122D4E"/>
          </a:solidFill>
          <a:ln w="17780">
            <a:solidFill>
              <a:srgbClr val="12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CPU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2743200"/>
            <a:ext cx="1508760" cy="685800"/>
          </a:xfrm>
          <a:prstGeom prst="roundRect">
            <a:avLst/>
          </a:prstGeom>
          <a:solidFill>
            <a:srgbClr val="F4F8FC"/>
          </a:solidFill>
          <a:ln w="1778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B34"/>
                </a:solidFill>
              </a:defRPr>
            </a:pPr>
            <a:r>
              <a:t>ADC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183879" y="3090672"/>
            <a:ext cx="1783081" cy="0"/>
          </a:xfrm>
          <a:prstGeom prst="line">
            <a:avLst/>
          </a:prstGeom>
          <a:ln w="25400">
            <a:solidFill>
              <a:srgbClr val="32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0" y="25420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29669"/>
                </a:solidFill>
              </a:defRPr>
            </a:pPr>
            <a:r>
              <a:t>EOC IRQ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72000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6E78"/>
                </a:solidFill>
              </a:defRPr>
            </a:pPr>
            <a:r>
              <a:t>HAL_ADC_PollForConversion() 같은 함수로</a:t>
            </a:r>
            <a:br/>
            <a:r>
              <a:t>완료될 때까지 확인하거나 기다리는 구조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72000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6E78"/>
                </a:solidFill>
              </a:defRPr>
            </a:pPr>
            <a:r>
              <a:t>HAL_ADC_Start_IT()로 시작하고</a:t>
            </a:r>
            <a:br/>
            <a:r>
              <a:t>완료 callback에서 결과값을 읽는 구조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9FB7"/>
                </a:solidFill>
              </a:defRPr>
            </a:pPr>
            <a:r>
              <a:t>05 · Interrupt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D4E"/>
                </a:solidFill>
              </a:defRPr>
            </a:pPr>
            <a:r>
              <a:t>인터럽트 방식으로 바꾼 프로그램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E78"/>
                </a:solidFill>
              </a:defRPr>
            </a:pPr>
            <a:r>
              <a:t>포트/채널은 PA0 / ADC1_IN0을 유지하고, 변환 완료 처리는 callback으로 이동합니다.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120640" cy="4251960"/>
          </a:xfrm>
          <a:prstGeom prst="roundRect">
            <a:avLst/>
          </a:prstGeom>
          <a:solidFill>
            <a:srgbClr val="1F2731"/>
          </a:solidFill>
          <a:ln w="17780">
            <a:solidFill>
              <a:srgbClr val="1F2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MX_GPIO_Init();      // PA0 analog input</a:t>
            </a:r>
            <a:br/>
            <a:r>
              <a:t>MX_ADC1_Init();      // ADC1 channel 0</a:t>
            </a:r>
            <a:br/>
            <a:br/>
            <a:r>
              <a:t>HAL_ADCEx_Calibration_Start(&amp;hadc1);</a:t>
            </a:r>
            <a:br/>
            <a:r>
              <a:t>HAL_ADC_Start_IT(&amp;hadc1);</a:t>
            </a:r>
            <a:br/>
            <a:br/>
            <a:r>
              <a:t>while (1)</a:t>
            </a:r>
            <a:br/>
            <a:r>
              <a:t>{</a:t>
            </a:r>
            <a:br/>
            <a:r>
              <a:t>  // ADC polling 없음</a:t>
            </a:r>
            <a:br/>
            <a:r>
              <a:t>  // uwADCxConvertedValue 사용</a:t>
            </a:r>
            <a:br/>
            <a:r>
              <a:t>}</a:t>
            </a:r>
            <a:br/>
            <a:br/>
            <a:r>
              <a:t>void HAL_ADC_ConvCpltCallback(...)</a:t>
            </a:r>
            <a:br/>
            <a:r>
              <a:t>{</a:t>
            </a:r>
            <a:br/>
            <a:r>
              <a:t>  uwADCxConvertedValue = HAL_ADC_GetValue(...);</a:t>
            </a:r>
            <a:br/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91640"/>
            <a:ext cx="4800600" cy="731520"/>
          </a:xfrm>
          <a:prstGeom prst="roundRect">
            <a:avLst/>
          </a:prstGeom>
          <a:solidFill>
            <a:srgbClr val="EBF2FB"/>
          </a:solidFill>
          <a:ln w="17780">
            <a:solidFill>
              <a:srgbClr val="2B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B34"/>
                </a:solidFill>
              </a:defRPr>
            </a:pPr>
            <a:r>
              <a:t>main loop는 ADC 완료를 기다리지 않음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743200"/>
            <a:ext cx="4800600" cy="731520"/>
          </a:xfrm>
          <a:prstGeom prst="roundRect">
            <a:avLst/>
          </a:prstGeom>
          <a:solidFill>
            <a:srgbClr val="E7F7F9"/>
          </a:solidFill>
          <a:ln w="17780">
            <a:solidFill>
              <a:srgbClr val="2B9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B34"/>
                </a:solidFill>
              </a:defRPr>
            </a:pPr>
            <a:r>
              <a:t>ADC 완료 시 NVIC를 통해 ISR 진입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794760"/>
            <a:ext cx="4800600" cy="731520"/>
          </a:xfrm>
          <a:prstGeom prst="roundRect">
            <a:avLst/>
          </a:prstGeom>
          <a:solidFill>
            <a:srgbClr val="EBF8F1"/>
          </a:solidFill>
          <a:ln w="1778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B34"/>
                </a:solidFill>
              </a:defRPr>
            </a:pPr>
            <a:r>
              <a:t>HAL Callback에서 변환값 읽기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846320"/>
            <a:ext cx="4800600" cy="731520"/>
          </a:xfrm>
          <a:prstGeom prst="roundRect">
            <a:avLst/>
          </a:prstGeom>
          <a:solidFill>
            <a:srgbClr val="FFF8E5"/>
          </a:solidFill>
          <a:ln w="17780">
            <a:solidFill>
              <a:srgbClr val="F5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B34"/>
                </a:solidFill>
              </a:defRPr>
            </a:pPr>
            <a:r>
              <a:t>필요하면 main loop에서 값 처리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9FB7"/>
                </a:solidFill>
              </a:defRPr>
            </a:pPr>
            <a:r>
              <a:t>06 · ADC Initialization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D4E"/>
                </a:solidFill>
              </a:defRPr>
            </a:pPr>
            <a:r>
              <a:t>ADC 초기화 코드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E78"/>
                </a:solidFill>
              </a:defRPr>
            </a:pPr>
            <a:r>
              <a:t>ADC1을 12-bit, continuous conversion, software trigger, interrupt 방식으로 사용합니다.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81328"/>
            <a:ext cx="2148840" cy="475488"/>
          </a:xfrm>
          <a:prstGeom prst="roundRect">
            <a:avLst/>
          </a:prstGeom>
          <a:solidFill>
            <a:srgbClr val="F7FAFD"/>
          </a:solidFill>
          <a:ln w="1778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232B34"/>
                </a:solidFill>
              </a:defRPr>
            </a:pPr>
            <a:r>
              <a:t>Instance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481328"/>
            <a:ext cx="3063240" cy="475488"/>
          </a:xfrm>
          <a:prstGeom prst="roundRect">
            <a:avLst/>
          </a:prstGeom>
          <a:solidFill>
            <a:srgbClr val="F7FAFD"/>
          </a:solidFill>
          <a:ln w="1778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232B34"/>
                </a:solidFill>
              </a:defRPr>
            </a:pPr>
            <a:r>
              <a:t>ADC1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481328"/>
            <a:ext cx="5440680" cy="475488"/>
          </a:xfrm>
          <a:prstGeom prst="roundRect">
            <a:avLst/>
          </a:prstGeom>
          <a:solidFill>
            <a:srgbClr val="F7FAFD"/>
          </a:solidFill>
          <a:ln w="1778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232B34"/>
                </a:solidFill>
              </a:defRPr>
            </a:pPr>
            <a:r>
              <a:t>사용할 ADC peripheral 선택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48256"/>
            <a:ext cx="2148840" cy="475488"/>
          </a:xfrm>
          <a:prstGeom prst="roundRect">
            <a:avLst/>
          </a:prstGeom>
          <a:solidFill>
            <a:srgbClr val="EDF4F9"/>
          </a:solidFill>
          <a:ln w="1778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232B34"/>
                </a:solidFill>
              </a:defRPr>
            </a:pPr>
            <a:r>
              <a:t>Channel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2048256"/>
            <a:ext cx="3063240" cy="475488"/>
          </a:xfrm>
          <a:prstGeom prst="roundRect">
            <a:avLst/>
          </a:prstGeom>
          <a:solidFill>
            <a:srgbClr val="EDF4F9"/>
          </a:solidFill>
          <a:ln w="1778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232B34"/>
                </a:solidFill>
              </a:defRPr>
            </a:pPr>
            <a:r>
              <a:t>ADC_CHANNEL_0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2048256"/>
            <a:ext cx="5440680" cy="475488"/>
          </a:xfrm>
          <a:prstGeom prst="roundRect">
            <a:avLst/>
          </a:prstGeom>
          <a:solidFill>
            <a:srgbClr val="EDF4F9"/>
          </a:solidFill>
          <a:ln w="1778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232B34"/>
                </a:solidFill>
              </a:defRPr>
            </a:pPr>
            <a:r>
              <a:t>ADC1_IN0, PA0 입력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15184"/>
            <a:ext cx="2148840" cy="475488"/>
          </a:xfrm>
          <a:prstGeom prst="roundRect">
            <a:avLst/>
          </a:prstGeom>
          <a:solidFill>
            <a:srgbClr val="F7FAFD"/>
          </a:solidFill>
          <a:ln w="1778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232B34"/>
                </a:solidFill>
              </a:defRPr>
            </a:pPr>
            <a:r>
              <a:t>Resolution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2615184"/>
            <a:ext cx="3063240" cy="475488"/>
          </a:xfrm>
          <a:prstGeom prst="roundRect">
            <a:avLst/>
          </a:prstGeom>
          <a:solidFill>
            <a:srgbClr val="F7FAFD"/>
          </a:solidFill>
          <a:ln w="1778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232B34"/>
                </a:solidFill>
              </a:defRPr>
            </a:pPr>
            <a:r>
              <a:t>ADC_RESOLUTION_12B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2615184"/>
            <a:ext cx="5440680" cy="475488"/>
          </a:xfrm>
          <a:prstGeom prst="roundRect">
            <a:avLst/>
          </a:prstGeom>
          <a:solidFill>
            <a:srgbClr val="F7FAFD"/>
          </a:solidFill>
          <a:ln w="1778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232B34"/>
                </a:solidFill>
              </a:defRPr>
            </a:pPr>
            <a:r>
              <a:t>결과 범위 0 ~ 4095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182112"/>
            <a:ext cx="2148840" cy="475488"/>
          </a:xfrm>
          <a:prstGeom prst="roundRect">
            <a:avLst/>
          </a:prstGeom>
          <a:solidFill>
            <a:srgbClr val="EDF4F9"/>
          </a:solidFill>
          <a:ln w="1778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232B34"/>
                </a:solidFill>
              </a:defRPr>
            </a:pPr>
            <a:r>
              <a:t>DataAlign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3182112"/>
            <a:ext cx="3063240" cy="475488"/>
          </a:xfrm>
          <a:prstGeom prst="roundRect">
            <a:avLst/>
          </a:prstGeom>
          <a:solidFill>
            <a:srgbClr val="EDF4F9"/>
          </a:solidFill>
          <a:ln w="1778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232B34"/>
                </a:solidFill>
              </a:defRPr>
            </a:pPr>
            <a:r>
              <a:t>RIGHT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80" y="3182112"/>
            <a:ext cx="5440680" cy="475488"/>
          </a:xfrm>
          <a:prstGeom prst="roundRect">
            <a:avLst/>
          </a:prstGeom>
          <a:solidFill>
            <a:srgbClr val="EDF4F9"/>
          </a:solidFill>
          <a:ln w="1778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232B34"/>
                </a:solidFill>
              </a:defRPr>
            </a:pPr>
            <a:r>
              <a:t>변환값을 오른쪽 정렬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49040"/>
            <a:ext cx="2148840" cy="475488"/>
          </a:xfrm>
          <a:prstGeom prst="roundRect">
            <a:avLst/>
          </a:prstGeom>
          <a:solidFill>
            <a:srgbClr val="F7FAFD"/>
          </a:solidFill>
          <a:ln w="1778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232B34"/>
                </a:solidFill>
              </a:defRPr>
            </a:pPr>
            <a:r>
              <a:t>ContinuousConvMode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3749040"/>
            <a:ext cx="3063240" cy="475488"/>
          </a:xfrm>
          <a:prstGeom prst="roundRect">
            <a:avLst/>
          </a:prstGeom>
          <a:solidFill>
            <a:srgbClr val="F7FAFD"/>
          </a:solidFill>
          <a:ln w="1778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232B34"/>
                </a:solidFill>
              </a:defRPr>
            </a:pPr>
            <a:r>
              <a:t>ENABLE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3749040"/>
            <a:ext cx="5440680" cy="475488"/>
          </a:xfrm>
          <a:prstGeom prst="roundRect">
            <a:avLst/>
          </a:prstGeom>
          <a:solidFill>
            <a:srgbClr val="F7FAFD"/>
          </a:solidFill>
          <a:ln w="1778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232B34"/>
                </a:solidFill>
              </a:defRPr>
            </a:pPr>
            <a:r>
              <a:t>한 번 시작하면 연속 변환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315968"/>
            <a:ext cx="2148840" cy="475488"/>
          </a:xfrm>
          <a:prstGeom prst="roundRect">
            <a:avLst/>
          </a:prstGeom>
          <a:solidFill>
            <a:srgbClr val="EDF4F9"/>
          </a:solidFill>
          <a:ln w="1778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232B34"/>
                </a:solidFill>
              </a:defRPr>
            </a:pPr>
            <a:r>
              <a:t>ExternalTrigConv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4315968"/>
            <a:ext cx="3063240" cy="475488"/>
          </a:xfrm>
          <a:prstGeom prst="roundRect">
            <a:avLst/>
          </a:prstGeom>
          <a:solidFill>
            <a:srgbClr val="EDF4F9"/>
          </a:solidFill>
          <a:ln w="1778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232B34"/>
                </a:solidFill>
              </a:defRPr>
            </a:pPr>
            <a:r>
              <a:t>ADC_SOFTWARE_START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4315968"/>
            <a:ext cx="5440680" cy="475488"/>
          </a:xfrm>
          <a:prstGeom prst="roundRect">
            <a:avLst/>
          </a:prstGeom>
          <a:solidFill>
            <a:srgbClr val="EDF4F9"/>
          </a:solidFill>
          <a:ln w="1778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232B34"/>
                </a:solidFill>
              </a:defRPr>
            </a:pPr>
            <a:r>
              <a:t>소프트웨어로 변환 시작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882896"/>
            <a:ext cx="2148840" cy="475488"/>
          </a:xfrm>
          <a:prstGeom prst="roundRect">
            <a:avLst/>
          </a:prstGeom>
          <a:solidFill>
            <a:srgbClr val="F7FAFD"/>
          </a:solidFill>
          <a:ln w="1778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232B34"/>
                </a:solidFill>
              </a:defRPr>
            </a:pPr>
            <a:r>
              <a:t>EOCSelection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8920" y="4882896"/>
            <a:ext cx="3063240" cy="475488"/>
          </a:xfrm>
          <a:prstGeom prst="roundRect">
            <a:avLst/>
          </a:prstGeom>
          <a:solidFill>
            <a:srgbClr val="F7FAFD"/>
          </a:solidFill>
          <a:ln w="1778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232B34"/>
                </a:solidFill>
              </a:defRPr>
            </a:pPr>
            <a:r>
              <a:t>ADC_EOC_SINGLE_CONV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97880" y="4882896"/>
            <a:ext cx="5440680" cy="475488"/>
          </a:xfrm>
          <a:prstGeom prst="roundRect">
            <a:avLst/>
          </a:prstGeom>
          <a:solidFill>
            <a:srgbClr val="F7FAFD"/>
          </a:solidFill>
          <a:ln w="1778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232B34"/>
                </a:solidFill>
              </a:defRPr>
            </a:pPr>
            <a:r>
              <a:t>각 변환 완료마다 EOC 이벤트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449824"/>
            <a:ext cx="2148840" cy="475488"/>
          </a:xfrm>
          <a:prstGeom prst="roundRect">
            <a:avLst/>
          </a:prstGeom>
          <a:solidFill>
            <a:srgbClr val="EDF4F9"/>
          </a:solidFill>
          <a:ln w="1778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232B34"/>
                </a:solidFill>
              </a:defRPr>
            </a:pPr>
            <a:r>
              <a:t>DMAContinuousRequests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88920" y="5449824"/>
            <a:ext cx="3063240" cy="475488"/>
          </a:xfrm>
          <a:prstGeom prst="roundRect">
            <a:avLst/>
          </a:prstGeom>
          <a:solidFill>
            <a:srgbClr val="EDF4F9"/>
          </a:solidFill>
          <a:ln w="1778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232B34"/>
                </a:solidFill>
              </a:defRPr>
            </a:pPr>
            <a:r>
              <a:t>DISABLE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97880" y="5449824"/>
            <a:ext cx="5440680" cy="475488"/>
          </a:xfrm>
          <a:prstGeom prst="roundRect">
            <a:avLst/>
          </a:prstGeom>
          <a:solidFill>
            <a:srgbClr val="EDF4F9"/>
          </a:solidFill>
          <a:ln w="1778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232B34"/>
                </a:solidFill>
              </a:defRPr>
            </a:pPr>
            <a:r>
              <a:t>DMA 없이 interrupt로 처리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6080760"/>
            <a:ext cx="10698480" cy="365760"/>
          </a:xfrm>
          <a:prstGeom prst="roundRect">
            <a:avLst/>
          </a:prstGeom>
          <a:solidFill>
            <a:srgbClr val="FFF8E5"/>
          </a:solidFill>
          <a:ln w="17780">
            <a:solidFill>
              <a:srgbClr val="F5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B34"/>
                </a:solidFill>
              </a:defRPr>
            </a:pPr>
            <a:r>
              <a:t>주의: 원본 예제는 STM32L0xx 형식이 섞여 있으므로, STM32G0 프로젝트에서는 CubeMX/HAL 버전에 맞는 ADC Init 필드명을 확인해야 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9FB7"/>
                </a:solidFill>
              </a:defRPr>
            </a:pPr>
            <a:r>
              <a:t>07 · GPIO Analog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D4E"/>
                </a:solidFill>
              </a:defRPr>
            </a:pPr>
            <a:r>
              <a:t>PA0를 ADC 입력으로 설정하는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E78"/>
                </a:solidFill>
              </a:defRPr>
            </a:pPr>
            <a:r>
              <a:t>ADC 핀은 디지털 입력/출력이 아니라 Analog mode로 설정해야 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2926080" cy="914400"/>
          </a:xfrm>
          <a:prstGeom prst="roundRect">
            <a:avLst/>
          </a:prstGeom>
          <a:solidFill>
            <a:srgbClr val="EBF2FB"/>
          </a:solidFill>
          <a:ln w="17780">
            <a:solidFill>
              <a:srgbClr val="2B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B34"/>
                </a:solidFill>
              </a:defRPr>
            </a:pPr>
            <a:r>
              <a:t>GPIOA Clock Enable</a:t>
            </a:r>
            <a:br/>
            <a:r>
              <a:t>__HAL_RCC_GPIOA_CLK_ENABLE()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645920"/>
            <a:ext cx="2926080" cy="914400"/>
          </a:xfrm>
          <a:prstGeom prst="roundRect">
            <a:avLst/>
          </a:prstGeom>
          <a:solidFill>
            <a:srgbClr val="E7F7F9"/>
          </a:solidFill>
          <a:ln w="17780">
            <a:solidFill>
              <a:srgbClr val="2B9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B34"/>
                </a:solidFill>
              </a:defRPr>
            </a:pPr>
            <a:r>
              <a:t>PA0 Mode</a:t>
            </a:r>
            <a:br/>
            <a:r>
              <a:t>GPIO_MODE_ANALOG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645920"/>
            <a:ext cx="2926080" cy="914400"/>
          </a:xfrm>
          <a:prstGeom prst="roundRect">
            <a:avLst/>
          </a:prstGeom>
          <a:solidFill>
            <a:srgbClr val="EBF8F1"/>
          </a:solidFill>
          <a:ln w="1778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B34"/>
                </a:solidFill>
              </a:defRPr>
            </a:pPr>
            <a:r>
              <a:t>No Pull</a:t>
            </a:r>
            <a:br/>
            <a:r>
              <a:t>GPIO_NOPULL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49039" y="2103120"/>
            <a:ext cx="822961" cy="0"/>
          </a:xfrm>
          <a:prstGeom prst="line">
            <a:avLst/>
          </a:prstGeom>
          <a:ln w="25400">
            <a:solidFill>
              <a:srgbClr val="2B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98079" y="2103120"/>
            <a:ext cx="822961" cy="0"/>
          </a:xfrm>
          <a:prstGeom prst="line">
            <a:avLst/>
          </a:prstGeom>
          <a:ln w="25400">
            <a:solidFill>
              <a:srgbClr val="32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3246120"/>
            <a:ext cx="10241280" cy="1051560"/>
          </a:xfrm>
          <a:prstGeom prst="roundRect">
            <a:avLst/>
          </a:prstGeom>
          <a:solidFill>
            <a:srgbClr val="F4F8FC"/>
          </a:solidFill>
          <a:ln w="17780">
            <a:solidFill>
              <a:srgbClr val="12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B34"/>
                </a:solidFill>
              </a:defRPr>
            </a:pPr>
            <a:r>
              <a:t>왜 Analog mode인가?</a:t>
            </a:r>
            <a:br/>
            <a:r>
              <a:t>디지털 입력 버퍼를 끄고, 핀 전압이 ADC 샘플링 회로로 전달되도록 설정합니다.</a:t>
            </a:r>
            <a:br/>
            <a:r>
              <a:t>불필요한 pull-up/down은 센서 분압 전압을 왜곡할 수 있으므로 일반적으로 NOPULL을 사용합니다.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983480"/>
            <a:ext cx="8503920" cy="685800"/>
          </a:xfrm>
          <a:prstGeom prst="roundRect">
            <a:avLst/>
          </a:prstGeom>
          <a:solidFill>
            <a:srgbClr val="FFF8E5"/>
          </a:solidFill>
          <a:ln w="17780">
            <a:solidFill>
              <a:srgbClr val="F5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B34"/>
                </a:solidFill>
              </a:defRPr>
            </a:pPr>
            <a:r>
              <a:t>센서 연결 전제: PA0 = ADC1_IN0 = CDS 조도센서 아날로그 출력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9FB7"/>
                </a:solidFill>
              </a:defRPr>
            </a:pPr>
            <a:r>
              <a:t>08 · Interrupt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D4E"/>
                </a:solidFill>
              </a:defRPr>
            </a:pPr>
            <a:r>
              <a:t>ADC Interrupt 처리 경로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E78"/>
                </a:solidFill>
              </a:defRPr>
            </a:pPr>
            <a:r>
              <a:t>ADC 변환 완료 이벤트가 HAL Callback까지 전달되는 순서입니다.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1874519" cy="1051560"/>
          </a:xfrm>
          <a:prstGeom prst="roundRect">
            <a:avLst/>
          </a:prstGeom>
          <a:solidFill>
            <a:srgbClr val="F1F7FA"/>
          </a:solidFill>
          <a:ln w="17780">
            <a:solidFill>
              <a:srgbClr val="2B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32B34"/>
                </a:solidFill>
              </a:defRPr>
            </a:pPr>
            <a:r>
              <a:t>ADC Conversion</a:t>
            </a:r>
            <a:br/>
            <a:r>
              <a:t>Complete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77439" y="2395728"/>
            <a:ext cx="320041" cy="0"/>
          </a:xfrm>
          <a:prstGeom prst="line">
            <a:avLst/>
          </a:prstGeom>
          <a:ln w="25400">
            <a:solidFill>
              <a:srgbClr val="2B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97480" y="1874519"/>
            <a:ext cx="1874519" cy="1051560"/>
          </a:xfrm>
          <a:prstGeom prst="roundRect">
            <a:avLst/>
          </a:prstGeom>
          <a:solidFill>
            <a:srgbClr val="F1F7FA"/>
          </a:solidFill>
          <a:ln w="17780">
            <a:solidFill>
              <a:srgbClr val="2B9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32B34"/>
                </a:solidFill>
              </a:defRPr>
            </a:pPr>
            <a:r>
              <a:t>ADC1_COMP_IRQn</a:t>
            </a:r>
            <a:br/>
            <a:r>
              <a:t>NVIC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2395728"/>
            <a:ext cx="320040" cy="0"/>
          </a:xfrm>
          <a:prstGeom prst="line">
            <a:avLst/>
          </a:prstGeom>
          <a:ln w="25400">
            <a:solidFill>
              <a:srgbClr val="2B9F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892040" y="1874519"/>
            <a:ext cx="1874519" cy="1051560"/>
          </a:xfrm>
          <a:prstGeom prst="roundRect">
            <a:avLst/>
          </a:prstGeom>
          <a:solidFill>
            <a:srgbClr val="F1F7FA"/>
          </a:solidFill>
          <a:ln w="17780">
            <a:solidFill>
              <a:srgbClr val="705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32B34"/>
                </a:solidFill>
              </a:defRPr>
            </a:pPr>
            <a:r>
              <a:t>ADC1_COMP_IRQHandler()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66559" y="2395728"/>
            <a:ext cx="502921" cy="0"/>
          </a:xfrm>
          <a:prstGeom prst="line">
            <a:avLst/>
          </a:prstGeom>
          <a:ln w="25400">
            <a:solidFill>
              <a:srgbClr val="705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269480" y="1874519"/>
            <a:ext cx="1874519" cy="1051560"/>
          </a:xfrm>
          <a:prstGeom prst="roundRect">
            <a:avLst/>
          </a:prstGeom>
          <a:solidFill>
            <a:srgbClr val="F1F7FA"/>
          </a:solidFill>
          <a:ln w="1778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32B34"/>
                </a:solidFill>
              </a:defRPr>
            </a:pPr>
            <a:r>
              <a:t>HAL_ADC_IRQHandler()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0" y="2395728"/>
            <a:ext cx="502920" cy="0"/>
          </a:xfrm>
          <a:prstGeom prst="line">
            <a:avLst/>
          </a:prstGeom>
          <a:ln w="25400">
            <a:solidFill>
              <a:srgbClr val="32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46920" y="1874519"/>
            <a:ext cx="1874519" cy="1051560"/>
          </a:xfrm>
          <a:prstGeom prst="roundRect">
            <a:avLst/>
          </a:prstGeom>
          <a:solidFill>
            <a:srgbClr val="F1F7FA"/>
          </a:solidFill>
          <a:ln w="1778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32B34"/>
                </a:solidFill>
              </a:defRPr>
            </a:pPr>
            <a:r>
              <a:t>HAL_ADC_ConvCpltCallback()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977639"/>
            <a:ext cx="4480560" cy="868680"/>
          </a:xfrm>
          <a:prstGeom prst="roundRect">
            <a:avLst/>
          </a:prstGeom>
          <a:solidFill>
            <a:srgbClr val="EBF8F1"/>
          </a:solidFill>
          <a:ln w="1778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32B34"/>
                </a:solidFill>
              </a:defRPr>
            </a:pPr>
            <a:r>
              <a:t>Callback 내부</a:t>
            </a:r>
            <a:br/>
            <a:r>
              <a:t>HAL_ADC_GetValue()로 DR 레지스터 값 읽기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977639"/>
            <a:ext cx="4480560" cy="868680"/>
          </a:xfrm>
          <a:prstGeom prst="roundRect">
            <a:avLst/>
          </a:prstGeom>
          <a:solidFill>
            <a:srgbClr val="EBF2FB"/>
          </a:solidFill>
          <a:ln w="17780">
            <a:solidFill>
              <a:srgbClr val="2B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32B34"/>
                </a:solidFill>
              </a:defRPr>
            </a:pPr>
            <a:r>
              <a:t>전역 변수 저장</a:t>
            </a:r>
            <a:br/>
            <a:r>
              <a:t>uwADCxConvertedValue 업데이트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0" y="4407408"/>
            <a:ext cx="1097280" cy="0"/>
          </a:xfrm>
          <a:prstGeom prst="line">
            <a:avLst/>
          </a:prstGeom>
          <a:ln w="25400">
            <a:solidFill>
              <a:srgbClr val="32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22D4E"/>
                </a:solidFill>
              </a:defRPr>
            </a:pPr>
            <a:r>
              <a:t>강의 포인트: interrupt 방식에서는 while(1) 안에서 값을 읽는 것이 아니라, 변환 완료 callback이 호출될 때 결과값을 읽습니다.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9FB7"/>
                </a:solidFill>
              </a:defRPr>
            </a:pPr>
            <a:r>
              <a:t>09 · Conversion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D4E"/>
                </a:solidFill>
              </a:defRPr>
            </a:pPr>
            <a:r>
              <a:t>샘플링 시간과 변환 시간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E78"/>
                </a:solidFill>
              </a:defRPr>
            </a:pPr>
            <a:r>
              <a:t>ADC 변환 시간은 ADC clock, sampling cycles, resolution conversion cycles에 의해 결정됩니다.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3200400" cy="914400"/>
          </a:xfrm>
          <a:prstGeom prst="roundRect">
            <a:avLst/>
          </a:prstGeom>
          <a:solidFill>
            <a:srgbClr val="EBF2FB"/>
          </a:solidFill>
          <a:ln w="17780">
            <a:solidFill>
              <a:srgbClr val="2B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B34"/>
                </a:solidFill>
              </a:defRPr>
            </a:pPr>
            <a:r>
              <a:t>ADC Clock</a:t>
            </a:r>
            <a:br/>
            <a:r>
              <a:t>PCLK / Prescaler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600200"/>
            <a:ext cx="3200400" cy="914400"/>
          </a:xfrm>
          <a:prstGeom prst="roundRect">
            <a:avLst/>
          </a:prstGeom>
          <a:solidFill>
            <a:srgbClr val="E7F7F9"/>
          </a:solidFill>
          <a:ln w="17780">
            <a:solidFill>
              <a:srgbClr val="2B9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B34"/>
                </a:solidFill>
              </a:defRPr>
            </a:pPr>
            <a:r>
              <a:t>Sampling Time</a:t>
            </a:r>
            <a:br/>
            <a:r>
              <a:t>예: 39.5 cycles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600200"/>
            <a:ext cx="3200400" cy="914400"/>
          </a:xfrm>
          <a:prstGeom prst="roundRect">
            <a:avLst/>
          </a:prstGeom>
          <a:solidFill>
            <a:srgbClr val="EBF8F1"/>
          </a:solidFill>
          <a:ln w="1778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B34"/>
                </a:solidFill>
              </a:defRPr>
            </a:pPr>
            <a:r>
              <a:t>Conversion</a:t>
            </a:r>
            <a:br/>
            <a:r>
              <a:t>12-bit 변환 cycles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23360" y="2057400"/>
            <a:ext cx="502920" cy="0"/>
          </a:xfrm>
          <a:prstGeom prst="line">
            <a:avLst/>
          </a:prstGeom>
          <a:ln w="25400">
            <a:solidFill>
              <a:srgbClr val="2B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26679" y="2057400"/>
            <a:ext cx="502921" cy="0"/>
          </a:xfrm>
          <a:prstGeom prst="line">
            <a:avLst/>
          </a:prstGeom>
          <a:ln w="25400">
            <a:solidFill>
              <a:srgbClr val="32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3154680"/>
            <a:ext cx="10287000" cy="1051560"/>
          </a:xfrm>
          <a:prstGeom prst="roundRect">
            <a:avLst/>
          </a:prstGeom>
          <a:solidFill>
            <a:srgbClr val="F4F8FC"/>
          </a:solidFill>
          <a:ln w="17780">
            <a:solidFill>
              <a:srgbClr val="12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B34"/>
                </a:solidFill>
              </a:defRPr>
            </a:pPr>
            <a:r>
              <a:t>기본 계산식</a:t>
            </a:r>
            <a:br/>
            <a:r>
              <a:t>Conversion Time ≈ (Sampling Cycles + ADC Conversion Cycles) / ADC Clock</a:t>
            </a:r>
            <a:br/>
            <a:r>
              <a:t>예: ADC Clock = 16 MHz, Sampling = 39.5 cycles, 12-bit 변환이 약 12.5 cycles라면 약 52 cycles / 16 MHz ≈ 3.25 μs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892040"/>
            <a:ext cx="9875520" cy="777240"/>
          </a:xfrm>
          <a:prstGeom prst="roundRect">
            <a:avLst/>
          </a:prstGeom>
          <a:solidFill>
            <a:srgbClr val="FFF8E5"/>
          </a:solidFill>
          <a:ln w="17780">
            <a:solidFill>
              <a:srgbClr val="F5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32B34"/>
                </a:solidFill>
              </a:defRPr>
            </a:pPr>
            <a:r>
              <a:t>센서 임피던스가 크면 sampling time을 너무 짧게 잡을 경우 ADC 샘플링 capacitor가 충분히 충전되지 않아 측정 오차가 커질 수 있습니다.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9FB7"/>
                </a:solidFill>
              </a:defRPr>
            </a:pPr>
            <a:r>
              <a:t>10 · Flow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D4E"/>
                </a:solidFill>
              </a:defRPr>
            </a:pPr>
            <a:r>
              <a:t>전체 프로그램 Flow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E78"/>
                </a:solidFill>
              </a:defRPr>
            </a:pPr>
            <a:r>
              <a:t>초기화, ADC 시작, interrupt callback 흐름을 함께 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143000"/>
            <a:ext cx="2743200" cy="420624"/>
          </a:xfrm>
          <a:prstGeom prst="roundRect">
            <a:avLst/>
          </a:prstGeom>
          <a:solidFill>
            <a:srgbClr val="122D4E"/>
          </a:solidFill>
          <a:ln w="17780">
            <a:solidFill>
              <a:srgbClr val="12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START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1563624"/>
            <a:ext cx="0" cy="173736"/>
          </a:xfrm>
          <a:prstGeom prst="line">
            <a:avLst/>
          </a:prstGeom>
          <a:ln w="25400">
            <a:solidFill>
              <a:srgbClr val="12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60520" y="1737360"/>
            <a:ext cx="3840480" cy="475488"/>
          </a:xfrm>
          <a:prstGeom prst="roundRect">
            <a:avLst/>
          </a:prstGeom>
          <a:solidFill>
            <a:srgbClr val="F4F8FC"/>
          </a:solidFill>
          <a:ln w="17780">
            <a:solidFill>
              <a:srgbClr val="2B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B34"/>
                </a:solidFill>
              </a:defRPr>
            </a:pPr>
            <a:r>
              <a:t>HAL_Init() / SystemClock_Config()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212848"/>
            <a:ext cx="0" cy="164592"/>
          </a:xfrm>
          <a:prstGeom prst="line">
            <a:avLst/>
          </a:prstGeom>
          <a:ln w="25400">
            <a:solidFill>
              <a:srgbClr val="2B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60520" y="2377440"/>
            <a:ext cx="3840480" cy="475488"/>
          </a:xfrm>
          <a:prstGeom prst="roundRect">
            <a:avLst/>
          </a:prstGeom>
          <a:solidFill>
            <a:srgbClr val="F4F8FC"/>
          </a:solidFill>
          <a:ln w="17780">
            <a:solidFill>
              <a:srgbClr val="2B9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B34"/>
                </a:solidFill>
              </a:defRPr>
            </a:pPr>
            <a:r>
              <a:t>GPIOA PA0 Analog Init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2852928"/>
            <a:ext cx="0" cy="164592"/>
          </a:xfrm>
          <a:prstGeom prst="line">
            <a:avLst/>
          </a:prstGeom>
          <a:ln w="25400">
            <a:solidFill>
              <a:srgbClr val="2B9F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160520" y="3017520"/>
            <a:ext cx="3840480" cy="475488"/>
          </a:xfrm>
          <a:prstGeom prst="roundRect">
            <a:avLst/>
          </a:prstGeom>
          <a:solidFill>
            <a:srgbClr val="F4F8FC"/>
          </a:solidFill>
          <a:ln w="17780">
            <a:solidFill>
              <a:srgbClr val="2B9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B34"/>
                </a:solidFill>
              </a:defRPr>
            </a:pPr>
            <a:r>
              <a:t>ADC1 Init + Channel 0 Config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3493008"/>
            <a:ext cx="0" cy="164592"/>
          </a:xfrm>
          <a:prstGeom prst="line">
            <a:avLst/>
          </a:prstGeom>
          <a:ln w="25400">
            <a:solidFill>
              <a:srgbClr val="2B9F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60520" y="3657600"/>
            <a:ext cx="3840480" cy="475488"/>
          </a:xfrm>
          <a:prstGeom prst="roundRect">
            <a:avLst/>
          </a:prstGeom>
          <a:solidFill>
            <a:srgbClr val="F4F8FC"/>
          </a:solidFill>
          <a:ln w="17780">
            <a:solidFill>
              <a:srgbClr val="705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B34"/>
                </a:solidFill>
              </a:defRPr>
            </a:pPr>
            <a:r>
              <a:t>ADC Calibration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4133087"/>
            <a:ext cx="0" cy="164593"/>
          </a:xfrm>
          <a:prstGeom prst="line">
            <a:avLst/>
          </a:prstGeom>
          <a:ln w="25400">
            <a:solidFill>
              <a:srgbClr val="705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60520" y="4297680"/>
            <a:ext cx="3840480" cy="475488"/>
          </a:xfrm>
          <a:prstGeom prst="roundRect">
            <a:avLst/>
          </a:prstGeom>
          <a:solidFill>
            <a:srgbClr val="EBF8F1"/>
          </a:solidFill>
          <a:ln w="1778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B34"/>
                </a:solidFill>
              </a:defRPr>
            </a:pPr>
            <a:r>
              <a:t>HAL_ADC_Start_IT()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4773168"/>
            <a:ext cx="0" cy="164592"/>
          </a:xfrm>
          <a:prstGeom prst="line">
            <a:avLst/>
          </a:prstGeom>
          <a:ln w="25400">
            <a:solidFill>
              <a:srgbClr val="32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26280" y="4937760"/>
            <a:ext cx="3108960" cy="475488"/>
          </a:xfrm>
          <a:prstGeom prst="roundRect">
            <a:avLst/>
          </a:prstGeom>
          <a:solidFill>
            <a:srgbClr val="F4F8FC"/>
          </a:solidFill>
          <a:ln w="17780">
            <a:solidFill>
              <a:srgbClr val="12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B34"/>
                </a:solidFill>
              </a:defRPr>
            </a:pPr>
            <a:r>
              <a:t>while(1): other tasks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429000"/>
            <a:ext cx="2560320" cy="548640"/>
          </a:xfrm>
          <a:prstGeom prst="roundRect">
            <a:avLst/>
          </a:prstGeom>
          <a:solidFill>
            <a:srgbClr val="E7F7F9"/>
          </a:solidFill>
          <a:ln w="17780">
            <a:solidFill>
              <a:srgbClr val="2B9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B34"/>
                </a:solidFill>
              </a:defRPr>
            </a:pPr>
            <a:r>
              <a:t>ADC EOC IRQ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97680"/>
            <a:ext cx="2560320" cy="548640"/>
          </a:xfrm>
          <a:prstGeom prst="roundRect">
            <a:avLst/>
          </a:prstGeom>
          <a:solidFill>
            <a:srgbClr val="E7F7F9"/>
          </a:solidFill>
          <a:ln w="17780">
            <a:solidFill>
              <a:srgbClr val="2B9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32B34"/>
                </a:solidFill>
              </a:defRPr>
            </a:pPr>
            <a:r>
              <a:t>HAL_ADC_IRQHandler()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166360"/>
            <a:ext cx="2560320" cy="548640"/>
          </a:xfrm>
          <a:prstGeom prst="roundRect">
            <a:avLst/>
          </a:prstGeom>
          <a:solidFill>
            <a:srgbClr val="EBF8F1"/>
          </a:solidFill>
          <a:ln w="1778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B34"/>
                </a:solidFill>
              </a:defRPr>
            </a:pPr>
            <a:r>
              <a:t>ConvCpltCallback()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874519" y="3977639"/>
            <a:ext cx="0" cy="320041"/>
          </a:xfrm>
          <a:prstGeom prst="line">
            <a:avLst/>
          </a:prstGeom>
          <a:ln w="25400">
            <a:solidFill>
              <a:srgbClr val="2B9F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74519" y="4846320"/>
            <a:ext cx="0" cy="320040"/>
          </a:xfrm>
          <a:prstGeom prst="line">
            <a:avLst/>
          </a:prstGeom>
          <a:ln w="25400">
            <a:solidFill>
              <a:srgbClr val="32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154680" y="5175504"/>
            <a:ext cx="1371600" cy="265176"/>
          </a:xfrm>
          <a:prstGeom prst="line">
            <a:avLst/>
          </a:prstGeom>
          <a:ln w="25400">
            <a:solidFill>
              <a:srgbClr val="32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823960" y="4297680"/>
            <a:ext cx="2560320" cy="548640"/>
          </a:xfrm>
          <a:prstGeom prst="roundRect">
            <a:avLst/>
          </a:prstGeom>
          <a:solidFill>
            <a:srgbClr val="EBF8F1"/>
          </a:solidFill>
          <a:ln w="1778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B34"/>
                </a:solidFill>
              </a:defRPr>
            </a:pPr>
            <a:r>
              <a:t>HAL_ADC_GetValue()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5166360"/>
            <a:ext cx="2560320" cy="548640"/>
          </a:xfrm>
          <a:prstGeom prst="roundRect">
            <a:avLst/>
          </a:prstGeom>
          <a:solidFill>
            <a:srgbClr val="EBF2FB"/>
          </a:solidFill>
          <a:ln w="17780">
            <a:solidFill>
              <a:srgbClr val="2B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B34"/>
                </a:solidFill>
              </a:defRPr>
            </a:pPr>
            <a:r>
              <a:t>value variable update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8001000" y="4572000"/>
            <a:ext cx="822960" cy="0"/>
          </a:xfrm>
          <a:prstGeom prst="line">
            <a:avLst/>
          </a:prstGeom>
          <a:ln w="25400">
            <a:solidFill>
              <a:srgbClr val="32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104120" y="4846320"/>
            <a:ext cx="0" cy="320040"/>
          </a:xfrm>
          <a:prstGeom prst="line">
            <a:avLst/>
          </a:prstGeom>
          <a:ln w="25400">
            <a:solidFill>
              <a:srgbClr val="2B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9FB7"/>
                </a:solidFill>
              </a:defRPr>
            </a:pPr>
            <a:r>
              <a:t>11 · Code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D4E"/>
                </a:solidFill>
              </a:defRPr>
            </a:pPr>
            <a:r>
              <a:t>코드로 비교하는 ADC Polling ↔ Interrupt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E78"/>
                </a:solidFill>
              </a:defRPr>
            </a:pPr>
            <a:r>
              <a:t>기능은 같지만 완료 처리 위치가 달라집니다.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440680" cy="548640"/>
          </a:xfrm>
          <a:prstGeom prst="roundRect">
            <a:avLst/>
          </a:prstGeom>
          <a:solidFill>
            <a:srgbClr val="2B69B4"/>
          </a:solidFill>
          <a:ln w="17780">
            <a:solidFill>
              <a:srgbClr val="2B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Polling 구조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1508760"/>
            <a:ext cx="5440680" cy="548640"/>
          </a:xfrm>
          <a:prstGeom prst="roundRect">
            <a:avLst/>
          </a:prstGeom>
          <a:solidFill>
            <a:srgbClr val="329669"/>
          </a:solidFill>
          <a:ln w="1778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Interrupt 구조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31720"/>
            <a:ext cx="5440680" cy="3154680"/>
          </a:xfrm>
          <a:prstGeom prst="roundRect">
            <a:avLst/>
          </a:prstGeom>
          <a:solidFill>
            <a:srgbClr val="1F2731"/>
          </a:solidFill>
          <a:ln w="17780">
            <a:solidFill>
              <a:srgbClr val="1F2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HAL_ADC_Start(&amp;hadc1);</a:t>
            </a:r>
            <a:br/>
            <a:br/>
            <a:r>
              <a:t>while (1)</a:t>
            </a:r>
            <a:br/>
            <a:r>
              <a:t>{</a:t>
            </a:r>
            <a:br/>
            <a:r>
              <a:t>  if (HAL_ADC_PollForConversion(&amp;hadc1, 10)</a:t>
            </a:r>
            <a:br/>
            <a:r>
              <a:t>      == HAL_OK)</a:t>
            </a:r>
            <a:br/>
            <a:r>
              <a:t>  {</a:t>
            </a:r>
            <a:br/>
            <a:r>
              <a:t>    value = HAL_ADC_GetValue(&amp;hadc1);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2331720"/>
            <a:ext cx="5440680" cy="3154680"/>
          </a:xfrm>
          <a:prstGeom prst="roundRect">
            <a:avLst/>
          </a:prstGeom>
          <a:solidFill>
            <a:srgbClr val="1F2731"/>
          </a:solidFill>
          <a:ln w="17780">
            <a:solidFill>
              <a:srgbClr val="1F2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HAL_ADC_Start_IT(&amp;hadc1);</a:t>
            </a:r>
            <a:br/>
            <a:br/>
            <a:r>
              <a:t>while (1)</a:t>
            </a:r>
            <a:br/>
            <a:r>
              <a:t>{</a:t>
            </a:r>
            <a:br/>
            <a:r>
              <a:t>  // main task</a:t>
            </a:r>
            <a:br/>
            <a:r>
              <a:t>}</a:t>
            </a:r>
            <a:br/>
            <a:br/>
            <a:r>
              <a:t>void HAL_ADC_ConvCpltCallback(...)</a:t>
            </a:r>
            <a:br/>
            <a:r>
              <a:t>{</a:t>
            </a:r>
            <a:br/>
            <a:r>
              <a:t>  value = HAL_ADC_GetValue(...);</a:t>
            </a:r>
            <a:br/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60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69B4"/>
                </a:solidFill>
              </a:defRPr>
            </a:pPr>
            <a:r>
              <a:t>main loop가 완료 여부를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5760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29669"/>
                </a:solidFill>
              </a:defRPr>
            </a:pPr>
            <a:r>
              <a:t>callback이 완료 시점에 실행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9FB7"/>
                </a:solidFill>
              </a:defRPr>
            </a:pPr>
            <a:r>
              <a:t>12 · Key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D4E"/>
                </a:solidFill>
              </a:defRPr>
            </a:pPr>
            <a:r>
              <a:t>주요 함수 기능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E78"/>
                </a:solidFill>
              </a:defRPr>
            </a:pPr>
            <a:r>
              <a:t>ADC interrupt 예제에서 반드시 설명해야 할 함수들입니다.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3246120" cy="420624"/>
          </a:xfrm>
          <a:prstGeom prst="roundRect">
            <a:avLst/>
          </a:prstGeom>
          <a:solidFill>
            <a:srgbClr val="EEF4FB"/>
          </a:solidFill>
          <a:ln w="17780">
            <a:solidFill>
              <a:srgbClr val="2B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232B34"/>
                </a:solidFill>
              </a:defRPr>
            </a:pPr>
            <a:r>
              <a:t>HAL_Init()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408176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2B34"/>
                </a:solidFill>
              </a:defRPr>
            </a:pPr>
            <a:r>
              <a:t>HAL 초기화, SysTick/time base 및 low-level 초기화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3246120" cy="420624"/>
          </a:xfrm>
          <a:prstGeom prst="roundRect">
            <a:avLst/>
          </a:prstGeom>
          <a:solidFill>
            <a:srgbClr val="EEF4FB"/>
          </a:solidFill>
          <a:ln w="17780">
            <a:solidFill>
              <a:srgbClr val="2B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232B34"/>
                </a:solidFill>
              </a:defRPr>
            </a:pPr>
            <a:r>
              <a:t>SystemClock_Config()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911095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2B34"/>
                </a:solidFill>
              </a:defRPr>
            </a:pPr>
            <a:r>
              <a:t>MCU 클럭 설정, ADC peripheral clock의 기반 제공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377439"/>
            <a:ext cx="3246120" cy="420624"/>
          </a:xfrm>
          <a:prstGeom prst="roundRect">
            <a:avLst/>
          </a:prstGeom>
          <a:solidFill>
            <a:srgbClr val="EEF4FB"/>
          </a:solidFill>
          <a:ln w="17780">
            <a:solidFill>
              <a:srgbClr val="2B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232B34"/>
                </a:solidFill>
              </a:defRPr>
            </a:pPr>
            <a:r>
              <a:t>MX_GPIO_Init()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414015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2B34"/>
                </a:solidFill>
              </a:defRPr>
            </a:pPr>
            <a:r>
              <a:t>PA0를 analog input, no pull로 설정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880359"/>
            <a:ext cx="3246120" cy="420624"/>
          </a:xfrm>
          <a:prstGeom prst="roundRect">
            <a:avLst/>
          </a:prstGeom>
          <a:solidFill>
            <a:srgbClr val="EEF4FB"/>
          </a:solidFill>
          <a:ln w="17780">
            <a:solidFill>
              <a:srgbClr val="2B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232B34"/>
                </a:solidFill>
              </a:defRPr>
            </a:pPr>
            <a:r>
              <a:t>MX_ADC1_Init()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916935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2B34"/>
                </a:solidFill>
              </a:defRPr>
            </a:pPr>
            <a:r>
              <a:t>ADC1 instance, 해상도, prescaler, continuous mode 설정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383279"/>
            <a:ext cx="3246120" cy="420624"/>
          </a:xfrm>
          <a:prstGeom prst="roundRect">
            <a:avLst/>
          </a:prstGeom>
          <a:solidFill>
            <a:srgbClr val="EEF4FB"/>
          </a:solidFill>
          <a:ln w="17780">
            <a:solidFill>
              <a:srgbClr val="2B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232B34"/>
                </a:solidFill>
              </a:defRPr>
            </a:pPr>
            <a:r>
              <a:t>HAL_ADC_Init()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419855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2B34"/>
                </a:solidFill>
              </a:defRPr>
            </a:pPr>
            <a:r>
              <a:t>ADC 초기화 구조체 값을 하드웨어 레지스터에 반영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886199"/>
            <a:ext cx="3246120" cy="420624"/>
          </a:xfrm>
          <a:prstGeom prst="roundRect">
            <a:avLst/>
          </a:prstGeom>
          <a:solidFill>
            <a:srgbClr val="EBF8F1"/>
          </a:solidFill>
          <a:ln w="1778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232B34"/>
                </a:solidFill>
              </a:defRPr>
            </a:pPr>
            <a:r>
              <a:t>HAL_ADCEx_Calibration_Start()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922775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2B34"/>
                </a:solidFill>
              </a:defRPr>
            </a:pPr>
            <a:r>
              <a:t>ADC 보정 수행, 측정 오차 감소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389119"/>
            <a:ext cx="3246120" cy="420624"/>
          </a:xfrm>
          <a:prstGeom prst="roundRect">
            <a:avLst/>
          </a:prstGeom>
          <a:solidFill>
            <a:srgbClr val="EBF8F1"/>
          </a:solidFill>
          <a:ln w="1778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232B34"/>
                </a:solidFill>
              </a:defRPr>
            </a:pPr>
            <a:r>
              <a:t>HAL_ADC_ConfigChannel()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425695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2B34"/>
                </a:solidFill>
              </a:defRPr>
            </a:pPr>
            <a:r>
              <a:t>Regular channel 0을 변환 순서에 등록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892039"/>
            <a:ext cx="3246120" cy="420624"/>
          </a:xfrm>
          <a:prstGeom prst="roundRect">
            <a:avLst/>
          </a:prstGeom>
          <a:solidFill>
            <a:srgbClr val="EBF8F1"/>
          </a:solidFill>
          <a:ln w="1778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232B34"/>
                </a:solidFill>
              </a:defRPr>
            </a:pPr>
            <a:r>
              <a:t>HAL_ADC_Start_IT()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928615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2B34"/>
                </a:solidFill>
              </a:defRPr>
            </a:pPr>
            <a:r>
              <a:t>ADC 변환을 interrupt mode로 시작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394959"/>
            <a:ext cx="3246120" cy="420624"/>
          </a:xfrm>
          <a:prstGeom prst="roundRect">
            <a:avLst/>
          </a:prstGeom>
          <a:solidFill>
            <a:srgbClr val="EBF8F1"/>
          </a:solidFill>
          <a:ln w="1778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232B34"/>
                </a:solidFill>
              </a:defRPr>
            </a:pPr>
            <a:r>
              <a:t>ADC1_COMP_IRQHandler()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5431535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2B34"/>
                </a:solidFill>
              </a:defRPr>
            </a:pPr>
            <a:r>
              <a:t>ADC interrupt 발생 시 HAL_ADC_IRQHandler() 호출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897879"/>
            <a:ext cx="3246120" cy="420624"/>
          </a:xfrm>
          <a:prstGeom prst="roundRect">
            <a:avLst/>
          </a:prstGeom>
          <a:solidFill>
            <a:srgbClr val="EBF8F1"/>
          </a:solidFill>
          <a:ln w="1778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232B34"/>
                </a:solidFill>
              </a:defRPr>
            </a:pPr>
            <a:r>
              <a:t>HAL_ADC_ConvCpltCallback()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5934455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2B34"/>
                </a:solidFill>
              </a:defRPr>
            </a:pPr>
            <a:r>
              <a:t>변환 완료 후 HAL_ADC_GetValue()로 결과값 읽기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9FB7"/>
                </a:solidFill>
              </a:defRPr>
            </a:pPr>
            <a:r>
              <a:t>13 ·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D4E"/>
                </a:solidFill>
              </a:defRPr>
            </a:pPr>
            <a:r>
              <a:t>실습 및 디버깅 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E78"/>
                </a:solidFill>
              </a:defRPr>
            </a:pPr>
            <a:r>
              <a:t>ADC 값을 실제 센서 입력과 연결해 관찰합니다.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B34"/>
                </a:solidFill>
              </a:defRPr>
            </a:pPr>
            <a:r>
              <a:t>Watch 창에서 uwADCxConvertedValue가 계속 변하는지 확인한다.</a:t>
            </a:r>
          </a:p>
          <a:p>
            <a:pPr>
              <a:spcAft>
                <a:spcPts val="700"/>
              </a:spcAft>
              <a:defRPr sz="1500">
                <a:solidFill>
                  <a:srgbClr val="232B34"/>
                </a:solidFill>
              </a:defRPr>
            </a:pPr>
            <a:r>
              <a:t>CDS 센서에 빛을 비추거나 가리면서 ADC 값 변화를 관찰한다.</a:t>
            </a:r>
          </a:p>
          <a:p>
            <a:pPr>
              <a:spcAft>
                <a:spcPts val="700"/>
              </a:spcAft>
              <a:defRPr sz="1500">
                <a:solidFill>
                  <a:srgbClr val="232B34"/>
                </a:solidFill>
              </a:defRPr>
            </a:pPr>
            <a:r>
              <a:t>HAL_ADC_ConvCpltCallback()에 breakpoint를 걸어 interrupt 흐름을 확인한다.</a:t>
            </a:r>
          </a:p>
          <a:p>
            <a:pPr>
              <a:spcAft>
                <a:spcPts val="700"/>
              </a:spcAft>
              <a:defRPr sz="1500">
                <a:solidFill>
                  <a:srgbClr val="232B34"/>
                </a:solidFill>
              </a:defRPr>
            </a:pPr>
            <a:r>
              <a:t>ADC1_COMP_IRQHandler()가 프로젝트의 stm32g0xx_it.c에 포함되어 있는지 확인한다.</a:t>
            </a:r>
          </a:p>
          <a:p>
            <a:pPr>
              <a:spcAft>
                <a:spcPts val="700"/>
              </a:spcAft>
              <a:defRPr sz="1500">
                <a:solidFill>
                  <a:srgbClr val="232B34"/>
                </a:solidFill>
              </a:defRPr>
            </a:pPr>
            <a:r>
              <a:t>PA0가 analog mode인지, pull-up/down이 꺼져 있는지 확인한다.</a:t>
            </a:r>
          </a:p>
          <a:p>
            <a:pPr>
              <a:spcAft>
                <a:spcPts val="700"/>
              </a:spcAft>
              <a:defRPr sz="1500">
                <a:solidFill>
                  <a:srgbClr val="232B34"/>
                </a:solidFill>
              </a:defRPr>
            </a:pPr>
            <a:r>
              <a:t>12-bit 값 0~4095를 전압으로 변환해 센서 출력 전압과 비교한다.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783080"/>
            <a:ext cx="4709160" cy="868680"/>
          </a:xfrm>
          <a:prstGeom prst="roundRect">
            <a:avLst/>
          </a:prstGeom>
          <a:solidFill>
            <a:srgbClr val="FFF8E5"/>
          </a:solidFill>
          <a:ln w="17780">
            <a:solidFill>
              <a:srgbClr val="F5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B34"/>
                </a:solidFill>
              </a:defRPr>
            </a:pPr>
            <a:r>
              <a:t>밝기 변화</a:t>
            </a:r>
            <a:br/>
            <a:r>
              <a:t>CDS 저항 변화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2971800"/>
            <a:ext cx="4709160" cy="868680"/>
          </a:xfrm>
          <a:prstGeom prst="roundRect">
            <a:avLst/>
          </a:prstGeom>
          <a:solidFill>
            <a:srgbClr val="EBF2FB"/>
          </a:solidFill>
          <a:ln w="17780">
            <a:solidFill>
              <a:srgbClr val="2B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B34"/>
                </a:solidFill>
              </a:defRPr>
            </a:pPr>
            <a:r>
              <a:t>분압 전압 변화</a:t>
            </a:r>
            <a:br/>
            <a:r>
              <a:t>PA0 analog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4160520"/>
            <a:ext cx="4709160" cy="868680"/>
          </a:xfrm>
          <a:prstGeom prst="roundRect">
            <a:avLst/>
          </a:prstGeom>
          <a:solidFill>
            <a:srgbClr val="EBF8F1"/>
          </a:solidFill>
          <a:ln w="1778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B34"/>
                </a:solidFill>
              </a:defRPr>
            </a:pPr>
            <a:r>
              <a:t>ADC 값 변화</a:t>
            </a:r>
            <a:br/>
            <a:r>
              <a:t>0 ~ 4095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5349240"/>
            <a:ext cx="4709160" cy="640080"/>
          </a:xfrm>
          <a:prstGeom prst="roundRect">
            <a:avLst/>
          </a:prstGeom>
          <a:solidFill>
            <a:srgbClr val="FDEFEF"/>
          </a:solidFill>
          <a:ln w="1778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B34"/>
                </a:solidFill>
              </a:defRPr>
            </a:pPr>
            <a:r>
              <a:t>주의: 센서 회로 방향에 따라 밝을수록 값이 증가하거나 감소할 수 있음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9FB7"/>
                </a:solidFill>
              </a:defRPr>
            </a:pPr>
            <a:r>
              <a:t>14 · Common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D4E"/>
                </a:solidFill>
              </a:defRPr>
            </a:pPr>
            <a:r>
              <a:t>자주 발생하는 오류와 확인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E78"/>
                </a:solidFill>
              </a:defRPr>
            </a:pPr>
            <a:r>
              <a:t>ADC interrupt 예제에서 학생들이 많이 놓치는 부분입니다.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2B34"/>
                </a:solidFill>
              </a:defRPr>
            </a:pPr>
            <a:r>
              <a:t>ADC clock enable이 빠지면 HAL_ADC_Init() 또는 변환 시작이 정상 동작하지 않을 수 있다.</a:t>
            </a:r>
          </a:p>
          <a:p>
            <a:pPr>
              <a:spcAft>
                <a:spcPts val="700"/>
              </a:spcAft>
              <a:defRPr sz="1600">
                <a:solidFill>
                  <a:srgbClr val="232B34"/>
                </a:solidFill>
              </a:defRPr>
            </a:pPr>
            <a:r>
              <a:t>NVIC에서 ADC interrupt를 enable하지 않으면 callback이 호출되지 않는다.</a:t>
            </a:r>
          </a:p>
          <a:p>
            <a:pPr>
              <a:spcAft>
                <a:spcPts val="700"/>
              </a:spcAft>
              <a:defRPr sz="1600">
                <a:solidFill>
                  <a:srgbClr val="232B34"/>
                </a:solidFill>
              </a:defRPr>
            </a:pPr>
            <a:r>
              <a:t>IRQ Handler 안에서 HAL_ADC_IRQHandler(&amp;hadc1)를 호출하지 않으면 HAL callback 경로가 끊긴다.</a:t>
            </a:r>
          </a:p>
          <a:p>
            <a:pPr>
              <a:spcAft>
                <a:spcPts val="700"/>
              </a:spcAft>
              <a:defRPr sz="1600">
                <a:solidFill>
                  <a:srgbClr val="232B34"/>
                </a:solidFill>
              </a:defRPr>
            </a:pPr>
            <a:r>
              <a:t>PA0를 analog mode가 아닌 input/output mode로 설정하면 안정적인 ADC 측정이 어렵다.</a:t>
            </a:r>
          </a:p>
          <a:p>
            <a:pPr>
              <a:spcAft>
                <a:spcPts val="700"/>
              </a:spcAft>
              <a:defRPr sz="1600">
                <a:solidFill>
                  <a:srgbClr val="232B34"/>
                </a:solidFill>
              </a:defRPr>
            </a:pPr>
            <a:r>
              <a:t>Continuous conversion을 사용할 때 callback 안에서 시간이 오래 걸리는 작업을 하면 다음 interrupt 처리에 영향을 줄 수 있다.</a:t>
            </a:r>
          </a:p>
          <a:p>
            <a:pPr>
              <a:spcAft>
                <a:spcPts val="700"/>
              </a:spcAft>
              <a:defRPr sz="1600">
                <a:solidFill>
                  <a:srgbClr val="232B34"/>
                </a:solidFill>
              </a:defRPr>
            </a:pPr>
            <a:r>
              <a:t>STM32L0 예제 코드를 STM32G0에 그대로 복사하면 ADC 초기화 필드명이 다를 수 있으므로 CubeMX 생성 코드를 기준으로 맞춰야 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806440"/>
            <a:ext cx="10424160" cy="502920"/>
          </a:xfrm>
          <a:prstGeom prst="roundRect">
            <a:avLst/>
          </a:prstGeom>
          <a:solidFill>
            <a:srgbClr val="FFF8E5"/>
          </a:solidFill>
          <a:ln w="17780">
            <a:solidFill>
              <a:srgbClr val="F5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B34"/>
                </a:solidFill>
              </a:defRPr>
            </a:pPr>
            <a:r>
              <a:t>권장 구조: ISR/Callback에서는 값 저장만 짧게 수행하고, 필터링/판단/표시는 main loop나 별도 task에서 처리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9FB7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ADC Interrupt 핵심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659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DDCEB"/>
                </a:solidFill>
              </a:defRPr>
            </a:pPr>
            <a:r>
              <a:t>PA0 analog voltage → ADC1_IN0 conversion → EOC interrupt → callback value 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63240"/>
            <a:ext cx="2468880" cy="1325880"/>
          </a:xfrm>
          <a:prstGeom prst="roundRect">
            <a:avLst/>
          </a:prstGeom>
          <a:solidFill>
            <a:srgbClr val="233A52"/>
          </a:solidFill>
          <a:ln w="17780">
            <a:solidFill>
              <a:srgbClr val="2B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① GPIO</a:t>
            </a:r>
            <a:br/>
            <a:r>
              <a:t>PA0 Analog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063240"/>
            <a:ext cx="2468880" cy="1325880"/>
          </a:xfrm>
          <a:prstGeom prst="roundRect">
            <a:avLst/>
          </a:prstGeom>
          <a:solidFill>
            <a:srgbClr val="233A52"/>
          </a:solidFill>
          <a:ln w="17780">
            <a:solidFill>
              <a:srgbClr val="2B9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② ADC Init</a:t>
            </a:r>
            <a:br/>
            <a:r>
              <a:t>12-bit / CH0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063240"/>
            <a:ext cx="2468880" cy="1325880"/>
          </a:xfrm>
          <a:prstGeom prst="roundRect">
            <a:avLst/>
          </a:prstGeom>
          <a:solidFill>
            <a:srgbClr val="233A52"/>
          </a:solidFill>
          <a:ln w="1778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③ Start_IT</a:t>
            </a:r>
            <a:br/>
            <a:r>
              <a:t>Non-blocking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3063240"/>
            <a:ext cx="2468880" cy="1325880"/>
          </a:xfrm>
          <a:prstGeom prst="roundRect">
            <a:avLst/>
          </a:prstGeom>
          <a:solidFill>
            <a:srgbClr val="233A52"/>
          </a:solidFill>
          <a:ln w="17780">
            <a:solidFill>
              <a:srgbClr val="F5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④ Callback</a:t>
            </a:r>
            <a:br/>
            <a:r>
              <a:t>GetValue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257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ADC 강의의 핵심은 “아날로그 값을 숫자로 바꾸는 과정”과</a:t>
            </a:r>
            <a:br/>
            <a:r>
              <a:t>“그 변환 완료를 어떤 방식으로 처리할 것인가”를 분리해서 이해하는 것입니다.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6364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ED2E1"/>
                </a:solidFill>
              </a:defRPr>
            </a:pPr>
            <a:r>
              <a:t>STM32G0B1RE · ADC1_IN0 · Interrupt Regular Conversion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9FB7"/>
                </a:solidFill>
              </a:defRPr>
            </a:pPr>
            <a:r>
              <a:t>15 · ADC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22D4E"/>
                </a:solidFill>
              </a:defRPr>
            </a:pPr>
            <a:r>
              <a:t>12-bit ADC 해상도 — 0~4095의 4096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E78"/>
                </a:solidFill>
              </a:defRPr>
            </a:pPr>
            <a:r>
              <a:t>STM32 ADC가 3.3 V 입력 범위를 12-bit 디지털 코드로 양자화하는 방법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834640" cy="914400"/>
          </a:xfrm>
          <a:prstGeom prst="roundRect">
            <a:avLst/>
          </a:prstGeom>
          <a:solidFill>
            <a:srgbClr val="EBF2FB"/>
          </a:solidFill>
          <a:ln w="19050">
            <a:solidFill>
              <a:srgbClr val="2B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232B34"/>
                </a:solidFill>
              </a:defRPr>
            </a:pPr>
            <a:r>
              <a:t>12 bit</a:t>
            </a:r>
            <a:br/>
            <a:r>
              <a:t>2¹² = 4096 단계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600200"/>
            <a:ext cx="2834640" cy="914400"/>
          </a:xfrm>
          <a:prstGeom prst="roundRect">
            <a:avLst/>
          </a:prstGeom>
          <a:solidFill>
            <a:srgbClr val="E7F7F9"/>
          </a:solidFill>
          <a:ln w="19050">
            <a:solidFill>
              <a:srgbClr val="2B9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232B34"/>
                </a:solidFill>
              </a:defRPr>
            </a:pPr>
            <a:r>
              <a:t>Digital Code</a:t>
            </a:r>
            <a:br/>
            <a:r>
              <a:t>0 ~ 4095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1600200"/>
            <a:ext cx="2834640" cy="914400"/>
          </a:xfrm>
          <a:prstGeom prst="roundRect">
            <a:avLst/>
          </a:prstGeom>
          <a:solidFill>
            <a:srgbClr val="EBF8F1"/>
          </a:solidFill>
          <a:ln w="1905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B34"/>
                </a:solidFill>
              </a:defRPr>
            </a:pPr>
            <a:r>
              <a:t>VREF = 3.3 V</a:t>
            </a:r>
            <a:br/>
            <a:r>
              <a:t>약 0.806 mV / LSB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20440" y="2057400"/>
            <a:ext cx="1143000" cy="0"/>
          </a:xfrm>
          <a:prstGeom prst="line">
            <a:avLst/>
          </a:prstGeom>
          <a:ln w="25400">
            <a:solidFill>
              <a:srgbClr val="2B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98079" y="2057400"/>
            <a:ext cx="1143001" cy="0"/>
          </a:xfrm>
          <a:prstGeom prst="line">
            <a:avLst/>
          </a:prstGeom>
          <a:ln w="25400">
            <a:solidFill>
              <a:srgbClr val="32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3246120"/>
            <a:ext cx="10332720" cy="1097280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12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B34"/>
                </a:solidFill>
              </a:defRPr>
            </a:pPr>
            <a:r>
              <a:t>1 LSB = VREF / 4096 = 3.3 V / 4096 ≈ 0.0008057 V = 0.806 mV</a:t>
            </a:r>
            <a:br/>
            <a:r>
              <a:t>ADC Code ≈ Vin / VREF × 4095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69B4"/>
                </a:solidFill>
              </a:defRPr>
            </a:pPr>
            <a:r>
              <a:t>0 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4892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329669"/>
                </a:solidFill>
              </a:defRPr>
            </a:pPr>
            <a:r>
              <a:t>3.3 V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80160" y="5303520"/>
            <a:ext cx="9418320" cy="0"/>
          </a:xfrm>
          <a:prstGeom prst="line">
            <a:avLst/>
          </a:prstGeom>
          <a:ln w="50800">
            <a:solidFill>
              <a:srgbClr val="12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80160" y="5138928"/>
            <a:ext cx="0" cy="365760"/>
          </a:xfrm>
          <a:prstGeom prst="line">
            <a:avLst/>
          </a:prstGeom>
          <a:ln w="25400">
            <a:solidFill>
              <a:srgbClr val="12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55595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32B34"/>
                </a:solidFill>
              </a:defRPr>
            </a:pPr>
            <a:r>
              <a:t>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30168" y="5138928"/>
            <a:ext cx="0" cy="365760"/>
          </a:xfrm>
          <a:prstGeom prst="line">
            <a:avLst/>
          </a:prstGeom>
          <a:ln w="25400">
            <a:solidFill>
              <a:srgbClr val="12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18688" y="55595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32B34"/>
                </a:solidFill>
              </a:defRPr>
            </a:pPr>
            <a:r>
              <a:t>1024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89320" y="5138928"/>
            <a:ext cx="0" cy="365760"/>
          </a:xfrm>
          <a:prstGeom prst="line">
            <a:avLst/>
          </a:prstGeom>
          <a:ln w="25400">
            <a:solidFill>
              <a:srgbClr val="12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577840" y="55595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32B34"/>
                </a:solidFill>
              </a:defRPr>
            </a:pPr>
            <a:r>
              <a:t>2048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39327" y="5138928"/>
            <a:ext cx="0" cy="365760"/>
          </a:xfrm>
          <a:prstGeom prst="line">
            <a:avLst/>
          </a:prstGeom>
          <a:ln w="25400">
            <a:solidFill>
              <a:srgbClr val="12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927848" y="55595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32B34"/>
                </a:solidFill>
              </a:defRPr>
            </a:pPr>
            <a:r>
              <a:t>3072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698480" y="5138928"/>
            <a:ext cx="0" cy="365760"/>
          </a:xfrm>
          <a:prstGeom prst="line">
            <a:avLst/>
          </a:prstGeom>
          <a:ln w="25400">
            <a:solidFill>
              <a:srgbClr val="12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287000" y="55595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32B34"/>
                </a:solidFill>
              </a:defRPr>
            </a:pPr>
            <a:r>
              <a:t>4095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11680" y="5989320"/>
            <a:ext cx="8138160" cy="411480"/>
          </a:xfrm>
          <a:prstGeom prst="roundRect">
            <a:avLst/>
          </a:prstGeom>
          <a:solidFill>
            <a:srgbClr val="FFF8E5"/>
          </a:solidFill>
          <a:ln w="19050">
            <a:solidFill>
              <a:srgbClr val="F5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B34"/>
                </a:solidFill>
              </a:defRPr>
            </a:pPr>
            <a:r>
              <a:t>정확한 범위는 0~4095입니다. 0~4026이 아닙니다.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9FB7"/>
                </a:solidFill>
              </a:defRPr>
            </a:pPr>
            <a:r>
              <a:t>16 · Voltage Divider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22D4E"/>
                </a:solidFill>
              </a:defRPr>
            </a:pPr>
            <a:r>
              <a:t>CDS 센서와 전압분배기(Voltage Divider)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E78"/>
                </a:solidFill>
              </a:defRPr>
            </a:pPr>
            <a:r>
              <a:t>CDS와 고정저항을 직렬 연결하여 저항 변화를 PA0의 전압 변화로 변환합니다.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D4E"/>
                </a:solidFill>
              </a:defRPr>
            </a:pPr>
            <a:r>
              <a:t>예시 회로: 3.3 V → CDS → PA0 → Rfixed → GND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D4848"/>
                </a:solidFill>
              </a:defRPr>
            </a:pPr>
            <a:r>
              <a:t>3.3 V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2487168"/>
            <a:ext cx="914400" cy="0"/>
          </a:xfrm>
          <a:prstGeom prst="line">
            <a:avLst/>
          </a:prstGeom>
          <a:ln w="38100">
            <a:solidFill>
              <a:srgbClr val="CD4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2057400"/>
            <a:ext cx="1828800" cy="822960"/>
          </a:xfrm>
          <a:prstGeom prst="roundRect">
            <a:avLst/>
          </a:prstGeom>
          <a:solidFill>
            <a:srgbClr val="FFF8E5"/>
          </a:solidFill>
          <a:ln w="19050">
            <a:solidFill>
              <a:srgbClr val="F5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B34"/>
                </a:solidFill>
              </a:defRPr>
            </a:pPr>
            <a:r>
              <a:t>RCDS</a:t>
            </a:r>
            <a:br/>
            <a:r>
              <a:t>조도에 따라 변화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2487168"/>
            <a:ext cx="1143000" cy="0"/>
          </a:xfrm>
          <a:prstGeom prst="line">
            <a:avLst/>
          </a:prstGeom>
          <a:ln w="38100">
            <a:solidFill>
              <a:srgbClr val="12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715000" y="2121408"/>
            <a:ext cx="1325880" cy="685800"/>
          </a:xfrm>
          <a:prstGeom prst="roundRect">
            <a:avLst/>
          </a:prstGeom>
          <a:solidFill>
            <a:srgbClr val="E7F7F9"/>
          </a:solidFill>
          <a:ln w="19050">
            <a:solidFill>
              <a:srgbClr val="2B9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B34"/>
                </a:solidFill>
              </a:defRPr>
            </a:pPr>
            <a:r>
              <a:t>PA0</a:t>
            </a:r>
            <a:br/>
            <a:r>
              <a:t>ADC1_IN0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0" y="2487168"/>
            <a:ext cx="914399" cy="0"/>
          </a:xfrm>
          <a:prstGeom prst="line">
            <a:avLst/>
          </a:prstGeom>
          <a:ln w="38100">
            <a:solidFill>
              <a:srgbClr val="12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955279" y="2057400"/>
            <a:ext cx="1828800" cy="822960"/>
          </a:xfrm>
          <a:prstGeom prst="roundRect">
            <a:avLst/>
          </a:prstGeom>
          <a:solidFill>
            <a:srgbClr val="EBF2FB"/>
          </a:solidFill>
          <a:ln w="19050">
            <a:solidFill>
              <a:srgbClr val="2B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B34"/>
                </a:solidFill>
              </a:defRPr>
            </a:pPr>
            <a:r>
              <a:t>Rfixed</a:t>
            </a:r>
            <a:br/>
            <a:r>
              <a:t>예: 10 kΩ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84080" y="2487168"/>
            <a:ext cx="868680" cy="0"/>
          </a:xfrm>
          <a:prstGeom prst="line">
            <a:avLst/>
          </a:prstGeom>
          <a:ln w="38100">
            <a:solidFill>
              <a:srgbClr val="12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607040" y="23317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B34"/>
                </a:solidFill>
              </a:defRPr>
            </a:pPr>
            <a:r>
              <a:t>GND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703320"/>
            <a:ext cx="10241280" cy="960120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12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232B34"/>
                </a:solidFill>
              </a:defRPr>
            </a:pPr>
            <a:r>
              <a:t>PA0 전압</a:t>
            </a:r>
            <a:br/>
            <a:r>
              <a:t>VPA0 = 3.3 × Rfixed / (RCDS + Rfixed)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5074920"/>
            <a:ext cx="10241280" cy="777240"/>
          </a:xfrm>
          <a:prstGeom prst="roundRect">
            <a:avLst/>
          </a:prstGeom>
          <a:solidFill>
            <a:srgbClr val="FDEFEF"/>
          </a:solidFill>
          <a:ln w="1905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32B34"/>
                </a:solidFill>
              </a:defRPr>
            </a:pPr>
            <a:r>
              <a:t>중요: 이것은 ‘병렬 연결의 전압 분배’가 아니라, 두 저항을 직렬 연결한 전압분배기입니다.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9FB7"/>
                </a:solidFill>
              </a:defRPr>
            </a:pPr>
            <a:r>
              <a:t>17 · Calculation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22D4E"/>
                </a:solidFill>
              </a:defRPr>
            </a:pPr>
            <a:r>
              <a:t>3.3 V 시스템에서 CDS 값을 ADC 코드로 계산하기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E78"/>
                </a:solidFill>
              </a:defRPr>
            </a:pPr>
            <a:r>
              <a:t>Rfixed = 10 kΩ인 예를 사용하여 센서 저항 → PA0 전압 → ADC 값을 계산합니다.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1645920" cy="502920"/>
          </a:xfrm>
          <a:prstGeom prst="roundRect">
            <a:avLst/>
          </a:prstGeom>
          <a:solidFill>
            <a:srgbClr val="122D4E"/>
          </a:solidFill>
          <a:ln w="19050">
            <a:solidFill>
              <a:srgbClr val="12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상태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645920"/>
            <a:ext cx="1645920" cy="502920"/>
          </a:xfrm>
          <a:prstGeom prst="roundRect">
            <a:avLst/>
          </a:prstGeom>
          <a:solidFill>
            <a:srgbClr val="122D4E"/>
          </a:solidFill>
          <a:ln w="19050">
            <a:solidFill>
              <a:srgbClr val="12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RCDS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1645920"/>
            <a:ext cx="2286000" cy="502920"/>
          </a:xfrm>
          <a:prstGeom prst="roundRect">
            <a:avLst/>
          </a:prstGeom>
          <a:solidFill>
            <a:srgbClr val="122D4E"/>
          </a:solidFill>
          <a:ln w="19050">
            <a:solidFill>
              <a:srgbClr val="12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VPA0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2468880" cy="502920"/>
          </a:xfrm>
          <a:prstGeom prst="roundRect">
            <a:avLst/>
          </a:prstGeom>
          <a:solidFill>
            <a:srgbClr val="122D4E"/>
          </a:solidFill>
          <a:ln w="19050">
            <a:solidFill>
              <a:srgbClr val="12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12-bit ADC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743200" cy="502920"/>
          </a:xfrm>
          <a:prstGeom prst="roundRect">
            <a:avLst/>
          </a:prstGeom>
          <a:solidFill>
            <a:srgbClr val="122D4E"/>
          </a:solidFill>
          <a:ln w="19050">
            <a:solidFill>
              <a:srgbClr val="12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해석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331720"/>
            <a:ext cx="1645920" cy="914400"/>
          </a:xfrm>
          <a:prstGeom prst="roundRect">
            <a:avLst/>
          </a:prstGeom>
          <a:solidFill>
            <a:srgbClr val="F7FAFD"/>
          </a:solidFill>
          <a:ln w="1905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32B34"/>
                </a:solidFill>
              </a:defRPr>
            </a:pPr>
            <a:r>
              <a:t>밝음 예시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2331720"/>
            <a:ext cx="1645920" cy="914400"/>
          </a:xfrm>
          <a:prstGeom prst="roundRect">
            <a:avLst/>
          </a:prstGeom>
          <a:solidFill>
            <a:srgbClr val="F7FAFD"/>
          </a:solidFill>
          <a:ln w="1905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32B34"/>
                </a:solidFill>
              </a:defRPr>
            </a:pPr>
            <a:r>
              <a:t>2 kΩ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2331720"/>
            <a:ext cx="2286000" cy="914400"/>
          </a:xfrm>
          <a:prstGeom prst="roundRect">
            <a:avLst/>
          </a:prstGeom>
          <a:solidFill>
            <a:srgbClr val="F7FAFD"/>
          </a:solidFill>
          <a:ln w="1905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32B34"/>
                </a:solidFill>
              </a:defRPr>
            </a:pPr>
            <a:r>
              <a:t>3.3×10/(2+10)</a:t>
            </a:r>
            <a:br/>
            <a:r>
              <a:t>= 2.75 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331720"/>
            <a:ext cx="2468880" cy="914400"/>
          </a:xfrm>
          <a:prstGeom prst="roundRect">
            <a:avLst/>
          </a:prstGeom>
          <a:solidFill>
            <a:srgbClr val="F7FAFD"/>
          </a:solidFill>
          <a:ln w="1905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32B34"/>
                </a:solidFill>
              </a:defRPr>
            </a:pPr>
            <a:r>
              <a:t>2.75/3.3×4095</a:t>
            </a:r>
            <a:br/>
            <a:r>
              <a:t>≈ 3413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2331720"/>
            <a:ext cx="2743200" cy="914400"/>
          </a:xfrm>
          <a:prstGeom prst="roundRect">
            <a:avLst/>
          </a:prstGeom>
          <a:solidFill>
            <a:srgbClr val="F7FAFD"/>
          </a:solidFill>
          <a:ln w="1905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32B34"/>
                </a:solidFill>
              </a:defRPr>
            </a:pPr>
            <a:r>
              <a:t>ADC 값 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55848"/>
            <a:ext cx="1645920" cy="914400"/>
          </a:xfrm>
          <a:prstGeom prst="roundRect">
            <a:avLst/>
          </a:prstGeom>
          <a:solidFill>
            <a:srgbClr val="EDF4F9"/>
          </a:solidFill>
          <a:ln w="1905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32B34"/>
                </a:solidFill>
              </a:defRPr>
            </a:pPr>
            <a:r>
              <a:t>중간 예시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3355848"/>
            <a:ext cx="1645920" cy="914400"/>
          </a:xfrm>
          <a:prstGeom prst="roundRect">
            <a:avLst/>
          </a:prstGeom>
          <a:solidFill>
            <a:srgbClr val="EDF4F9"/>
          </a:solidFill>
          <a:ln w="1905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32B34"/>
                </a:solidFill>
              </a:defRPr>
            </a:pPr>
            <a:r>
              <a:t>10 kΩ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3355848"/>
            <a:ext cx="2286000" cy="914400"/>
          </a:xfrm>
          <a:prstGeom prst="roundRect">
            <a:avLst/>
          </a:prstGeom>
          <a:solidFill>
            <a:srgbClr val="EDF4F9"/>
          </a:solidFill>
          <a:ln w="1905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32B34"/>
                </a:solidFill>
              </a:defRPr>
            </a:pPr>
            <a:r>
              <a:t>3.3×10/(10+10)</a:t>
            </a:r>
            <a:br/>
            <a:r>
              <a:t>= 1.65 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355848"/>
            <a:ext cx="2468880" cy="914400"/>
          </a:xfrm>
          <a:prstGeom prst="roundRect">
            <a:avLst/>
          </a:prstGeom>
          <a:solidFill>
            <a:srgbClr val="EDF4F9"/>
          </a:solidFill>
          <a:ln w="1905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32B34"/>
                </a:solidFill>
              </a:defRPr>
            </a:pPr>
            <a:r>
              <a:t>1.65/3.3×4095</a:t>
            </a:r>
            <a:br/>
            <a:r>
              <a:t>≈ 2048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3355848"/>
            <a:ext cx="2743200" cy="914400"/>
          </a:xfrm>
          <a:prstGeom prst="roundRect">
            <a:avLst/>
          </a:prstGeom>
          <a:solidFill>
            <a:srgbClr val="EDF4F9"/>
          </a:solidFill>
          <a:ln w="1905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32B34"/>
                </a:solidFill>
              </a:defRPr>
            </a:pPr>
            <a:r>
              <a:t>중간값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379976"/>
            <a:ext cx="1645920" cy="914400"/>
          </a:xfrm>
          <a:prstGeom prst="roundRect">
            <a:avLst/>
          </a:prstGeom>
          <a:solidFill>
            <a:srgbClr val="F7FAFD"/>
          </a:solidFill>
          <a:ln w="1905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32B34"/>
                </a:solidFill>
              </a:defRPr>
            </a:pPr>
            <a:r>
              <a:t>어두움 예시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4379976"/>
            <a:ext cx="1645920" cy="914400"/>
          </a:xfrm>
          <a:prstGeom prst="roundRect">
            <a:avLst/>
          </a:prstGeom>
          <a:solidFill>
            <a:srgbClr val="F7FAFD"/>
          </a:solidFill>
          <a:ln w="1905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32B34"/>
                </a:solidFill>
              </a:defRPr>
            </a:pPr>
            <a:r>
              <a:t>100 kΩ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39" y="4379976"/>
            <a:ext cx="2286000" cy="914400"/>
          </a:xfrm>
          <a:prstGeom prst="roundRect">
            <a:avLst/>
          </a:prstGeom>
          <a:solidFill>
            <a:srgbClr val="F7FAFD"/>
          </a:solidFill>
          <a:ln w="1905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32B34"/>
                </a:solidFill>
              </a:defRPr>
            </a:pPr>
            <a:r>
              <a:t>3.3×10/(100+10)</a:t>
            </a:r>
            <a:br/>
            <a:r>
              <a:t>= 0.30 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379976"/>
            <a:ext cx="2468880" cy="914400"/>
          </a:xfrm>
          <a:prstGeom prst="roundRect">
            <a:avLst/>
          </a:prstGeom>
          <a:solidFill>
            <a:srgbClr val="F7FAFD"/>
          </a:solidFill>
          <a:ln w="1905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32B34"/>
                </a:solidFill>
              </a:defRPr>
            </a:pPr>
            <a:r>
              <a:t>0.30/3.3×4095</a:t>
            </a:r>
            <a:br/>
            <a:r>
              <a:t>≈ 372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3960" y="4379976"/>
            <a:ext cx="2743200" cy="914400"/>
          </a:xfrm>
          <a:prstGeom prst="roundRect">
            <a:avLst/>
          </a:prstGeom>
          <a:solidFill>
            <a:srgbClr val="F7FAFD"/>
          </a:solidFill>
          <a:ln w="19050"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32B34"/>
                </a:solidFill>
              </a:defRPr>
            </a:pPr>
            <a:r>
              <a:t>ADC 값 작음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EBF8F1"/>
          </a:solidFill>
          <a:ln w="1905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32B34"/>
                </a:solidFill>
              </a:defRPr>
            </a:pPr>
            <a:r>
              <a:t>이 회로 방향에서는 CDS 저항이 작아지는 ‘밝은 상태’일수록 PA0 전압과 ADC 값이 커집니다.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9FB7"/>
                </a:solidFill>
              </a:defRPr>
            </a:pPr>
            <a:r>
              <a:t>18 · Circuit 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22D4E"/>
                </a:solidFill>
              </a:defRPr>
            </a:pPr>
            <a:r>
              <a:t>저항 위치가 바뀌면 ADC 값의 방향도 바뀐다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E78"/>
                </a:solidFill>
              </a:defRPr>
            </a:pPr>
            <a:r>
              <a:t>CDS가 GND 쪽에 위치하면 밝기와 ADC 값의 증가/감소 관계가 반대로 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257800" cy="594360"/>
          </a:xfrm>
          <a:prstGeom prst="roundRect">
            <a:avLst/>
          </a:prstGeom>
          <a:solidFill>
            <a:srgbClr val="EBF8F1"/>
          </a:solidFill>
          <a:ln w="1905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32B34"/>
                </a:solidFill>
              </a:defRPr>
            </a:pPr>
            <a:r>
              <a:t>구조 A: 3.3V — CDS — PA0 — Rfixed — GND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257800" cy="594360"/>
          </a:xfrm>
          <a:prstGeom prst="roundRect">
            <a:avLst/>
          </a:prstGeom>
          <a:solidFill>
            <a:srgbClr val="EBF2FB"/>
          </a:solidFill>
          <a:ln w="19050">
            <a:solidFill>
              <a:srgbClr val="2B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32B34"/>
                </a:solidFill>
              </a:defRPr>
            </a:pPr>
            <a:r>
              <a:t>구조 B: 3.3V — Rfixed — PA0 — CDS — GND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606040"/>
            <a:ext cx="4892040" cy="1051560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B34"/>
                </a:solidFill>
              </a:defRPr>
            </a:pPr>
            <a:r>
              <a:t>VPA0 = 3.3 × Rfixed</a:t>
            </a:r>
            <a:br/>
            <a:r>
              <a:t>/ (RCDS + Rfixed)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2606040"/>
            <a:ext cx="4892040" cy="1051560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2B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B34"/>
                </a:solidFill>
              </a:defRPr>
            </a:pPr>
            <a:r>
              <a:t>VPA0 = 3.3 × RCDS</a:t>
            </a:r>
            <a:br/>
            <a:r>
              <a:t>/ (Rfixed + RCDS)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4160520"/>
            <a:ext cx="4709160" cy="914400"/>
          </a:xfrm>
          <a:prstGeom prst="roundRect">
            <a:avLst/>
          </a:prstGeom>
          <a:solidFill>
            <a:srgbClr val="EBF8F1"/>
          </a:solidFill>
          <a:ln w="1905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B34"/>
                </a:solidFill>
              </a:defRPr>
            </a:pPr>
            <a:r>
              <a:t>밝아짐 → RCDS 감소</a:t>
            </a:r>
            <a:br/>
            <a:r>
              <a:t>→ VPA0 증가 → ADC 증가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4160520"/>
            <a:ext cx="4709160" cy="914400"/>
          </a:xfrm>
          <a:prstGeom prst="roundRect">
            <a:avLst/>
          </a:prstGeom>
          <a:solidFill>
            <a:srgbClr val="EBF2FB"/>
          </a:solidFill>
          <a:ln w="19050">
            <a:solidFill>
              <a:srgbClr val="2B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B34"/>
                </a:solidFill>
              </a:defRPr>
            </a:pPr>
            <a:r>
              <a:t>밝아짐 → RCDS 감소</a:t>
            </a:r>
            <a:br/>
            <a:r>
              <a:t>→ VPA0 감소 → ADC 감소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623560"/>
            <a:ext cx="10332720" cy="594360"/>
          </a:xfrm>
          <a:prstGeom prst="roundRect">
            <a:avLst/>
          </a:prstGeom>
          <a:solidFill>
            <a:srgbClr val="FFF8E5"/>
          </a:solidFill>
          <a:ln w="19050">
            <a:solidFill>
              <a:srgbClr val="F5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B34"/>
                </a:solidFill>
              </a:defRPr>
            </a:pPr>
            <a:r>
              <a:t>따라서 ‘밝을수록 ADC 값이 큰가/작은가’는 CDS 센서 자체만으로 결정되지 않고 전압분배기 연결 방향에 의해 결정됩니다.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9FB7"/>
                </a:solidFill>
              </a:defRPr>
            </a:pPr>
            <a:r>
              <a:t>19 · Sensor-to-Code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22D4E"/>
                </a:solidFill>
              </a:defRPr>
            </a:pPr>
            <a:r>
              <a:t>센서 입력에서 소프트웨어 값까지의 전체 계산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E78"/>
                </a:solidFill>
              </a:defRPr>
            </a:pPr>
            <a:r>
              <a:t>물리량 → 저항 → 전압 → ADC 변환 → Interrupt Callback의 단계로 이해합니다.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1828800" cy="1051560"/>
          </a:xfrm>
          <a:prstGeom prst="roundRect">
            <a:avLst/>
          </a:prstGeom>
          <a:solidFill>
            <a:srgbClr val="F1F7FA"/>
          </a:solidFill>
          <a:ln w="19050">
            <a:solidFill>
              <a:srgbClr val="F5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B34"/>
                </a:solidFill>
              </a:defRPr>
            </a:pPr>
            <a:r>
              <a:t>빛의 세기</a:t>
            </a:r>
            <a:br/>
            <a:r>
              <a:t>Illuminance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40280" y="2359152"/>
            <a:ext cx="365760" cy="0"/>
          </a:xfrm>
          <a:prstGeom prst="line">
            <a:avLst/>
          </a:prstGeom>
          <a:ln w="25400">
            <a:solidFill>
              <a:srgbClr val="F5BE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06040" y="1828800"/>
            <a:ext cx="1828800" cy="1051560"/>
          </a:xfrm>
          <a:prstGeom prst="roundRect">
            <a:avLst/>
          </a:prstGeom>
          <a:solidFill>
            <a:srgbClr val="F1F7FA"/>
          </a:solidFill>
          <a:ln w="19050">
            <a:solidFill>
              <a:srgbClr val="2B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B34"/>
                </a:solidFill>
              </a:defRPr>
            </a:pPr>
            <a:r>
              <a:t>CDS 저항</a:t>
            </a:r>
            <a:br/>
            <a:r>
              <a:t>RCDS 변화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34840" y="2359152"/>
            <a:ext cx="365760" cy="0"/>
          </a:xfrm>
          <a:prstGeom prst="line">
            <a:avLst/>
          </a:prstGeom>
          <a:ln w="25400">
            <a:solidFill>
              <a:srgbClr val="2B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800600" y="1828800"/>
            <a:ext cx="1828800" cy="1051560"/>
          </a:xfrm>
          <a:prstGeom prst="roundRect">
            <a:avLst/>
          </a:prstGeom>
          <a:solidFill>
            <a:srgbClr val="F1F7FA"/>
          </a:solidFill>
          <a:ln w="19050">
            <a:solidFill>
              <a:srgbClr val="2B9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B34"/>
                </a:solidFill>
              </a:defRPr>
            </a:pPr>
            <a:r>
              <a:t>전압분배</a:t>
            </a:r>
            <a:br/>
            <a:r>
              <a:t>VPA0 계산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29400" y="2359152"/>
            <a:ext cx="365760" cy="0"/>
          </a:xfrm>
          <a:prstGeom prst="line">
            <a:avLst/>
          </a:prstGeom>
          <a:ln w="25400">
            <a:solidFill>
              <a:srgbClr val="2B9F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995160" y="1828800"/>
            <a:ext cx="1828800" cy="1051560"/>
          </a:xfrm>
          <a:prstGeom prst="roundRect">
            <a:avLst/>
          </a:prstGeom>
          <a:solidFill>
            <a:srgbClr val="F1F7FA"/>
          </a:solidFill>
          <a:ln w="1905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B34"/>
                </a:solidFill>
              </a:defRPr>
            </a:pPr>
            <a:r>
              <a:t>12-bit ADC</a:t>
            </a:r>
            <a:br/>
            <a:r>
              <a:t>0~4095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23960" y="2359152"/>
            <a:ext cx="365760" cy="0"/>
          </a:xfrm>
          <a:prstGeom prst="line">
            <a:avLst/>
          </a:prstGeom>
          <a:ln w="25400">
            <a:solidFill>
              <a:srgbClr val="32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89720" y="1828800"/>
            <a:ext cx="1828800" cy="1051560"/>
          </a:xfrm>
          <a:prstGeom prst="roundRect">
            <a:avLst/>
          </a:prstGeom>
          <a:solidFill>
            <a:srgbClr val="F1F7FA"/>
          </a:solidFill>
          <a:ln w="1905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B34"/>
                </a:solidFill>
              </a:defRPr>
            </a:pPr>
            <a:r>
              <a:t>Interrupt</a:t>
            </a:r>
            <a:br/>
            <a:r>
              <a:t>Callback 저장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886200"/>
            <a:ext cx="10287000" cy="960120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12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232B34"/>
                </a:solidFill>
              </a:defRPr>
            </a:pPr>
            <a:r>
              <a:t>소프트웨어 변환 예</a:t>
            </a:r>
            <a:br/>
            <a:r>
              <a:t>Voltage = uwADCxConvertedValue × 3.3 / 4095.0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257800"/>
            <a:ext cx="10287000" cy="685800"/>
          </a:xfrm>
          <a:prstGeom prst="roundRect">
            <a:avLst/>
          </a:prstGeom>
          <a:solidFill>
            <a:srgbClr val="EBF8F1"/>
          </a:solidFill>
          <a:ln w="19050">
            <a:solidFill>
              <a:srgbClr val="32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32B34"/>
                </a:solidFill>
              </a:defRPr>
            </a:pPr>
            <a:r>
              <a:t>실습: 조도 변화에 따른 ADC raw value와 계산된 PA0 전압을 Watch 창 또는 UART로 함께 관찰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